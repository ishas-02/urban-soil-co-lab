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10C_54285425.xml" ContentType="application/vnd.ms-powerpoint.comments+xml"/>
  <Override PartName="/ppt/notesSlides/notesSlide1.xml" ContentType="application/vnd.openxmlformats-officedocument.presentationml.notesSlide+xml"/>
  <Override PartName="/ppt/comments/modernComment_100_9D9E33F9.xml" ContentType="application/vnd.ms-powerpoint.comments+xml"/>
  <Override PartName="/ppt/notesSlides/notesSlide2.xml" ContentType="application/vnd.openxmlformats-officedocument.presentationml.notesSlide+xml"/>
  <Override PartName="/ppt/comments/modernComment_105_E9B10A1A.xml" ContentType="application/vnd.ms-powerpoint.comments+xml"/>
  <Override PartName="/ppt/notesSlides/notesSlide3.xml" ContentType="application/vnd.openxmlformats-officedocument.presentationml.notesSlide+xml"/>
  <Override PartName="/ppt/comments/modernComment_106_B618B14B.xml" ContentType="application/vnd.ms-powerpoint.comments+xml"/>
  <Override PartName="/ppt/comments/modernComment_104_A39CA57C.xml" ContentType="application/vnd.ms-powerpoint.comments+xml"/>
  <Override PartName="/ppt/comments/modernComment_109_B8D85DD0.xml" ContentType="application/vnd.ms-powerpoint.comments+xml"/>
  <Override PartName="/ppt/comments/modernComment_10B_AA08C85C.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16"/>
  </p:notesMasterIdLst>
  <p:handoutMasterIdLst>
    <p:handoutMasterId r:id="rId17"/>
  </p:handoutMasterIdLst>
  <p:sldIdLst>
    <p:sldId id="268" r:id="rId5"/>
    <p:sldId id="257" r:id="rId6"/>
    <p:sldId id="256" r:id="rId7"/>
    <p:sldId id="263" r:id="rId8"/>
    <p:sldId id="264" r:id="rId9"/>
    <p:sldId id="261" r:id="rId10"/>
    <p:sldId id="262" r:id="rId11"/>
    <p:sldId id="260" r:id="rId12"/>
    <p:sldId id="258" r:id="rId13"/>
    <p:sldId id="265" r:id="rId14"/>
    <p:sldId id="267" r:id="rId15"/>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A5DD640C-C744-E7CA-032A-C16463CA340C}" name="Leila Tufekci" initials="LT" userId="S::leilaays@buffalo.edu::7d24a4fb-3081-4250-84a8-e8aaafff8633" providerId="AD"/>
  <p188:author id="{51209FD0-B1C6-01DC-9620-97BA2F7BA4AD}" name="Marisa Manheim" initials="MM" userId="S::mmanheim@buffalo.edu::6d0ffa6d-af00-4a24-a722-1929312d7d0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6CC"/>
    <a:srgbClr val="005BBA"/>
    <a:srgbClr val="005BB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4221A7-B25E-2959-6F70-D64137B56E65}" v="5" dt="2026-01-30T15:54:06.8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omments/modernComment_10B_AA08C85C.xml><?xml version="1.0" encoding="utf-8"?>
<p188:cmLst xmlns:a="http://schemas.openxmlformats.org/drawingml/2006/main" xmlns:r="http://schemas.openxmlformats.org/officeDocument/2006/relationships" xmlns:p188="http://schemas.microsoft.com/office/powerpoint/2018/8/main">
  <p188:cm id="{D7DFBDB3-E84D-4F6D-A6C6-B791D50C1C84}" authorId="{51209FD0-B1C6-01DC-9620-97BA2F7BA4AD}" created="2025-12-18T20:46:06.801">
    <pc:sldMkLst xmlns:pc="http://schemas.microsoft.com/office/powerpoint/2013/main/command">
      <pc:docMk/>
      <pc:sldMk cId="2852702300" sldId="267"/>
    </pc:sldMkLst>
    <p188:txBody>
      <a:bodyPr/>
      <a:lstStyle/>
      <a:p>
        <a:r>
          <a:rPr lang="en-US"/>
          <a:t>[@Cole Terwilliger] </a:t>
        </a:r>
      </a:p>
    </p188:txBody>
  </p188:cm>
</p188:cmLst>
</file>

<file path=ppt/comments/modernComment_10C_54285425.xml><?xml version="1.0" encoding="utf-8"?>
<p188:cmLst xmlns:a="http://schemas.openxmlformats.org/drawingml/2006/main" xmlns:r="http://schemas.openxmlformats.org/officeDocument/2006/relationships" xmlns:p188="http://schemas.microsoft.com/office/powerpoint/2018/8/main">
  <p188:cm id="{53DEFE3E-BF0A-4809-96C5-7AC56A711413}" authorId="{51209FD0-B1C6-01DC-9620-97BA2F7BA4AD}" created="2025-12-18T19:40:30.864">
    <ac:txMkLst xmlns:ac="http://schemas.microsoft.com/office/drawing/2013/main/command">
      <pc:docMk xmlns:pc="http://schemas.microsoft.com/office/powerpoint/2013/main/command"/>
      <pc:sldMk xmlns:pc="http://schemas.microsoft.com/office/powerpoint/2013/main/command" cId="1411929125" sldId="268"/>
      <ac:spMk id="48" creationId="{B66E1030-EC6C-5614-623E-453A07EAE976}"/>
      <ac:txMk cp="39" len="26">
        <ac:context len="177" hash="3646298899"/>
      </ac:txMk>
    </ac:txMkLst>
    <p188:pos x="1410263" y="402080"/>
    <p188:txBody>
      <a:bodyPr/>
      <a:lstStyle/>
      <a:p>
        <a:r>
          <a:rPr lang="en-US"/>
          <a:t>update to full name</a:t>
        </a:r>
      </a:p>
    </p188:txBody>
  </p188:cm>
  <p188:cm id="{AC86E685-2B3F-4727-836C-2A275C8CE179}" authorId="{51209FD0-B1C6-01DC-9620-97BA2F7BA4AD}" created="2025-12-18T20:44:30.265">
    <ac:deMkLst xmlns:ac="http://schemas.microsoft.com/office/drawing/2013/main/command">
      <pc:docMk xmlns:pc="http://schemas.microsoft.com/office/powerpoint/2013/main/command"/>
      <pc:sldMk xmlns:pc="http://schemas.microsoft.com/office/powerpoint/2013/main/command" cId="1411929125" sldId="268"/>
      <ac:spMk id="3" creationId="{3CB2D8B9-F658-A06F-3110-EE84ABCE89AF}"/>
    </ac:deMkLst>
    <p188:txBody>
      <a:bodyPr/>
      <a:lstStyle/>
      <a:p>
        <a:r>
          <a:rPr lang="en-US"/>
          <a:t>Update [@Cole Terwilliger] </a:t>
        </a:r>
      </a:p>
    </p188:txBody>
  </p188:cm>
  <p188:cm id="{1EA191D5-36FD-4FAE-91CA-4D3DC5B376F5}" authorId="{51209FD0-B1C6-01DC-9620-97BA2F7BA4AD}" created="2025-12-18T20:44:42.141">
    <ac:deMkLst xmlns:ac="http://schemas.microsoft.com/office/drawing/2013/main/command">
      <pc:docMk xmlns:pc="http://schemas.microsoft.com/office/powerpoint/2013/main/command"/>
      <pc:sldMk xmlns:pc="http://schemas.microsoft.com/office/powerpoint/2013/main/command" cId="1411929125" sldId="268"/>
      <ac:spMk id="48" creationId="{B66E1030-EC6C-5614-623E-453A07EAE976}"/>
    </ac:deMkLst>
    <p188:txBody>
      <a:bodyPr/>
      <a:lstStyle/>
      <a:p>
        <a:r>
          <a:rPr lang="en-US"/>
          <a:t>Update </a:t>
        </a:r>
      </a:p>
    </p188:txBody>
  </p188:cm>
  <p188:cm id="{D16DEA01-7850-49FC-8562-71874DF18E0D}" authorId="{A5DD640C-C744-E7CA-032A-C16463CA340C}" created="2026-01-30T15:40:02.087">
    <ac:txMkLst xmlns:ac="http://schemas.microsoft.com/office/drawing/2013/main/command">
      <pc:docMk xmlns:pc="http://schemas.microsoft.com/office/powerpoint/2013/main/command"/>
      <pc:sldMk xmlns:pc="http://schemas.microsoft.com/office/powerpoint/2013/main/command" cId="1411929125" sldId="268"/>
      <ac:spMk id="40" creationId="{7BAC620E-3B45-C0A2-6193-783CD4F9B6D7}"/>
      <ac:txMk cp="161" len="1">
        <ac:context len="207" hash="3061982472"/>
      </ac:txMk>
    </ac:txMkLst>
    <p188:pos x="1119416" y="1357526"/>
    <p188:txBody>
      <a:bodyPr/>
      <a:lstStyle/>
      <a:p>
        <a:r>
          <a:rPr lang="en-GB"/>
          <a:t>Is the aim of this to be maximally scary?</a:t>
        </a:r>
      </a:p>
    </p188:txBody>
  </p188:cm>
  <p188:cm id="{5A480B0F-203D-49D5-8866-0E4B1D790B87}" authorId="{A5DD640C-C744-E7CA-032A-C16463CA340C}" created="2026-01-30T15:40:13.087">
    <ac:txMkLst xmlns:ac="http://schemas.microsoft.com/office/drawing/2013/main/command">
      <pc:docMk xmlns:pc="http://schemas.microsoft.com/office/powerpoint/2013/main/command"/>
      <pc:sldMk xmlns:pc="http://schemas.microsoft.com/office/powerpoint/2013/main/command" cId="1411929125" sldId="268"/>
      <ac:spMk id="40" creationId="{7BAC620E-3B45-C0A2-6193-783CD4F9B6D7}"/>
      <ac:txMk cp="160" len="2">
        <ac:context len="207" hash="3061982472"/>
      </ac:txMk>
    </ac:txMkLst>
    <p188:pos x="1119416" y="1357526"/>
    <p188:txBody>
      <a:bodyPr/>
      <a:lstStyle/>
      <a:p>
        <a:r>
          <a:rPr lang="en-GB"/>
          <a:t>uncapitalize</a:t>
        </a:r>
      </a:p>
    </p188:txBody>
  </p188:cm>
</p188:cmLst>
</file>

<file path=ppt/comments/modernComment_100_9D9E33F9.xml><?xml version="1.0" encoding="utf-8"?>
<p188:cmLst xmlns:a="http://schemas.openxmlformats.org/drawingml/2006/main" xmlns:r="http://schemas.openxmlformats.org/officeDocument/2006/relationships" xmlns:p188="http://schemas.microsoft.com/office/powerpoint/2018/8/main">
  <p188:cm id="{02B2B605-94C2-48F9-8DAC-5C551AAAC7F6}" authorId="{51209FD0-B1C6-01DC-9620-97BA2F7BA4AD}" created="2025-12-18T20:45:21.455">
    <pc:sldMkLst xmlns:pc="http://schemas.microsoft.com/office/powerpoint/2013/main/command">
      <pc:docMk/>
      <pc:sldMk cId="2644390905" sldId="256"/>
    </pc:sldMkLst>
    <p188:txBody>
      <a:bodyPr/>
      <a:lstStyle/>
      <a:p>
        <a:r>
          <a:rPr lang="en-US"/>
          <a:t>@cole update</a:t>
        </a:r>
      </a:p>
    </p188:txBody>
  </p188:cm>
</p188:cmLst>
</file>

<file path=ppt/comments/modernComment_104_A39CA57C.xml><?xml version="1.0" encoding="utf-8"?>
<p188:cmLst xmlns:a="http://schemas.openxmlformats.org/drawingml/2006/main" xmlns:r="http://schemas.openxmlformats.org/officeDocument/2006/relationships" xmlns:p188="http://schemas.microsoft.com/office/powerpoint/2018/8/main">
  <p188:cm id="{38D2177C-7E1D-4130-9891-740B41BE3899}" authorId="{51209FD0-B1C6-01DC-9620-97BA2F7BA4AD}" created="2025-12-18T20:11:22.626">
    <ac:deMkLst xmlns:ac="http://schemas.microsoft.com/office/drawing/2013/main/command">
      <pc:docMk xmlns:pc="http://schemas.microsoft.com/office/powerpoint/2013/main/command"/>
      <pc:sldMk xmlns:pc="http://schemas.microsoft.com/office/powerpoint/2013/main/command" cId="2744952188" sldId="260"/>
      <ac:spMk id="3" creationId="{EE6E1BD4-DE96-5412-3A2D-8F5A07442AF6}"/>
    </ac:deMkLst>
    <p188:txBody>
      <a:bodyPr/>
      <a:lstStyle/>
      <a:p>
        <a:r>
          <a:rPr lang="en-US"/>
          <a:t>@UPDATE w other sources</a:t>
        </a:r>
      </a:p>
    </p188:txBody>
  </p188:cm>
</p188:cmLst>
</file>

<file path=ppt/comments/modernComment_105_E9B10A1A.xml><?xml version="1.0" encoding="utf-8"?>
<p188:cmLst xmlns:a="http://schemas.openxmlformats.org/drawingml/2006/main" xmlns:r="http://schemas.openxmlformats.org/officeDocument/2006/relationships" xmlns:p188="http://schemas.microsoft.com/office/powerpoint/2018/8/main">
  <p188:cm id="{3F5EA197-B4B9-4C4D-B5C4-52E973EAF3FF}" authorId="{51209FD0-B1C6-01DC-9620-97BA2F7BA4AD}" created="2025-12-18T20:45:48.754">
    <ac:txMkLst xmlns:ac="http://schemas.microsoft.com/office/drawing/2013/main/command">
      <pc:docMk xmlns:pc="http://schemas.microsoft.com/office/powerpoint/2013/main/command"/>
      <pc:sldMk xmlns:pc="http://schemas.microsoft.com/office/powerpoint/2013/main/command" cId="3920693786" sldId="261"/>
      <ac:spMk id="3" creationId="{7E5104B3-A687-70A1-4424-D58BCFFEFB4B}"/>
      <ac:txMk cp="0" len="175">
        <ac:context len="405" hash="805737219"/>
      </ac:txMk>
    </ac:txMkLst>
    <p188:pos x="4866977" y="347932"/>
    <p188:txBody>
      <a:bodyPr/>
      <a:lstStyle/>
      <a:p>
        <a:r>
          <a:rPr lang="en-US"/>
          <a:t>update spacing</a:t>
        </a:r>
      </a:p>
    </p188:txBody>
  </p188:cm>
</p188:cmLst>
</file>

<file path=ppt/comments/modernComment_106_B618B14B.xml><?xml version="1.0" encoding="utf-8"?>
<p188:cmLst xmlns:a="http://schemas.openxmlformats.org/drawingml/2006/main" xmlns:r="http://schemas.openxmlformats.org/officeDocument/2006/relationships" xmlns:p188="http://schemas.microsoft.com/office/powerpoint/2018/8/main">
  <p188:cm id="{19E45279-EC90-4FDD-9D8C-0468A2CFDA60}" authorId="{A5DD640C-C744-E7CA-032A-C16463CA340C}" created="2026-01-30T15:44:13.399">
    <ac:txMkLst xmlns:ac="http://schemas.microsoft.com/office/drawing/2013/main/command">
      <pc:docMk xmlns:pc="http://schemas.microsoft.com/office/powerpoint/2013/main/command"/>
      <pc:sldMk xmlns:pc="http://schemas.microsoft.com/office/powerpoint/2013/main/command" cId="3055071563" sldId="262"/>
      <ac:spMk id="3" creationId="{1853E49A-31A2-7D8F-6F90-7CDBC19CC6D3}"/>
      <ac:txMk cp="176" len="15">
        <ac:context len="809" hash="3279903641"/>
      </ac:txMk>
    </ac:txMkLst>
    <p188:pos x="1063842" y="976466"/>
    <p188:txBody>
      <a:bodyPr/>
      <a:lstStyle/>
      <a:p>
        <a:r>
          <a:rPr lang="en-GB"/>
          <a:t>are we going to report findings of other metals in this report? If not maybe want to clarify this here as a bit ambiguous.</a:t>
        </a:r>
      </a:p>
    </p188:txBody>
  </p188:cm>
</p188:cmLst>
</file>

<file path=ppt/comments/modernComment_109_B8D85DD0.xml><?xml version="1.0" encoding="utf-8"?>
<p188:cmLst xmlns:a="http://schemas.openxmlformats.org/drawingml/2006/main" xmlns:r="http://schemas.openxmlformats.org/officeDocument/2006/relationships" xmlns:p188="http://schemas.microsoft.com/office/powerpoint/2018/8/main">
  <p188:cm id="{F56C3D5F-F774-4507-A0FF-530B29EB6C5B}" authorId="{A5DD640C-C744-E7CA-032A-C16463CA340C}" created="2026-01-30T15:54:06.882">
    <pc:sldMkLst xmlns:pc="http://schemas.microsoft.com/office/powerpoint/2013/main/command">
      <pc:docMk/>
      <pc:sldMk cId="3101187536" sldId="265"/>
    </pc:sldMkLst>
    <p188:txBody>
      <a:bodyPr/>
      <a:lstStyle/>
      <a:p>
        <a:r>
          <a:rPr lang="en-GB"/>
          <a:t>This link takes us to an intermediate page - is there a way for it to land directly onto the infographic?</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B130BD-FE6A-28EF-D312-D9ADEB3D8C9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9F72886-E0B7-7EC5-DF2B-62227BF0F92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D85D46A-85FA-4604-B110-772D7F3DC81F}" type="datetime1">
              <a:rPr lang="en-US" smtClean="0"/>
              <a:t>3/2/2026</a:t>
            </a:fld>
            <a:endParaRPr lang="en-US"/>
          </a:p>
        </p:txBody>
      </p:sp>
      <p:sp>
        <p:nvSpPr>
          <p:cNvPr id="4" name="Footer Placeholder 3">
            <a:extLst>
              <a:ext uri="{FF2B5EF4-FFF2-40B4-BE49-F238E27FC236}">
                <a16:creationId xmlns:a16="http://schemas.microsoft.com/office/drawing/2014/main" id="{74369666-E798-18F1-5918-94AAE922B45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64AB7EB-1EC3-28EF-787E-65F878CAB1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7A5266-8F6A-4B55-8361-6E91A883FD44}" type="slidenum">
              <a:rPr lang="en-US" smtClean="0"/>
              <a:t>‹#›</a:t>
            </a:fld>
            <a:endParaRPr lang="en-US"/>
          </a:p>
        </p:txBody>
      </p:sp>
    </p:spTree>
    <p:extLst>
      <p:ext uri="{BB962C8B-B14F-4D97-AF65-F5344CB8AC3E}">
        <p14:creationId xmlns:p14="http://schemas.microsoft.com/office/powerpoint/2010/main" val="3829883620"/>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4C6C32-1B65-4B84-BAA9-E6E08ACF9132}" type="datetime1">
              <a:rPr lang="en-US" smtClean="0"/>
              <a:t>3/2/2026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41F373-3F72-4E38-A4CD-D01EEFBBC30D}" type="slidenum">
              <a:rPr lang="en-US" smtClean="0"/>
              <a:t>‹#›</a:t>
            </a:fld>
            <a:endParaRPr lang="en-US"/>
          </a:p>
        </p:txBody>
      </p:sp>
    </p:spTree>
    <p:extLst>
      <p:ext uri="{BB962C8B-B14F-4D97-AF65-F5344CB8AC3E}">
        <p14:creationId xmlns:p14="http://schemas.microsoft.com/office/powerpoint/2010/main" val="2602720025"/>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36788" y="1143000"/>
            <a:ext cx="2384425"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841F373-3F72-4E38-A4CD-D01EEFBBC30D}" type="slidenum">
              <a:rPr lang="en-US" smtClean="0"/>
              <a:t>3</a:t>
            </a:fld>
            <a:endParaRPr lang="en-US"/>
          </a:p>
        </p:txBody>
      </p:sp>
      <p:sp>
        <p:nvSpPr>
          <p:cNvPr id="5" name="Date Placeholder 4">
            <a:extLst>
              <a:ext uri="{FF2B5EF4-FFF2-40B4-BE49-F238E27FC236}">
                <a16:creationId xmlns:a16="http://schemas.microsoft.com/office/drawing/2014/main" id="{D1C849E3-F617-1764-4CBD-108C45A2AA56}"/>
              </a:ext>
            </a:extLst>
          </p:cNvPr>
          <p:cNvSpPr>
            <a:spLocks noGrp="1"/>
          </p:cNvSpPr>
          <p:nvPr>
            <p:ph type="dt" idx="1"/>
          </p:nvPr>
        </p:nvSpPr>
        <p:spPr/>
        <p:txBody>
          <a:bodyPr/>
          <a:lstStyle/>
          <a:p>
            <a:fld id="{2CB23DBB-3E86-45BB-9A73-2EC0B1C75075}" type="datetime1">
              <a:rPr lang="en-US" smtClean="0"/>
              <a:t>3/2/2026</a:t>
            </a:fld>
            <a:endParaRPr lang="en-US"/>
          </a:p>
        </p:txBody>
      </p:sp>
    </p:spTree>
    <p:extLst>
      <p:ext uri="{BB962C8B-B14F-4D97-AF65-F5344CB8AC3E}">
        <p14:creationId xmlns:p14="http://schemas.microsoft.com/office/powerpoint/2010/main" val="682432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https://docs.google.com/document/d/1bT6WsaF5lnLGrUSWB5Frddm_NqhzsrvBgEzS5TKS7tA/edit?tab=t.1nsje1xz9rwv</a:t>
            </a:r>
          </a:p>
          <a:p>
            <a:endParaRPr lang="en-US"/>
          </a:p>
        </p:txBody>
      </p:sp>
      <p:sp>
        <p:nvSpPr>
          <p:cNvPr id="4" name="Date Placeholder 3"/>
          <p:cNvSpPr>
            <a:spLocks noGrp="1"/>
          </p:cNvSpPr>
          <p:nvPr>
            <p:ph type="dt" idx="1"/>
          </p:nvPr>
        </p:nvSpPr>
        <p:spPr/>
        <p:txBody>
          <a:bodyPr/>
          <a:lstStyle/>
          <a:p>
            <a:fld id="{3E4C6C32-1B65-4B84-BAA9-E6E08ACF9132}" type="datetime1">
              <a:rPr lang="en-US" smtClean="0"/>
              <a:t>3/2/2026</a:t>
            </a:fld>
            <a:endParaRPr lang="en-US"/>
          </a:p>
        </p:txBody>
      </p:sp>
      <p:sp>
        <p:nvSpPr>
          <p:cNvPr id="5" name="Slide Number Placeholder 4"/>
          <p:cNvSpPr>
            <a:spLocks noGrp="1"/>
          </p:cNvSpPr>
          <p:nvPr>
            <p:ph type="sldNum" sz="quarter" idx="5"/>
          </p:nvPr>
        </p:nvSpPr>
        <p:spPr/>
        <p:txBody>
          <a:bodyPr/>
          <a:lstStyle/>
          <a:p>
            <a:fld id="{0841F373-3F72-4E38-A4CD-D01EEFBBC30D}" type="slidenum">
              <a:rPr lang="en-US" smtClean="0"/>
              <a:t>6</a:t>
            </a:fld>
            <a:endParaRPr lang="en-US"/>
          </a:p>
        </p:txBody>
      </p:sp>
    </p:spTree>
    <p:extLst>
      <p:ext uri="{BB962C8B-B14F-4D97-AF65-F5344CB8AC3E}">
        <p14:creationId xmlns:p14="http://schemas.microsoft.com/office/powerpoint/2010/main" val="3540848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https://docs.google.com/presentation/d/1iJnU-CSnD7OUZoZWbcSvj0pT0D9LsbdsrrqLAZlGWEk/edit?slide=id.p#slide=id.p</a:t>
            </a:r>
          </a:p>
          <a:p>
            <a:endParaRPr lang="en-US"/>
          </a:p>
        </p:txBody>
      </p:sp>
      <p:sp>
        <p:nvSpPr>
          <p:cNvPr id="4" name="Date Placeholder 3"/>
          <p:cNvSpPr>
            <a:spLocks noGrp="1"/>
          </p:cNvSpPr>
          <p:nvPr>
            <p:ph type="dt" idx="1"/>
          </p:nvPr>
        </p:nvSpPr>
        <p:spPr/>
        <p:txBody>
          <a:bodyPr/>
          <a:lstStyle/>
          <a:p>
            <a:fld id="{3E4C6C32-1B65-4B84-BAA9-E6E08ACF9132}" type="datetime1">
              <a:rPr lang="en-US" smtClean="0"/>
              <a:t>3/2/2026</a:t>
            </a:fld>
            <a:endParaRPr lang="en-US"/>
          </a:p>
        </p:txBody>
      </p:sp>
      <p:sp>
        <p:nvSpPr>
          <p:cNvPr id="5" name="Slide Number Placeholder 4"/>
          <p:cNvSpPr>
            <a:spLocks noGrp="1"/>
          </p:cNvSpPr>
          <p:nvPr>
            <p:ph type="sldNum" sz="quarter" idx="5"/>
          </p:nvPr>
        </p:nvSpPr>
        <p:spPr/>
        <p:txBody>
          <a:bodyPr/>
          <a:lstStyle/>
          <a:p>
            <a:fld id="{0841F373-3F72-4E38-A4CD-D01EEFBBC30D}" type="slidenum">
              <a:rPr lang="en-US" smtClean="0"/>
              <a:t>7</a:t>
            </a:fld>
            <a:endParaRPr lang="en-US"/>
          </a:p>
        </p:txBody>
      </p:sp>
    </p:spTree>
    <p:extLst>
      <p:ext uri="{BB962C8B-B14F-4D97-AF65-F5344CB8AC3E}">
        <p14:creationId xmlns:p14="http://schemas.microsoft.com/office/powerpoint/2010/main" val="3754057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1646133"/>
            <a:ext cx="6606540" cy="3501813"/>
          </a:xfrm>
        </p:spPr>
        <p:txBody>
          <a:bodyPr anchor="b"/>
          <a:lstStyle>
            <a:lvl1pPr algn="ctr">
              <a:defRPr sz="5100"/>
            </a:lvl1pPr>
          </a:lstStyle>
          <a:p>
            <a:r>
              <a:rPr lang="en-US"/>
              <a:t>Click to edit Master title style</a:t>
            </a:r>
          </a:p>
        </p:txBody>
      </p:sp>
      <p:sp>
        <p:nvSpPr>
          <p:cNvPr id="3" name="Subtitle 2"/>
          <p:cNvSpPr>
            <a:spLocks noGrp="1"/>
          </p:cNvSpPr>
          <p:nvPr>
            <p:ph type="subTitle" idx="1"/>
          </p:nvPr>
        </p:nvSpPr>
        <p:spPr>
          <a:xfrm>
            <a:off x="971550" y="5282989"/>
            <a:ext cx="5829300" cy="2428451"/>
          </a:xfrm>
        </p:spPr>
        <p:txBody>
          <a:bodyPr/>
          <a:lstStyle>
            <a:lvl1pPr marL="0" indent="0" algn="ctr">
              <a:buNone/>
              <a:defRPr sz="2040"/>
            </a:lvl1pPr>
            <a:lvl2pPr marL="388620" indent="0" algn="ctr">
              <a:buNone/>
              <a:defRPr sz="1700"/>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en-US"/>
              <a:t>Click to edit Master subtitle style</a:t>
            </a:r>
          </a:p>
        </p:txBody>
      </p:sp>
      <p:sp>
        <p:nvSpPr>
          <p:cNvPr id="4" name="Date Placeholder 3"/>
          <p:cNvSpPr>
            <a:spLocks noGrp="1"/>
          </p:cNvSpPr>
          <p:nvPr>
            <p:ph type="dt" sz="half" idx="10"/>
          </p:nvPr>
        </p:nvSpPr>
        <p:spPr/>
        <p:txBody>
          <a:bodyPr/>
          <a:lstStyle/>
          <a:p>
            <a:fld id="{12B69A78-F019-493E-BC92-453AB727FE65}" type="datetime1">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85498A-A7D2-4202-8B58-6C83C98E0B39}" type="slidenum">
              <a:rPr lang="en-US" smtClean="0"/>
              <a:t>‹#›</a:t>
            </a:fld>
            <a:endParaRPr lang="en-US"/>
          </a:p>
        </p:txBody>
      </p:sp>
    </p:spTree>
    <p:extLst>
      <p:ext uri="{BB962C8B-B14F-4D97-AF65-F5344CB8AC3E}">
        <p14:creationId xmlns:p14="http://schemas.microsoft.com/office/powerpoint/2010/main" val="537370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A18F0C-BD90-478C-AC2D-28F9FFE1887F}" type="datetime1">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85498A-A7D2-4202-8B58-6C83C98E0B39}" type="slidenum">
              <a:rPr lang="en-US" smtClean="0"/>
              <a:t>‹#›</a:t>
            </a:fld>
            <a:endParaRPr lang="en-US"/>
          </a:p>
        </p:txBody>
      </p:sp>
    </p:spTree>
    <p:extLst>
      <p:ext uri="{BB962C8B-B14F-4D97-AF65-F5344CB8AC3E}">
        <p14:creationId xmlns:p14="http://schemas.microsoft.com/office/powerpoint/2010/main" val="91188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5" y="2507618"/>
            <a:ext cx="6703695" cy="4184014"/>
          </a:xfrm>
        </p:spPr>
        <p:txBody>
          <a:bodyPr anchor="b"/>
          <a:lstStyle>
            <a:lvl1pPr>
              <a:defRPr sz="5100"/>
            </a:lvl1pPr>
          </a:lstStyle>
          <a:p>
            <a:r>
              <a:rPr lang="en-US"/>
              <a:t>Click to edit Master title style</a:t>
            </a:r>
          </a:p>
        </p:txBody>
      </p:sp>
      <p:sp>
        <p:nvSpPr>
          <p:cNvPr id="3" name="Text Placeholder 2"/>
          <p:cNvSpPr>
            <a:spLocks noGrp="1"/>
          </p:cNvSpPr>
          <p:nvPr>
            <p:ph type="body" idx="1"/>
          </p:nvPr>
        </p:nvSpPr>
        <p:spPr>
          <a:xfrm>
            <a:off x="530305" y="6731215"/>
            <a:ext cx="6703695" cy="2200274"/>
          </a:xfrm>
        </p:spPr>
        <p:txBody>
          <a:bodyPr/>
          <a:lstStyle>
            <a:lvl1pPr marL="0" indent="0">
              <a:buNone/>
              <a:defRPr sz="2040">
                <a:solidFill>
                  <a:schemeClr val="tx1">
                    <a:tint val="82000"/>
                  </a:schemeClr>
                </a:solidFill>
              </a:defRPr>
            </a:lvl1pPr>
            <a:lvl2pPr marL="388620" indent="0">
              <a:buNone/>
              <a:defRPr sz="1700">
                <a:solidFill>
                  <a:schemeClr val="tx1">
                    <a:tint val="82000"/>
                  </a:schemeClr>
                </a:solidFill>
              </a:defRPr>
            </a:lvl2pPr>
            <a:lvl3pPr marL="777240" indent="0">
              <a:buNone/>
              <a:defRPr sz="1530">
                <a:solidFill>
                  <a:schemeClr val="tx1">
                    <a:tint val="82000"/>
                  </a:schemeClr>
                </a:solidFill>
              </a:defRPr>
            </a:lvl3pPr>
            <a:lvl4pPr marL="1165860" indent="0">
              <a:buNone/>
              <a:defRPr sz="1360">
                <a:solidFill>
                  <a:schemeClr val="tx1">
                    <a:tint val="82000"/>
                  </a:schemeClr>
                </a:solidFill>
              </a:defRPr>
            </a:lvl4pPr>
            <a:lvl5pPr marL="1554480" indent="0">
              <a:buNone/>
              <a:defRPr sz="1360">
                <a:solidFill>
                  <a:schemeClr val="tx1">
                    <a:tint val="82000"/>
                  </a:schemeClr>
                </a:solidFill>
              </a:defRPr>
            </a:lvl5pPr>
            <a:lvl6pPr marL="1943100" indent="0">
              <a:buNone/>
              <a:defRPr sz="1360">
                <a:solidFill>
                  <a:schemeClr val="tx1">
                    <a:tint val="82000"/>
                  </a:schemeClr>
                </a:solidFill>
              </a:defRPr>
            </a:lvl6pPr>
            <a:lvl7pPr marL="2331720" indent="0">
              <a:buNone/>
              <a:defRPr sz="1360">
                <a:solidFill>
                  <a:schemeClr val="tx1">
                    <a:tint val="82000"/>
                  </a:schemeClr>
                </a:solidFill>
              </a:defRPr>
            </a:lvl7pPr>
            <a:lvl8pPr marL="2720340" indent="0">
              <a:buNone/>
              <a:defRPr sz="1360">
                <a:solidFill>
                  <a:schemeClr val="tx1">
                    <a:tint val="82000"/>
                  </a:schemeClr>
                </a:solidFill>
              </a:defRPr>
            </a:lvl8pPr>
            <a:lvl9pPr marL="3108960" indent="0">
              <a:buNone/>
              <a:defRPr sz="136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66789D-4E5F-42DA-8863-20255882CDDF}" type="datetime1">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85498A-A7D2-4202-8B58-6C83C98E0B39}" type="slidenum">
              <a:rPr lang="en-US" smtClean="0"/>
              <a:t>‹#›</a:t>
            </a:fld>
            <a:endParaRPr lang="en-US"/>
          </a:p>
        </p:txBody>
      </p:sp>
    </p:spTree>
    <p:extLst>
      <p:ext uri="{BB962C8B-B14F-4D97-AF65-F5344CB8AC3E}">
        <p14:creationId xmlns:p14="http://schemas.microsoft.com/office/powerpoint/2010/main" val="522326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4353"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934778"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E5A0F1-CFE0-4CF9-B26C-6719B93383CE}" type="datetime1">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85498A-A7D2-4202-8B58-6C83C98E0B39}" type="slidenum">
              <a:rPr lang="en-US" smtClean="0"/>
              <a:t>‹#›</a:t>
            </a:fld>
            <a:endParaRPr lang="en-US"/>
          </a:p>
        </p:txBody>
      </p:sp>
    </p:spTree>
    <p:extLst>
      <p:ext uri="{BB962C8B-B14F-4D97-AF65-F5344CB8AC3E}">
        <p14:creationId xmlns:p14="http://schemas.microsoft.com/office/powerpoint/2010/main" val="1413605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5" y="535519"/>
            <a:ext cx="6703695" cy="1944159"/>
          </a:xfrm>
        </p:spPr>
        <p:txBody>
          <a:bodyPr/>
          <a:lstStyle/>
          <a:p>
            <a:r>
              <a:rPr lang="en-US"/>
              <a:t>Click to edit Master title style</a:t>
            </a:r>
          </a:p>
        </p:txBody>
      </p:sp>
      <p:sp>
        <p:nvSpPr>
          <p:cNvPr id="3" name="Text Placeholder 2"/>
          <p:cNvSpPr>
            <a:spLocks noGrp="1"/>
          </p:cNvSpPr>
          <p:nvPr>
            <p:ph type="body" idx="1"/>
          </p:nvPr>
        </p:nvSpPr>
        <p:spPr>
          <a:xfrm>
            <a:off x="535366" y="2465706"/>
            <a:ext cx="3288089"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4" name="Content Placeholder 3"/>
          <p:cNvSpPr>
            <a:spLocks noGrp="1"/>
          </p:cNvSpPr>
          <p:nvPr>
            <p:ph sz="half" idx="2"/>
          </p:nvPr>
        </p:nvSpPr>
        <p:spPr>
          <a:xfrm>
            <a:off x="535366" y="3674110"/>
            <a:ext cx="3288089"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934778" y="2465706"/>
            <a:ext cx="3304282"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6" name="Content Placeholder 5"/>
          <p:cNvSpPr>
            <a:spLocks noGrp="1"/>
          </p:cNvSpPr>
          <p:nvPr>
            <p:ph sz="quarter" idx="4"/>
          </p:nvPr>
        </p:nvSpPr>
        <p:spPr>
          <a:xfrm>
            <a:off x="3934778" y="3674110"/>
            <a:ext cx="3304282"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74C822E-CE8E-40F7-AE7E-635F1B9E2AB9}" type="datetime1">
              <a:rPr lang="en-US" smtClean="0"/>
              <a:t>3/2/2026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85498A-A7D2-4202-8B58-6C83C98E0B39}" type="slidenum">
              <a:rPr lang="en-US" smtClean="0"/>
              <a:t>‹#›</a:t>
            </a:fld>
            <a:endParaRPr lang="en-US"/>
          </a:p>
        </p:txBody>
      </p:sp>
    </p:spTree>
    <p:extLst>
      <p:ext uri="{BB962C8B-B14F-4D97-AF65-F5344CB8AC3E}">
        <p14:creationId xmlns:p14="http://schemas.microsoft.com/office/powerpoint/2010/main" val="2985504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C38D936-ED3F-466E-BD54-0DC8155C5FE1}" type="datetime1">
              <a:rPr lang="en-US" smtClean="0"/>
              <a:t>3/2/2026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85498A-A7D2-4202-8B58-6C83C98E0B39}" type="slidenum">
              <a:rPr lang="en-US" smtClean="0"/>
              <a:t>‹#›</a:t>
            </a:fld>
            <a:endParaRPr lang="en-US"/>
          </a:p>
        </p:txBody>
      </p:sp>
    </p:spTree>
    <p:extLst>
      <p:ext uri="{BB962C8B-B14F-4D97-AF65-F5344CB8AC3E}">
        <p14:creationId xmlns:p14="http://schemas.microsoft.com/office/powerpoint/2010/main" val="3491662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62A9E4-B01E-4A99-9D60-1CF0624427C3}" type="datetime1">
              <a:rPr lang="en-US" smtClean="0"/>
              <a:t>3/2/2026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85498A-A7D2-4202-8B58-6C83C98E0B39}" type="slidenum">
              <a:rPr lang="en-US" smtClean="0"/>
              <a:t>‹#›</a:t>
            </a:fld>
            <a:endParaRPr lang="en-US"/>
          </a:p>
        </p:txBody>
      </p:sp>
    </p:spTree>
    <p:extLst>
      <p:ext uri="{BB962C8B-B14F-4D97-AF65-F5344CB8AC3E}">
        <p14:creationId xmlns:p14="http://schemas.microsoft.com/office/powerpoint/2010/main" val="3585737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p>
        </p:txBody>
      </p:sp>
      <p:sp>
        <p:nvSpPr>
          <p:cNvPr id="3" name="Content Placeholder 2"/>
          <p:cNvSpPr>
            <a:spLocks noGrp="1"/>
          </p:cNvSpPr>
          <p:nvPr>
            <p:ph idx="1"/>
          </p:nvPr>
        </p:nvSpPr>
        <p:spPr>
          <a:xfrm>
            <a:off x="3304282" y="1448226"/>
            <a:ext cx="3934778" cy="7147983"/>
          </a:xfrm>
        </p:spPr>
        <p:txBody>
          <a:bodyPr/>
          <a:lstStyle>
            <a:lvl1pPr>
              <a:defRPr sz="2720"/>
            </a:lvl1pPr>
            <a:lvl2pPr>
              <a:defRPr sz="2380"/>
            </a:lvl2pPr>
            <a:lvl3pPr>
              <a:defRPr sz="204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823FE264-85F8-42D5-AC78-C96E95308F30}" type="datetime1">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85498A-A7D2-4202-8B58-6C83C98E0B39}" type="slidenum">
              <a:rPr lang="en-US" smtClean="0"/>
              <a:t>‹#›</a:t>
            </a:fld>
            <a:endParaRPr lang="en-US"/>
          </a:p>
        </p:txBody>
      </p:sp>
    </p:spTree>
    <p:extLst>
      <p:ext uri="{BB962C8B-B14F-4D97-AF65-F5344CB8AC3E}">
        <p14:creationId xmlns:p14="http://schemas.microsoft.com/office/powerpoint/2010/main" val="3966191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p>
        </p:txBody>
      </p:sp>
      <p:sp>
        <p:nvSpPr>
          <p:cNvPr id="3" name="Picture Placeholder 2"/>
          <p:cNvSpPr>
            <a:spLocks noGrp="1" noChangeAspect="1"/>
          </p:cNvSpPr>
          <p:nvPr>
            <p:ph type="pic" idx="1"/>
          </p:nvPr>
        </p:nvSpPr>
        <p:spPr>
          <a:xfrm>
            <a:off x="3304282" y="1448226"/>
            <a:ext cx="3934778" cy="7147983"/>
          </a:xfrm>
        </p:spPr>
        <p:txBody>
          <a:bodyPr anchor="t"/>
          <a:lstStyle>
            <a:lvl1pPr marL="0" indent="0">
              <a:buNone/>
              <a:defRPr sz="2720"/>
            </a:lvl1pPr>
            <a:lvl2pPr marL="388620" indent="0">
              <a:buNone/>
              <a:defRPr sz="2380"/>
            </a:lvl2pPr>
            <a:lvl3pPr marL="777240" indent="0">
              <a:buNone/>
              <a:defRPr sz="2040"/>
            </a:lvl3pPr>
            <a:lvl4pPr marL="1165860" indent="0">
              <a:buNone/>
              <a:defRPr sz="1700"/>
            </a:lvl4pPr>
            <a:lvl5pPr marL="1554480" indent="0">
              <a:buNone/>
              <a:defRPr sz="1700"/>
            </a:lvl5pPr>
            <a:lvl6pPr marL="1943100" indent="0">
              <a:buNone/>
              <a:defRPr sz="1700"/>
            </a:lvl6pPr>
            <a:lvl7pPr marL="2331720" indent="0">
              <a:buNone/>
              <a:defRPr sz="1700"/>
            </a:lvl7pPr>
            <a:lvl8pPr marL="2720340" indent="0">
              <a:buNone/>
              <a:defRPr sz="1700"/>
            </a:lvl8pPr>
            <a:lvl9pPr marL="3108960" indent="0">
              <a:buNone/>
              <a:defRPr sz="1700"/>
            </a:lvl9pPr>
          </a:lstStyle>
          <a:p>
            <a:r>
              <a:rPr lang="en-US"/>
              <a:t>Click icon to add picture</a:t>
            </a:r>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8DAFE50A-E517-47C2-8764-2A15B3B711C5}" type="datetime1">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85498A-A7D2-4202-8B58-6C83C98E0B39}" type="slidenum">
              <a:rPr lang="en-US" smtClean="0"/>
              <a:t>‹#›</a:t>
            </a:fld>
            <a:endParaRPr lang="en-US"/>
          </a:p>
        </p:txBody>
      </p:sp>
    </p:spTree>
    <p:extLst>
      <p:ext uri="{BB962C8B-B14F-4D97-AF65-F5344CB8AC3E}">
        <p14:creationId xmlns:p14="http://schemas.microsoft.com/office/powerpoint/2010/main" val="1609635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2CFD448-D683-4940-8981-0136BE2E8F48}" type="datetime1">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85498A-A7D2-4202-8B58-6C83C98E0B39}" type="slidenum">
              <a:rPr lang="en-US" smtClean="0"/>
              <a:t>‹#›</a:t>
            </a:fld>
            <a:endParaRPr lang="en-US"/>
          </a:p>
        </p:txBody>
      </p:sp>
    </p:spTree>
    <p:extLst>
      <p:ext uri="{BB962C8B-B14F-4D97-AF65-F5344CB8AC3E}">
        <p14:creationId xmlns:p14="http://schemas.microsoft.com/office/powerpoint/2010/main" val="229322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535517"/>
            <a:ext cx="1675924" cy="852402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4353" y="535517"/>
            <a:ext cx="4930616" cy="8524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76F80C-317C-49F0-805C-4C4B24D1C8B4}" type="datetime1">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85498A-A7D2-4202-8B58-6C83C98E0B39}" type="slidenum">
              <a:rPr lang="en-US" smtClean="0"/>
              <a:t>‹#›</a:t>
            </a:fld>
            <a:endParaRPr lang="en-US"/>
          </a:p>
        </p:txBody>
      </p:sp>
    </p:spTree>
    <p:extLst>
      <p:ext uri="{BB962C8B-B14F-4D97-AF65-F5344CB8AC3E}">
        <p14:creationId xmlns:p14="http://schemas.microsoft.com/office/powerpoint/2010/main" val="16427885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1020">
                <a:solidFill>
                  <a:schemeClr val="tx1">
                    <a:tint val="82000"/>
                  </a:schemeClr>
                </a:solidFill>
              </a:defRPr>
            </a:lvl1pPr>
          </a:lstStyle>
          <a:p>
            <a:fld id="{564C5E8D-582F-4D33-8A0E-C9D907BF9168}" type="datetime1">
              <a:rPr lang="en-US" smtClean="0"/>
              <a:t>3/2/2026</a:t>
            </a:fld>
            <a:endParaRPr lang="en-US"/>
          </a:p>
        </p:txBody>
      </p:sp>
      <p:sp>
        <p:nvSpPr>
          <p:cNvPr id="5" name="Footer Placeholder 4"/>
          <p:cNvSpPr>
            <a:spLocks noGrp="1"/>
          </p:cNvSpPr>
          <p:nvPr>
            <p:ph type="ftr" sz="quarter" idx="3"/>
          </p:nvPr>
        </p:nvSpPr>
        <p:spPr>
          <a:xfrm>
            <a:off x="2574608" y="9322649"/>
            <a:ext cx="2623185" cy="535517"/>
          </a:xfrm>
          <a:prstGeom prst="rect">
            <a:avLst/>
          </a:prstGeom>
        </p:spPr>
        <p:txBody>
          <a:bodyPr vert="horz" lIns="91440" tIns="45720" rIns="91440" bIns="45720" rtlCol="0" anchor="ctr"/>
          <a:lstStyle>
            <a:lvl1pPr algn="ctr">
              <a:defRPr sz="102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1020">
                <a:solidFill>
                  <a:schemeClr val="tx1">
                    <a:tint val="82000"/>
                  </a:schemeClr>
                </a:solidFill>
              </a:defRPr>
            </a:lvl1pPr>
          </a:lstStyle>
          <a:p>
            <a:fld id="{AF85498A-A7D2-4202-8B58-6C83C98E0B39}" type="slidenum">
              <a:rPr lang="en-US" smtClean="0"/>
              <a:t>‹#›</a:t>
            </a:fld>
            <a:endParaRPr lang="en-US"/>
          </a:p>
        </p:txBody>
      </p:sp>
    </p:spTree>
    <p:extLst>
      <p:ext uri="{BB962C8B-B14F-4D97-AF65-F5344CB8AC3E}">
        <p14:creationId xmlns:p14="http://schemas.microsoft.com/office/powerpoint/2010/main" val="365505532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C_5428542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0_9D9E33F9.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5_E9B10A1A.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B618B14B.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6.jpe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microsoft.com/office/2018/10/relationships/comments" Target="../comments/modernComment_104_A39CA57C.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9_B8D85DD0.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hyperlink" Target="https://doi.org/10.5194/egusphere-2024-3101" TargetMode="External"/><Relationship Id="rId2" Type="http://schemas.microsoft.com/office/2018/10/relationships/comments" Target="../comments/modernComment_10B_AA08C85C.xml"/><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2918BB28-D895-F10E-ED64-3746F312BC27}"/>
              </a:ext>
            </a:extLst>
          </p:cNvPr>
          <p:cNvSpPr/>
          <p:nvPr/>
        </p:nvSpPr>
        <p:spPr>
          <a:xfrm>
            <a:off x="439635" y="1761923"/>
            <a:ext cx="3351213" cy="2444317"/>
          </a:xfrm>
          <a:prstGeom prst="rect">
            <a:avLst/>
          </a:prstGeom>
          <a:solidFill>
            <a:schemeClr val="bg1"/>
          </a:solidFill>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FB0D7B06-EE7F-F075-D571-AFB1A7B8E2B0}"/>
              </a:ext>
            </a:extLst>
          </p:cNvPr>
          <p:cNvSpPr/>
          <p:nvPr/>
        </p:nvSpPr>
        <p:spPr>
          <a:xfrm>
            <a:off x="436837" y="1760444"/>
            <a:ext cx="3356184" cy="424313"/>
          </a:xfrm>
          <a:prstGeom prst="rect">
            <a:avLst/>
          </a:prstGeom>
          <a:solidFill>
            <a:srgbClr val="0066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latin typeface="Arial Black"/>
              </a:rPr>
              <a:t>Elevated Lead in Soil</a:t>
            </a:r>
            <a:endParaRPr lang="en-US" sz="1400">
              <a:solidFill>
                <a:srgbClr val="000000"/>
              </a:solidFill>
              <a:latin typeface="Arial Black"/>
            </a:endParaRPr>
          </a:p>
        </p:txBody>
      </p:sp>
      <p:sp>
        <p:nvSpPr>
          <p:cNvPr id="29" name="TextBox 28">
            <a:extLst>
              <a:ext uri="{FF2B5EF4-FFF2-40B4-BE49-F238E27FC236}">
                <a16:creationId xmlns:a16="http://schemas.microsoft.com/office/drawing/2014/main" id="{7014F860-3832-67D5-F170-4AF0EEEDDC13}"/>
              </a:ext>
            </a:extLst>
          </p:cNvPr>
          <p:cNvSpPr txBox="1"/>
          <p:nvPr/>
        </p:nvSpPr>
        <p:spPr>
          <a:xfrm>
            <a:off x="868679" y="514364"/>
            <a:ext cx="6035040" cy="625642"/>
          </a:xfrm>
          <a:prstGeom prst="rect">
            <a:avLst/>
          </a:prstGeom>
          <a:noFill/>
        </p:spPr>
        <p:txBody>
          <a:bodyPr wrap="square" rtlCol="0">
            <a:spAutoFit/>
          </a:bodyPr>
          <a:lstStyle/>
          <a:p>
            <a:endParaRPr lang="en-US"/>
          </a:p>
        </p:txBody>
      </p:sp>
      <p:sp>
        <p:nvSpPr>
          <p:cNvPr id="35" name="Rectangle: Rounded Corners 34">
            <a:extLst>
              <a:ext uri="{FF2B5EF4-FFF2-40B4-BE49-F238E27FC236}">
                <a16:creationId xmlns:a16="http://schemas.microsoft.com/office/drawing/2014/main" id="{89D98BB5-D459-D2D1-F1FC-69B3840485FE}"/>
              </a:ext>
            </a:extLst>
          </p:cNvPr>
          <p:cNvSpPr/>
          <p:nvPr/>
        </p:nvSpPr>
        <p:spPr>
          <a:xfrm>
            <a:off x="-18241" y="352866"/>
            <a:ext cx="7795183" cy="989721"/>
          </a:xfrm>
          <a:prstGeom prst="rect">
            <a:avLst/>
          </a:prstGeom>
          <a:solidFill>
            <a:srgbClr val="005BBA"/>
          </a:solidFill>
          <a:ln>
            <a:solidFill>
              <a:schemeClr val="bg1"/>
            </a:solidFill>
          </a:ln>
        </p:spPr>
        <p:style>
          <a:lnRef idx="1">
            <a:schemeClr val="accent4"/>
          </a:lnRef>
          <a:fillRef idx="2">
            <a:schemeClr val="accent4"/>
          </a:fillRef>
          <a:effectRef idx="1">
            <a:schemeClr val="accent4"/>
          </a:effectRef>
          <a:fontRef idx="minor">
            <a:schemeClr val="dk1"/>
          </a:fontRef>
        </p:style>
        <p:txBody>
          <a:bodyPr lIns="91440" tIns="45720" rIns="91440" bIns="45720" rtlCol="0" anchor="ctr"/>
          <a:lstStyle/>
          <a:p>
            <a:pPr algn="ctr"/>
            <a:r>
              <a:rPr lang="en-US">
                <a:solidFill>
                  <a:schemeClr val="bg1"/>
                </a:solidFill>
                <a:latin typeface="Arial Black"/>
                <a:cs typeface="Arial"/>
              </a:rPr>
              <a:t>Soil Report Executive Summary</a:t>
            </a:r>
          </a:p>
        </p:txBody>
      </p:sp>
      <p:sp>
        <p:nvSpPr>
          <p:cNvPr id="39" name="TextBox 38">
            <a:extLst>
              <a:ext uri="{FF2B5EF4-FFF2-40B4-BE49-F238E27FC236}">
                <a16:creationId xmlns:a16="http://schemas.microsoft.com/office/drawing/2014/main" id="{EE3EEB3A-B01E-A25C-72B6-4C5AAD824F7C}"/>
              </a:ext>
            </a:extLst>
          </p:cNvPr>
          <p:cNvSpPr txBox="1"/>
          <p:nvPr/>
        </p:nvSpPr>
        <p:spPr>
          <a:xfrm>
            <a:off x="2373263" y="5234027"/>
            <a:ext cx="3888606" cy="369332"/>
          </a:xfrm>
          <a:prstGeom prst="rect">
            <a:avLst/>
          </a:prstGeom>
          <a:noFill/>
        </p:spPr>
        <p:txBody>
          <a:bodyPr wrap="square">
            <a:spAutoFit/>
          </a:bodyPr>
          <a:lstStyle/>
          <a:p>
            <a:r>
              <a:rPr lang="en-US" b="0">
                <a:effectLst/>
              </a:rPr>
              <a:t> </a:t>
            </a:r>
            <a:endParaRPr lang="en-US"/>
          </a:p>
        </p:txBody>
      </p:sp>
      <p:pic>
        <p:nvPicPr>
          <p:cNvPr id="1026" name="Picture 2">
            <a:extLst>
              <a:ext uri="{FF2B5EF4-FFF2-40B4-BE49-F238E27FC236}">
                <a16:creationId xmlns:a16="http://schemas.microsoft.com/office/drawing/2014/main" id="{5B7E8DF9-DA19-3C50-A2A3-A4C6ED2D61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0468" t="20212" r="20128" b="20314"/>
          <a:stretch>
            <a:fillRect/>
          </a:stretch>
        </p:blipFill>
        <p:spPr bwMode="auto">
          <a:xfrm>
            <a:off x="780875" y="427576"/>
            <a:ext cx="809783" cy="812977"/>
          </a:xfrm>
          <a:prstGeom prst="flowChartConnector">
            <a:avLst/>
          </a:prstGeom>
          <a:noFill/>
          <a:ln>
            <a:noFill/>
          </a:ln>
          <a:effectLst/>
          <a:extLst>
            <a:ext uri="{909E8E84-426E-40DD-AFC4-6F175D3DCCD1}">
              <a14:hiddenFill xmlns:a14="http://schemas.microsoft.com/office/drawing/2010/main">
                <a:solidFill>
                  <a:srgbClr val="04617B"/>
                </a:solidFill>
              </a14:hiddenFill>
            </a:ex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sp>
        <p:nvSpPr>
          <p:cNvPr id="40" name="TextBox 39">
            <a:extLst>
              <a:ext uri="{FF2B5EF4-FFF2-40B4-BE49-F238E27FC236}">
                <a16:creationId xmlns:a16="http://schemas.microsoft.com/office/drawing/2014/main" id="{7BAC620E-3B45-C0A2-6193-783CD4F9B6D7}"/>
              </a:ext>
            </a:extLst>
          </p:cNvPr>
          <p:cNvSpPr txBox="1"/>
          <p:nvPr/>
        </p:nvSpPr>
        <p:spPr>
          <a:xfrm>
            <a:off x="495074" y="2048832"/>
            <a:ext cx="3224662" cy="2339102"/>
          </a:xfrm>
          <a:prstGeom prst="rect">
            <a:avLst/>
          </a:prstGeom>
          <a:noFill/>
        </p:spPr>
        <p:txBody>
          <a:bodyPr wrap="square" lIns="91440" tIns="45720" rIns="91440" bIns="45720" rtlCol="0" anchor="t">
            <a:spAutoFit/>
          </a:bodyPr>
          <a:lstStyle/>
          <a:p>
            <a:pPr algn="ctr"/>
            <a:endParaRPr lang="en-US" sz="1600">
              <a:latin typeface="Perpetua"/>
              <a:cs typeface="Arial" panose="020B0604020202020204" pitchFamily="34" charset="0"/>
            </a:endParaRPr>
          </a:p>
          <a:p>
            <a:r>
              <a:rPr lang="en-US" sz="1400">
                <a:latin typeface="Perpetua"/>
                <a:cs typeface="Arial"/>
              </a:rPr>
              <a:t>Elevated lead in soil can increase exposure to lead, which impacts almost every organ in the body and is linked to numerous health effects including:</a:t>
            </a:r>
          </a:p>
          <a:p>
            <a:pPr marL="285750" indent="-285750">
              <a:buFont typeface="Arial"/>
              <a:buChar char="•"/>
            </a:pPr>
            <a:r>
              <a:rPr lang="en-US" sz="1400">
                <a:latin typeface="Perpetua"/>
                <a:cs typeface="Arial"/>
              </a:rPr>
              <a:t>Cognitive Issues</a:t>
            </a:r>
            <a:endParaRPr lang="en-US" sz="1400">
              <a:latin typeface="Perpetua"/>
              <a:cs typeface="Arial" panose="020B0604020202020204" pitchFamily="34" charset="0"/>
            </a:endParaRPr>
          </a:p>
          <a:p>
            <a:pPr marL="285750" indent="-285750">
              <a:buFont typeface="Arial"/>
              <a:buChar char="•"/>
            </a:pPr>
            <a:r>
              <a:rPr lang="en-US" sz="1400">
                <a:latin typeface="Perpetua"/>
                <a:cs typeface="Arial"/>
              </a:rPr>
              <a:t>Reproductive Issues</a:t>
            </a:r>
          </a:p>
          <a:p>
            <a:pPr marL="285750" indent="-285750">
              <a:buFont typeface="Arial"/>
              <a:buChar char="•"/>
            </a:pPr>
            <a:r>
              <a:rPr lang="en-US" sz="1400">
                <a:latin typeface="Perpetua"/>
                <a:cs typeface="Arial"/>
              </a:rPr>
              <a:t>Impaired Growth</a:t>
            </a:r>
            <a:r>
              <a:rPr lang="en-US" sz="1400" baseline="30000">
                <a:latin typeface="Perpetua"/>
                <a:cs typeface="Arial"/>
              </a:rPr>
              <a:t>1</a:t>
            </a:r>
            <a:endParaRPr lang="en-US" sz="1400">
              <a:latin typeface="Perpetua"/>
              <a:cs typeface="Arial" panose="020B0604020202020204" pitchFamily="34" charset="0"/>
            </a:endParaRPr>
          </a:p>
          <a:p>
            <a:pPr algn="ctr"/>
            <a:endParaRPr lang="en-US" sz="1600">
              <a:latin typeface="Perpetua"/>
              <a:cs typeface="Arial" panose="020B0604020202020204" pitchFamily="34" charset="0"/>
            </a:endParaRPr>
          </a:p>
          <a:p>
            <a:pPr algn="ctr"/>
            <a:endParaRPr lang="en-US" sz="1600">
              <a:latin typeface="Perpetua"/>
              <a:cs typeface="Arial" panose="020B0604020202020204" pitchFamily="34" charset="0"/>
            </a:endParaRPr>
          </a:p>
        </p:txBody>
      </p:sp>
      <p:sp>
        <p:nvSpPr>
          <p:cNvPr id="45" name="Rectangle 44">
            <a:extLst>
              <a:ext uri="{FF2B5EF4-FFF2-40B4-BE49-F238E27FC236}">
                <a16:creationId xmlns:a16="http://schemas.microsoft.com/office/drawing/2014/main" id="{3B92C4F7-C1EE-BE7C-C8E8-F078F2D6EC52}"/>
              </a:ext>
            </a:extLst>
          </p:cNvPr>
          <p:cNvSpPr/>
          <p:nvPr/>
        </p:nvSpPr>
        <p:spPr>
          <a:xfrm>
            <a:off x="4047339" y="1759156"/>
            <a:ext cx="3351213" cy="2444317"/>
          </a:xfrm>
          <a:prstGeom prst="rect">
            <a:avLst/>
          </a:prstGeom>
          <a:solidFill>
            <a:schemeClr val="bg1"/>
          </a:solidFill>
          <a:ln>
            <a:solidFill>
              <a:schemeClr val="accent4"/>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48" name="TextBox 47">
            <a:extLst>
              <a:ext uri="{FF2B5EF4-FFF2-40B4-BE49-F238E27FC236}">
                <a16:creationId xmlns:a16="http://schemas.microsoft.com/office/drawing/2014/main" id="{B66E1030-EC6C-5614-623E-453A07EAE976}"/>
              </a:ext>
            </a:extLst>
          </p:cNvPr>
          <p:cNvSpPr txBox="1"/>
          <p:nvPr/>
        </p:nvSpPr>
        <p:spPr>
          <a:xfrm>
            <a:off x="4104762" y="2240381"/>
            <a:ext cx="3351213" cy="1815882"/>
          </a:xfrm>
          <a:prstGeom prst="rect">
            <a:avLst/>
          </a:prstGeom>
          <a:noFill/>
        </p:spPr>
        <p:txBody>
          <a:bodyPr wrap="square" lIns="91440" tIns="45720" rIns="91440" bIns="45720" rtlCol="0" anchor="t">
            <a:spAutoFit/>
          </a:bodyPr>
          <a:lstStyle/>
          <a:p>
            <a:r>
              <a:rPr lang="en-US" sz="1400">
                <a:latin typeface="Perpetua"/>
                <a:cs typeface="Arial"/>
              </a:rPr>
              <a:t>We analyzed the samples in a lab using XRF or X-ray Fluorescence.</a:t>
            </a:r>
          </a:p>
          <a:p>
            <a:endParaRPr lang="en-US" sz="1400">
              <a:latin typeface="Perpetua"/>
              <a:cs typeface="Arial" panose="020B0604020202020204" pitchFamily="34" charset="0"/>
            </a:endParaRPr>
          </a:p>
          <a:p>
            <a:r>
              <a:rPr lang="en-US" sz="1400">
                <a:latin typeface="Perpetua"/>
              </a:rPr>
              <a:t>The machine uses X-rays to detect heavy metals. </a:t>
            </a:r>
          </a:p>
          <a:p>
            <a:endParaRPr lang="en-US" sz="1400">
              <a:latin typeface="Perpetua"/>
            </a:endParaRPr>
          </a:p>
          <a:p>
            <a:r>
              <a:rPr lang="en-US" sz="1400">
                <a:latin typeface="Perpetua"/>
              </a:rPr>
              <a:t>XRF can reliably assess lead contamination in urban soils.</a:t>
            </a:r>
            <a:endParaRPr lang="en-US"/>
          </a:p>
          <a:p>
            <a:endParaRPr lang="en-US" sz="1400">
              <a:latin typeface="Perpetua"/>
              <a:cs typeface="Arial"/>
            </a:endParaRPr>
          </a:p>
        </p:txBody>
      </p:sp>
      <p:sp>
        <p:nvSpPr>
          <p:cNvPr id="2" name="Rectangle 1">
            <a:extLst>
              <a:ext uri="{FF2B5EF4-FFF2-40B4-BE49-F238E27FC236}">
                <a16:creationId xmlns:a16="http://schemas.microsoft.com/office/drawing/2014/main" id="{27E8FE2B-C06B-F350-6EB1-03233DE03593}"/>
              </a:ext>
            </a:extLst>
          </p:cNvPr>
          <p:cNvSpPr/>
          <p:nvPr/>
        </p:nvSpPr>
        <p:spPr>
          <a:xfrm>
            <a:off x="182438" y="4815365"/>
            <a:ext cx="7407524" cy="4944945"/>
          </a:xfrm>
          <a:prstGeom prst="rect">
            <a:avLst/>
          </a:prstGeom>
          <a:solidFill>
            <a:schemeClr val="bg1"/>
          </a:solidFill>
          <a:ln>
            <a:solidFill>
              <a:schemeClr val="accent4"/>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3CB2D8B9-F658-A06F-3110-EE84ABCE89AF}"/>
              </a:ext>
            </a:extLst>
          </p:cNvPr>
          <p:cNvSpPr/>
          <p:nvPr/>
        </p:nvSpPr>
        <p:spPr>
          <a:xfrm>
            <a:off x="1941896" y="5084601"/>
            <a:ext cx="3888606" cy="518757"/>
          </a:xfrm>
          <a:prstGeom prst="roundRect">
            <a:avLst/>
          </a:prstGeom>
          <a:solidFill>
            <a:schemeClr val="tx2">
              <a:lumMod val="25000"/>
              <a:lumOff val="75000"/>
            </a:schemeClr>
          </a:solidFill>
          <a:ln>
            <a:solidFill>
              <a:schemeClr val="tx2">
                <a:lumMod val="75000"/>
                <a:lumOff val="2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ADC96994-CAE6-9A9F-66D6-6366D8310061}"/>
              </a:ext>
            </a:extLst>
          </p:cNvPr>
          <p:cNvSpPr txBox="1"/>
          <p:nvPr/>
        </p:nvSpPr>
        <p:spPr>
          <a:xfrm>
            <a:off x="2768599" y="5115129"/>
            <a:ext cx="2235200" cy="646331"/>
          </a:xfrm>
          <a:prstGeom prst="rect">
            <a:avLst/>
          </a:prstGeom>
          <a:noFill/>
        </p:spPr>
        <p:txBody>
          <a:bodyPr wrap="square" rtlCol="0">
            <a:spAutoFit/>
          </a:bodyPr>
          <a:lstStyle/>
          <a:p>
            <a:pPr algn="ctr"/>
            <a:r>
              <a:rPr lang="en-US">
                <a:highlight>
                  <a:srgbClr val="FFFF00"/>
                </a:highlight>
                <a:latin typeface="Impact" panose="020B0806030902050204" pitchFamily="34" charset="0"/>
              </a:rPr>
              <a:t>Map of Your Yard</a:t>
            </a:r>
          </a:p>
          <a:p>
            <a:endParaRPr lang="en-US"/>
          </a:p>
        </p:txBody>
      </p:sp>
      <p:sp>
        <p:nvSpPr>
          <p:cNvPr id="11" name="Date Placeholder 10">
            <a:extLst>
              <a:ext uri="{FF2B5EF4-FFF2-40B4-BE49-F238E27FC236}">
                <a16:creationId xmlns:a16="http://schemas.microsoft.com/office/drawing/2014/main" id="{87787F33-88A1-0342-241E-ABE85FD5AB89}"/>
              </a:ext>
            </a:extLst>
          </p:cNvPr>
          <p:cNvSpPr>
            <a:spLocks noGrp="1"/>
          </p:cNvSpPr>
          <p:nvPr>
            <p:ph type="dt" sz="half" idx="10"/>
          </p:nvPr>
        </p:nvSpPr>
        <p:spPr/>
        <p:txBody>
          <a:bodyPr/>
          <a:lstStyle/>
          <a:p>
            <a:fld id="{C6BA8D7A-CD9C-4508-8281-1B769FCBAA60}" type="datetime1">
              <a:rPr lang="en-US" smtClean="0"/>
              <a:t>3/2/2026</a:t>
            </a:fld>
            <a:endParaRPr lang="en-US"/>
          </a:p>
        </p:txBody>
      </p:sp>
      <p:sp>
        <p:nvSpPr>
          <p:cNvPr id="12" name="Slide Number Placeholder 11">
            <a:extLst>
              <a:ext uri="{FF2B5EF4-FFF2-40B4-BE49-F238E27FC236}">
                <a16:creationId xmlns:a16="http://schemas.microsoft.com/office/drawing/2014/main" id="{155E1ED3-657E-6C20-9585-59039D7AD063}"/>
              </a:ext>
            </a:extLst>
          </p:cNvPr>
          <p:cNvSpPr>
            <a:spLocks noGrp="1"/>
          </p:cNvSpPr>
          <p:nvPr>
            <p:ph type="sldNum" sz="quarter" idx="12"/>
          </p:nvPr>
        </p:nvSpPr>
        <p:spPr/>
        <p:txBody>
          <a:bodyPr/>
          <a:lstStyle/>
          <a:p>
            <a:r>
              <a:rPr lang="en-US">
                <a:latin typeface="Aptos"/>
              </a:rPr>
              <a:t>1</a:t>
            </a:r>
            <a:endParaRPr lang="en-US" sz="1000">
              <a:latin typeface="Aptos"/>
            </a:endParaRPr>
          </a:p>
        </p:txBody>
      </p:sp>
      <p:sp>
        <p:nvSpPr>
          <p:cNvPr id="6" name="Rectangle 5">
            <a:extLst>
              <a:ext uri="{FF2B5EF4-FFF2-40B4-BE49-F238E27FC236}">
                <a16:creationId xmlns:a16="http://schemas.microsoft.com/office/drawing/2014/main" id="{0BF1FF73-2361-C742-18FA-B2B468095ACA}"/>
              </a:ext>
            </a:extLst>
          </p:cNvPr>
          <p:cNvSpPr/>
          <p:nvPr/>
        </p:nvSpPr>
        <p:spPr>
          <a:xfrm>
            <a:off x="4045324" y="1759544"/>
            <a:ext cx="3356184" cy="424313"/>
          </a:xfrm>
          <a:prstGeom prst="rect">
            <a:avLst/>
          </a:prstGeom>
          <a:solidFill>
            <a:srgbClr val="0066C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bg1"/>
                </a:solidFill>
                <a:latin typeface="Arial Black"/>
              </a:rPr>
              <a:t>XRF</a:t>
            </a:r>
          </a:p>
        </p:txBody>
      </p:sp>
      <p:pic>
        <p:nvPicPr>
          <p:cNvPr id="8" name="Picture 7" descr="A black and white sign with white text&#10;&#10;AI-generated content may be incorrect.">
            <a:extLst>
              <a:ext uri="{FF2B5EF4-FFF2-40B4-BE49-F238E27FC236}">
                <a16:creationId xmlns:a16="http://schemas.microsoft.com/office/drawing/2014/main" id="{6EA3C4FC-D652-051E-7633-DD3B146C1319}"/>
              </a:ext>
            </a:extLst>
          </p:cNvPr>
          <p:cNvPicPr>
            <a:picLocks noChangeAspect="1"/>
          </p:cNvPicPr>
          <p:nvPr/>
        </p:nvPicPr>
        <p:blipFill>
          <a:blip r:embed="rId4"/>
          <a:stretch>
            <a:fillRect/>
          </a:stretch>
        </p:blipFill>
        <p:spPr>
          <a:xfrm>
            <a:off x="6179482" y="511691"/>
            <a:ext cx="808684" cy="607038"/>
          </a:xfrm>
          <a:prstGeom prst="rect">
            <a:avLst/>
          </a:prstGeom>
        </p:spPr>
      </p:pic>
    </p:spTree>
    <p:extLst>
      <p:ext uri="{BB962C8B-B14F-4D97-AF65-F5344CB8AC3E}">
        <p14:creationId xmlns:p14="http://schemas.microsoft.com/office/powerpoint/2010/main" val="1411929125"/>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8B151-79AD-3D45-265F-240A37E81BAF}"/>
              </a:ext>
            </a:extLst>
          </p:cNvPr>
          <p:cNvSpPr>
            <a:spLocks noGrp="1"/>
          </p:cNvSpPr>
          <p:nvPr>
            <p:ph type="title"/>
          </p:nvPr>
        </p:nvSpPr>
        <p:spPr>
          <a:xfrm>
            <a:off x="-204227" y="512489"/>
            <a:ext cx="6703695" cy="1319039"/>
          </a:xfrm>
        </p:spPr>
        <p:txBody>
          <a:bodyPr>
            <a:normAutofit/>
          </a:bodyPr>
          <a:lstStyle/>
          <a:p>
            <a:pPr algn="ctr"/>
            <a:r>
              <a:rPr lang="en-US" sz="1800" b="1">
                <a:latin typeface="Arial Black"/>
                <a:cs typeface="Arial"/>
              </a:rPr>
              <a:t>Soil Screening Results</a:t>
            </a:r>
          </a:p>
        </p:txBody>
      </p:sp>
      <p:sp>
        <p:nvSpPr>
          <p:cNvPr id="3" name="Content Placeholder 2">
            <a:extLst>
              <a:ext uri="{FF2B5EF4-FFF2-40B4-BE49-F238E27FC236}">
                <a16:creationId xmlns:a16="http://schemas.microsoft.com/office/drawing/2014/main" id="{E18B016F-BE3E-A30E-98DF-79FBC7A05DD4}"/>
              </a:ext>
            </a:extLst>
          </p:cNvPr>
          <p:cNvSpPr>
            <a:spLocks noGrp="1"/>
          </p:cNvSpPr>
          <p:nvPr>
            <p:ph idx="1"/>
          </p:nvPr>
        </p:nvSpPr>
        <p:spPr>
          <a:xfrm>
            <a:off x="755818" y="1905669"/>
            <a:ext cx="5976023" cy="5524924"/>
          </a:xfrm>
        </p:spPr>
        <p:txBody>
          <a:bodyPr vert="horz" lIns="91440" tIns="45720" rIns="91440" bIns="45720" rtlCol="0" anchor="t">
            <a:noAutofit/>
          </a:bodyPr>
          <a:lstStyle/>
          <a:p>
            <a:pPr marL="0" indent="0">
              <a:buNone/>
            </a:pPr>
            <a:endParaRPr lang="en-US" sz="1400">
              <a:latin typeface="Perpetua"/>
              <a:cs typeface="Arial" panose="020B0604020202020204" pitchFamily="34" charset="0"/>
            </a:endParaRPr>
          </a:p>
          <a:p>
            <a:pPr marL="0" indent="0">
              <a:buNone/>
            </a:pPr>
            <a:r>
              <a:rPr lang="en-US" sz="1400">
                <a:highlight>
                  <a:srgbClr val="FFFF00"/>
                </a:highlight>
                <a:latin typeface="Perpetua"/>
                <a:cs typeface="Arial"/>
              </a:rPr>
              <a:t>Address of Resident</a:t>
            </a:r>
          </a:p>
          <a:p>
            <a:pPr marL="0" indent="0">
              <a:buNone/>
            </a:pPr>
            <a:endParaRPr lang="en-US" sz="1400">
              <a:latin typeface="Perpetua"/>
              <a:cs typeface="Arial" panose="020B0604020202020204" pitchFamily="34" charset="0"/>
            </a:endParaRPr>
          </a:p>
          <a:p>
            <a:pPr marL="0" indent="0">
              <a:buNone/>
            </a:pPr>
            <a:endParaRPr lang="en-US" sz="1400">
              <a:latin typeface="Perpetua"/>
              <a:cs typeface="Arial" panose="020B0604020202020204" pitchFamily="34" charset="0"/>
            </a:endParaRPr>
          </a:p>
          <a:p>
            <a:pPr marL="0" indent="0">
              <a:buNone/>
            </a:pPr>
            <a:r>
              <a:rPr lang="en-US" sz="1400">
                <a:highlight>
                  <a:srgbClr val="FFFF00"/>
                </a:highlight>
                <a:latin typeface="Perpetua"/>
                <a:cs typeface="Arial"/>
              </a:rPr>
              <a:t>Dear Name of Resident, </a:t>
            </a:r>
          </a:p>
          <a:p>
            <a:pPr marL="0" indent="0">
              <a:buNone/>
            </a:pPr>
            <a:endParaRPr lang="en-US" sz="1400">
              <a:latin typeface="Perpetua"/>
              <a:cs typeface="Arial" panose="020B0604020202020204" pitchFamily="34" charset="0"/>
            </a:endParaRPr>
          </a:p>
          <a:p>
            <a:pPr marL="0" indent="0">
              <a:lnSpc>
                <a:spcPct val="270000"/>
              </a:lnSpc>
              <a:buNone/>
            </a:pPr>
            <a:r>
              <a:rPr lang="en-US" altLang="en-US" sz="1400">
                <a:latin typeface="Perpetua"/>
                <a:cs typeface="Arial"/>
              </a:rPr>
              <a:t>Thank you for allowing the Urban Soil Co-Lab to collect soil samples on your property. This report includes the results of the samples we collected and analyzed. With this letter, we hope to help you understand your results. This packet includes </a:t>
            </a:r>
            <a:r>
              <a:rPr lang="en-US" sz="1400">
                <a:latin typeface="Perpetua"/>
                <a:cs typeface="Arial"/>
              </a:rPr>
              <a:t>as information on how we collected and tested your soil. We have also included resources and best practices from experts to help you understand your options moving forward. </a:t>
            </a:r>
            <a:endParaRPr lang="en-US" sz="1400">
              <a:latin typeface="Perpetua"/>
            </a:endParaRPr>
          </a:p>
          <a:p>
            <a:pPr marL="0" indent="0">
              <a:buNone/>
            </a:pPr>
            <a:endParaRPr lang="en-US" sz="1400">
              <a:latin typeface="Perpetua"/>
              <a:cs typeface="Arial" panose="020B0604020202020204" pitchFamily="34" charset="0"/>
            </a:endParaRPr>
          </a:p>
          <a:p>
            <a:pPr marL="0" indent="0" algn="ctr">
              <a:buNone/>
            </a:pPr>
            <a:r>
              <a:rPr lang="en-US" sz="1400">
                <a:latin typeface="Perpetua"/>
                <a:cs typeface="Arial"/>
              </a:rPr>
              <a:t>We are keeping this report confidential. </a:t>
            </a:r>
          </a:p>
          <a:p>
            <a:pPr marL="0" indent="0" algn="ctr">
              <a:buNone/>
            </a:pPr>
            <a:endParaRPr lang="en-US" sz="1400">
              <a:latin typeface="Perpetua"/>
              <a:cs typeface="Arial" panose="020B0604020202020204" pitchFamily="34" charset="0"/>
            </a:endParaRPr>
          </a:p>
          <a:p>
            <a:pPr marL="0" indent="0">
              <a:buNone/>
            </a:pPr>
            <a:endParaRPr lang="en-US" sz="1400">
              <a:latin typeface="Perpetua"/>
              <a:cs typeface="Arial" panose="020B0604020202020204" pitchFamily="34" charset="0"/>
            </a:endParaRPr>
          </a:p>
        </p:txBody>
      </p:sp>
      <p:cxnSp>
        <p:nvCxnSpPr>
          <p:cNvPr id="5" name="Straight Connector 4">
            <a:extLst>
              <a:ext uri="{FF2B5EF4-FFF2-40B4-BE49-F238E27FC236}">
                <a16:creationId xmlns:a16="http://schemas.microsoft.com/office/drawing/2014/main" id="{F5E7748B-2DF3-9E07-58CB-1C2C8FD4D075}"/>
              </a:ext>
            </a:extLst>
          </p:cNvPr>
          <p:cNvCxnSpPr>
            <a:cxnSpLocks/>
          </p:cNvCxnSpPr>
          <p:nvPr/>
        </p:nvCxnSpPr>
        <p:spPr>
          <a:xfrm>
            <a:off x="1752805" y="1403281"/>
            <a:ext cx="5400482" cy="21086"/>
          </a:xfrm>
          <a:prstGeom prst="line">
            <a:avLst/>
          </a:prstGeom>
          <a:ln w="571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Date Placeholder 7">
            <a:extLst>
              <a:ext uri="{FF2B5EF4-FFF2-40B4-BE49-F238E27FC236}">
                <a16:creationId xmlns:a16="http://schemas.microsoft.com/office/drawing/2014/main" id="{C485D864-2BAE-4147-9D89-7FC2D2CB5BF2}"/>
              </a:ext>
            </a:extLst>
          </p:cNvPr>
          <p:cNvSpPr>
            <a:spLocks noGrp="1"/>
          </p:cNvSpPr>
          <p:nvPr>
            <p:ph type="dt" sz="half" idx="10"/>
          </p:nvPr>
        </p:nvSpPr>
        <p:spPr/>
        <p:txBody>
          <a:bodyPr/>
          <a:lstStyle/>
          <a:p>
            <a:fld id="{9B458C23-DDA8-418D-810B-C7DBD5581D66}" type="datetime1">
              <a:rPr lang="en-US" smtClean="0"/>
              <a:t>3/2/2026</a:t>
            </a:fld>
            <a:endParaRPr lang="en-US"/>
          </a:p>
        </p:txBody>
      </p:sp>
      <p:sp>
        <p:nvSpPr>
          <p:cNvPr id="9" name="Slide Number Placeholder 8">
            <a:extLst>
              <a:ext uri="{FF2B5EF4-FFF2-40B4-BE49-F238E27FC236}">
                <a16:creationId xmlns:a16="http://schemas.microsoft.com/office/drawing/2014/main" id="{4049A9C4-03BC-CB19-A5D2-B29C6637AB39}"/>
              </a:ext>
            </a:extLst>
          </p:cNvPr>
          <p:cNvSpPr>
            <a:spLocks noGrp="1"/>
          </p:cNvSpPr>
          <p:nvPr>
            <p:ph type="sldNum" sz="quarter" idx="12"/>
          </p:nvPr>
        </p:nvSpPr>
        <p:spPr/>
        <p:txBody>
          <a:bodyPr/>
          <a:lstStyle/>
          <a:p>
            <a:r>
              <a:rPr lang="en-US" sz="1000">
                <a:latin typeface="Aptos"/>
              </a:rPr>
              <a:t>2</a:t>
            </a:r>
          </a:p>
        </p:txBody>
      </p:sp>
      <p:pic>
        <p:nvPicPr>
          <p:cNvPr id="1027" name="Picture 3">
            <a:extLst>
              <a:ext uri="{FF2B5EF4-FFF2-40B4-BE49-F238E27FC236}">
                <a16:creationId xmlns:a16="http://schemas.microsoft.com/office/drawing/2014/main" id="{70B3A7AB-2C08-E916-767A-7C74130E2A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0468" t="20212" r="20128" b="20314"/>
          <a:stretch>
            <a:fillRect/>
          </a:stretch>
        </p:blipFill>
        <p:spPr bwMode="auto">
          <a:xfrm>
            <a:off x="619898" y="772427"/>
            <a:ext cx="953051" cy="958938"/>
          </a:xfrm>
          <a:prstGeom prst="flowChartConnector">
            <a:avLst/>
          </a:prstGeom>
          <a:noFill/>
          <a:ln>
            <a:noFill/>
          </a:ln>
          <a:effectLst/>
          <a:extLst>
            <a:ext uri="{909E8E84-426E-40DD-AFC4-6F175D3DCCD1}">
              <a14:hiddenFill xmlns:a14="http://schemas.microsoft.com/office/drawing/2010/main">
                <a:solidFill>
                  <a:srgbClr val="04617B"/>
                </a:solidFill>
              </a14:hiddenFill>
            </a:ex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sp>
        <p:nvSpPr>
          <p:cNvPr id="4" name="TextBox 3">
            <a:extLst>
              <a:ext uri="{FF2B5EF4-FFF2-40B4-BE49-F238E27FC236}">
                <a16:creationId xmlns:a16="http://schemas.microsoft.com/office/drawing/2014/main" id="{4A07BC64-7087-D19E-535A-E20ABD779CAB}"/>
              </a:ext>
            </a:extLst>
          </p:cNvPr>
          <p:cNvSpPr txBox="1"/>
          <p:nvPr/>
        </p:nvSpPr>
        <p:spPr>
          <a:xfrm>
            <a:off x="1073055" y="7707223"/>
            <a:ext cx="3169073"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400" baseline="0">
                <a:latin typeface="Perpetua"/>
                <a:ea typeface="Segoe UI"/>
                <a:cs typeface="Segoe UI"/>
              </a:rPr>
              <a:t>Marisa Manheim, Ph.D.</a:t>
            </a:r>
            <a:r>
              <a:rPr lang="en-US" sz="1400">
                <a:latin typeface="Perpetua"/>
                <a:ea typeface="Segoe UI"/>
                <a:cs typeface="Segoe UI"/>
              </a:rPr>
              <a:t>​</a:t>
            </a:r>
          </a:p>
          <a:p>
            <a:pPr rtl="0"/>
            <a:r>
              <a:rPr lang="en-US" sz="1400" baseline="0">
                <a:latin typeface="Perpetua"/>
                <a:ea typeface="Segoe UI"/>
                <a:cs typeface="Segoe UI"/>
              </a:rPr>
              <a:t>Department of Environment &amp; Sustainability</a:t>
            </a:r>
            <a:r>
              <a:rPr lang="en-US" sz="1400">
                <a:latin typeface="Perpetua"/>
                <a:ea typeface="Segoe UI"/>
                <a:cs typeface="Segoe UI"/>
              </a:rPr>
              <a:t>​</a:t>
            </a:r>
          </a:p>
          <a:p>
            <a:pPr rtl="0"/>
            <a:r>
              <a:rPr lang="en-US" sz="1400" baseline="0">
                <a:latin typeface="Perpetua"/>
                <a:ea typeface="Segoe UI"/>
                <a:cs typeface="Segoe UI"/>
              </a:rPr>
              <a:t>University at Buffalo</a:t>
            </a:r>
          </a:p>
          <a:p>
            <a:pPr algn="ctr"/>
            <a:endParaRPr lang="en-US" sz="1400">
              <a:latin typeface="Perpetua"/>
            </a:endParaRPr>
          </a:p>
        </p:txBody>
      </p:sp>
      <p:sp>
        <p:nvSpPr>
          <p:cNvPr id="6" name="TextBox 5">
            <a:extLst>
              <a:ext uri="{FF2B5EF4-FFF2-40B4-BE49-F238E27FC236}">
                <a16:creationId xmlns:a16="http://schemas.microsoft.com/office/drawing/2014/main" id="{2326DBA6-F12D-1E8F-B530-525B978A9F19}"/>
              </a:ext>
            </a:extLst>
          </p:cNvPr>
          <p:cNvSpPr txBox="1"/>
          <p:nvPr/>
        </p:nvSpPr>
        <p:spPr>
          <a:xfrm>
            <a:off x="4246932" y="7707222"/>
            <a:ext cx="3169073"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Perpetua"/>
                <a:ea typeface="Segoe UI"/>
                <a:cs typeface="Segoe UI"/>
              </a:rPr>
              <a:t>Lourdes Vera</a:t>
            </a:r>
            <a:r>
              <a:rPr lang="en-US" sz="1400" baseline="0">
                <a:latin typeface="Perpetua"/>
                <a:ea typeface="Segoe UI"/>
                <a:cs typeface="Segoe UI"/>
              </a:rPr>
              <a:t>, Ph.D.</a:t>
            </a:r>
            <a:r>
              <a:rPr lang="en-US" sz="1400">
                <a:latin typeface="Perpetua"/>
                <a:ea typeface="Segoe UI"/>
                <a:cs typeface="Segoe UI"/>
              </a:rPr>
              <a:t>​</a:t>
            </a:r>
          </a:p>
          <a:p>
            <a:pPr rtl="0"/>
            <a:r>
              <a:rPr lang="en-US" sz="1400" baseline="0">
                <a:latin typeface="Perpetua"/>
                <a:ea typeface="Segoe UI"/>
                <a:cs typeface="Segoe UI"/>
              </a:rPr>
              <a:t>Department of Environment &amp; Sustainability</a:t>
            </a:r>
            <a:r>
              <a:rPr lang="en-US" sz="1400">
                <a:latin typeface="Perpetua"/>
                <a:ea typeface="Segoe UI"/>
                <a:cs typeface="Segoe UI"/>
              </a:rPr>
              <a:t>​</a:t>
            </a:r>
          </a:p>
          <a:p>
            <a:r>
              <a:rPr lang="en-US" sz="1400">
                <a:latin typeface="Perpetua"/>
                <a:ea typeface="Segoe UI"/>
                <a:cs typeface="Segoe UI"/>
              </a:rPr>
              <a:t>Department of Criminology &amp; Sociology</a:t>
            </a:r>
          </a:p>
          <a:p>
            <a:r>
              <a:rPr lang="en-US" sz="1400" baseline="0">
                <a:latin typeface="Perpetua"/>
                <a:ea typeface="Segoe UI"/>
                <a:cs typeface="Segoe UI"/>
              </a:rPr>
              <a:t>University at Buffalo</a:t>
            </a:r>
            <a:endParaRPr lang="en-US"/>
          </a:p>
          <a:p>
            <a:pPr algn="ctr"/>
            <a:endParaRPr lang="en-US"/>
          </a:p>
        </p:txBody>
      </p:sp>
    </p:spTree>
    <p:extLst>
      <p:ext uri="{BB962C8B-B14F-4D97-AF65-F5344CB8AC3E}">
        <p14:creationId xmlns:p14="http://schemas.microsoft.com/office/powerpoint/2010/main" val="2191489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11DBF131-F3C6-E07F-00F1-8FD1D951C5C2}"/>
              </a:ext>
            </a:extLst>
          </p:cNvPr>
          <p:cNvSpPr>
            <a:spLocks noGrp="1"/>
          </p:cNvSpPr>
          <p:nvPr>
            <p:ph type="sldNum" sz="quarter" idx="12"/>
          </p:nvPr>
        </p:nvSpPr>
        <p:spPr/>
        <p:txBody>
          <a:bodyPr/>
          <a:lstStyle/>
          <a:p>
            <a:r>
              <a:rPr lang="en-US" sz="1000">
                <a:latin typeface="Aptos"/>
              </a:rPr>
              <a:t>3</a:t>
            </a:r>
          </a:p>
        </p:txBody>
      </p:sp>
      <p:sp>
        <p:nvSpPr>
          <p:cNvPr id="3" name="Subtitle 2">
            <a:extLst>
              <a:ext uri="{FF2B5EF4-FFF2-40B4-BE49-F238E27FC236}">
                <a16:creationId xmlns:a16="http://schemas.microsoft.com/office/drawing/2014/main" id="{49B7658B-E946-FB05-44C7-09FA9A25D2B2}"/>
              </a:ext>
            </a:extLst>
          </p:cNvPr>
          <p:cNvSpPr>
            <a:spLocks noGrp="1"/>
          </p:cNvSpPr>
          <p:nvPr>
            <p:ph type="subTitle" idx="1"/>
          </p:nvPr>
        </p:nvSpPr>
        <p:spPr>
          <a:xfrm>
            <a:off x="582929" y="1390918"/>
            <a:ext cx="6606539" cy="7198899"/>
          </a:xfrm>
        </p:spPr>
        <p:txBody>
          <a:bodyPr vert="horz" lIns="91440" tIns="45720" rIns="91440" bIns="45720" rtlCol="0" anchor="t">
            <a:normAutofit/>
          </a:bodyPr>
          <a:lstStyle/>
          <a:p>
            <a:pPr algn="l">
              <a:lnSpc>
                <a:spcPct val="150000"/>
              </a:lnSpc>
            </a:pPr>
            <a:r>
              <a:rPr lang="en-US" sz="1400">
                <a:latin typeface="Perpetua"/>
                <a:ea typeface="Calibri"/>
                <a:cs typeface="Calibri"/>
              </a:rPr>
              <a:t>4. Your Results: Soil Lead Levels</a:t>
            </a:r>
            <a:endParaRPr lang="en-US"/>
          </a:p>
          <a:p>
            <a:pPr algn="l">
              <a:lnSpc>
                <a:spcPct val="150000"/>
              </a:lnSpc>
            </a:pPr>
            <a:endParaRPr lang="en-US" sz="1400">
              <a:latin typeface="Perpetua"/>
              <a:ea typeface="Calibri" panose="020F0502020204030204" pitchFamily="34" charset="0"/>
              <a:cs typeface="Calibri" panose="020F0502020204030204" pitchFamily="34" charset="0"/>
            </a:endParaRPr>
          </a:p>
          <a:p>
            <a:pPr algn="l">
              <a:lnSpc>
                <a:spcPct val="150000"/>
              </a:lnSpc>
            </a:pPr>
            <a:r>
              <a:rPr lang="en-US" sz="1400">
                <a:latin typeface="Perpetua"/>
                <a:ea typeface="Calibri"/>
                <a:cs typeface="Calibri"/>
              </a:rPr>
              <a:t>5. Where Lead was Found in Your Yard</a:t>
            </a:r>
          </a:p>
          <a:p>
            <a:pPr algn="l">
              <a:lnSpc>
                <a:spcPct val="150000"/>
              </a:lnSpc>
            </a:pPr>
            <a:endParaRPr lang="en-US" sz="1400">
              <a:latin typeface="Perpetua"/>
              <a:ea typeface="Calibri" panose="020F0502020204030204" pitchFamily="34" charset="0"/>
              <a:cs typeface="Calibri" panose="020F0502020204030204" pitchFamily="34" charset="0"/>
            </a:endParaRPr>
          </a:p>
          <a:p>
            <a:pPr algn="l">
              <a:lnSpc>
                <a:spcPct val="150000"/>
              </a:lnSpc>
            </a:pPr>
            <a:r>
              <a:rPr lang="en-US" sz="1400">
                <a:latin typeface="Perpetua"/>
                <a:ea typeface="Calibri"/>
                <a:cs typeface="Calibri"/>
              </a:rPr>
              <a:t>6. How We Collected Samples</a:t>
            </a:r>
          </a:p>
          <a:p>
            <a:pPr algn="l">
              <a:lnSpc>
                <a:spcPct val="150000"/>
              </a:lnSpc>
            </a:pPr>
            <a:endParaRPr lang="en-US" sz="1400">
              <a:latin typeface="Perpetua"/>
              <a:ea typeface="Calibri" panose="020F0502020204030204" pitchFamily="34" charset="0"/>
              <a:cs typeface="Calibri" panose="020F0502020204030204" pitchFamily="34" charset="0"/>
            </a:endParaRPr>
          </a:p>
          <a:p>
            <a:pPr algn="l">
              <a:lnSpc>
                <a:spcPct val="150000"/>
              </a:lnSpc>
            </a:pPr>
            <a:r>
              <a:rPr lang="en-US" sz="1400">
                <a:latin typeface="Perpetua"/>
                <a:ea typeface="Calibri"/>
                <a:cs typeface="Calibri"/>
              </a:rPr>
              <a:t>7. How XRF Works</a:t>
            </a:r>
          </a:p>
          <a:p>
            <a:pPr algn="l">
              <a:lnSpc>
                <a:spcPct val="150000"/>
              </a:lnSpc>
            </a:pPr>
            <a:endParaRPr lang="en-US" sz="1400">
              <a:latin typeface="Perpetua"/>
              <a:ea typeface="Calibri" panose="020F0502020204030204" pitchFamily="34" charset="0"/>
              <a:cs typeface="Calibri" panose="020F0502020204030204" pitchFamily="34" charset="0"/>
            </a:endParaRPr>
          </a:p>
          <a:p>
            <a:pPr algn="l">
              <a:lnSpc>
                <a:spcPct val="150000"/>
              </a:lnSpc>
            </a:pPr>
            <a:r>
              <a:rPr lang="en-US" sz="1400">
                <a:latin typeface="Perpetua"/>
                <a:ea typeface="Calibri"/>
                <a:cs typeface="Calibri"/>
              </a:rPr>
              <a:t>8. Where Does Soil Lead Come From?</a:t>
            </a:r>
          </a:p>
          <a:p>
            <a:pPr algn="l">
              <a:lnSpc>
                <a:spcPct val="150000"/>
              </a:lnSpc>
            </a:pPr>
            <a:endParaRPr lang="en-US" sz="1400">
              <a:latin typeface="Perpetua"/>
              <a:ea typeface="Calibri" panose="020F0502020204030204" pitchFamily="34" charset="0"/>
              <a:cs typeface="Calibri" panose="020F0502020204030204" pitchFamily="34" charset="0"/>
            </a:endParaRPr>
          </a:p>
          <a:p>
            <a:pPr algn="l">
              <a:lnSpc>
                <a:spcPct val="150000"/>
              </a:lnSpc>
            </a:pPr>
            <a:r>
              <a:rPr lang="en-US" sz="1400" dirty="0">
                <a:latin typeface="Perpetua"/>
                <a:ea typeface="Calibri"/>
                <a:cs typeface="Calibri"/>
              </a:rPr>
              <a:t>9. </a:t>
            </a:r>
            <a:r>
              <a:rPr lang="en-US" sz="1400">
                <a:latin typeface="Perpetua"/>
                <a:ea typeface="Calibri"/>
                <a:cs typeface="Calibri"/>
              </a:rPr>
              <a:t>What Your Results Mean</a:t>
            </a:r>
          </a:p>
          <a:p>
            <a:pPr algn="l">
              <a:lnSpc>
                <a:spcPct val="150000"/>
              </a:lnSpc>
            </a:pPr>
            <a:endParaRPr lang="en-US" sz="1400">
              <a:latin typeface="Perpetua"/>
              <a:ea typeface="Calibri" panose="020F0502020204030204" pitchFamily="34" charset="0"/>
              <a:cs typeface="Calibri" panose="020F0502020204030204" pitchFamily="34" charset="0"/>
            </a:endParaRPr>
          </a:p>
          <a:p>
            <a:pPr algn="l">
              <a:lnSpc>
                <a:spcPct val="150000"/>
              </a:lnSpc>
            </a:pPr>
            <a:r>
              <a:rPr lang="en-US" sz="1400">
                <a:latin typeface="Perpetua"/>
                <a:ea typeface="Calibri"/>
                <a:cs typeface="Calibri"/>
              </a:rPr>
              <a:t>10. Reducing Exposure to Soil Lead</a:t>
            </a:r>
          </a:p>
          <a:p>
            <a:pPr algn="l">
              <a:lnSpc>
                <a:spcPct val="150000"/>
              </a:lnSpc>
            </a:pPr>
            <a:endParaRPr lang="en-US" sz="1400">
              <a:latin typeface="Perpetua"/>
              <a:ea typeface="Calibri" panose="020F0502020204030204" pitchFamily="34" charset="0"/>
              <a:cs typeface="Calibri" panose="020F0502020204030204" pitchFamily="34" charset="0"/>
            </a:endParaRPr>
          </a:p>
          <a:p>
            <a:pPr algn="l">
              <a:lnSpc>
                <a:spcPct val="150000"/>
              </a:lnSpc>
            </a:pPr>
            <a:r>
              <a:rPr lang="en-US" sz="1400" dirty="0">
                <a:latin typeface="Perpetua"/>
                <a:ea typeface="Calibri"/>
                <a:cs typeface="Calibri"/>
              </a:rPr>
              <a:t>11. </a:t>
            </a:r>
            <a:r>
              <a:rPr lang="en-US" sz="1400">
                <a:latin typeface="Perpetua"/>
                <a:ea typeface="Calibri"/>
                <a:cs typeface="Calibri"/>
              </a:rPr>
              <a:t>References Cited in this Document </a:t>
            </a:r>
            <a:endParaRPr lang="en-US" sz="1400">
              <a:latin typeface="Perpetua"/>
              <a:ea typeface="Calibri" panose="020F0502020204030204" pitchFamily="34" charset="0"/>
              <a:cs typeface="Calibri" panose="020F0502020204030204" pitchFamily="34" charset="0"/>
            </a:endParaRPr>
          </a:p>
        </p:txBody>
      </p:sp>
      <p:sp>
        <p:nvSpPr>
          <p:cNvPr id="8" name="Date Placeholder 7">
            <a:extLst>
              <a:ext uri="{FF2B5EF4-FFF2-40B4-BE49-F238E27FC236}">
                <a16:creationId xmlns:a16="http://schemas.microsoft.com/office/drawing/2014/main" id="{CE92252C-1BF6-08AF-8CE1-C29C71DE7E13}"/>
              </a:ext>
            </a:extLst>
          </p:cNvPr>
          <p:cNvSpPr>
            <a:spLocks noGrp="1"/>
          </p:cNvSpPr>
          <p:nvPr>
            <p:ph type="dt" sz="half" idx="10"/>
          </p:nvPr>
        </p:nvSpPr>
        <p:spPr/>
        <p:txBody>
          <a:bodyPr/>
          <a:lstStyle/>
          <a:p>
            <a:fld id="{5A4B267A-6481-4F0E-9044-07BB7B4F2B48}" type="datetime1">
              <a:rPr lang="en-US" smtClean="0"/>
              <a:t>3/2/2026</a:t>
            </a:fld>
            <a:endParaRPr lang="en-US"/>
          </a:p>
        </p:txBody>
      </p:sp>
      <p:sp>
        <p:nvSpPr>
          <p:cNvPr id="10" name="Title 1">
            <a:extLst>
              <a:ext uri="{FF2B5EF4-FFF2-40B4-BE49-F238E27FC236}">
                <a16:creationId xmlns:a16="http://schemas.microsoft.com/office/drawing/2014/main" id="{3C763841-E094-E5C1-0601-6071F01F2AEF}"/>
              </a:ext>
            </a:extLst>
          </p:cNvPr>
          <p:cNvSpPr txBox="1">
            <a:spLocks/>
          </p:cNvSpPr>
          <p:nvPr/>
        </p:nvSpPr>
        <p:spPr>
          <a:xfrm>
            <a:off x="1651868" y="391240"/>
            <a:ext cx="4847600" cy="364862"/>
          </a:xfrm>
          <a:prstGeom prst="rect">
            <a:avLst/>
          </a:prstGeom>
        </p:spPr>
        <p:txBody>
          <a:bodyPr vert="horz" lIns="91440" tIns="45720" rIns="91440" bIns="45720" rtlCol="0" anchor="b">
            <a:normAutofit/>
          </a:bodyPr>
          <a:lstStyle>
            <a:lvl1pPr algn="ctr" defTabSz="777240" rtl="0" eaLnBrk="1" latinLnBrk="0" hangingPunct="1">
              <a:lnSpc>
                <a:spcPct val="90000"/>
              </a:lnSpc>
              <a:spcBef>
                <a:spcPct val="0"/>
              </a:spcBef>
              <a:buNone/>
              <a:defRPr sz="5100" kern="1200">
                <a:solidFill>
                  <a:schemeClr val="tx1"/>
                </a:solidFill>
                <a:latin typeface="+mj-lt"/>
                <a:ea typeface="+mj-ea"/>
                <a:cs typeface="+mj-cs"/>
              </a:defRPr>
            </a:lvl1pPr>
          </a:lstStyle>
          <a:p>
            <a:pPr algn="l"/>
            <a:r>
              <a:rPr lang="en-US" sz="1800" b="1">
                <a:latin typeface="Arial Black"/>
                <a:cs typeface="Arial"/>
              </a:rPr>
              <a:t>Table of Contents</a:t>
            </a:r>
            <a:endParaRPr lang="en-US"/>
          </a:p>
        </p:txBody>
      </p:sp>
      <p:cxnSp>
        <p:nvCxnSpPr>
          <p:cNvPr id="12" name="Straight Connector 11">
            <a:extLst>
              <a:ext uri="{FF2B5EF4-FFF2-40B4-BE49-F238E27FC236}">
                <a16:creationId xmlns:a16="http://schemas.microsoft.com/office/drawing/2014/main" id="{1CBB9B26-C6BB-2D53-3A36-A1A950B5E3DD}"/>
              </a:ext>
            </a:extLst>
          </p:cNvPr>
          <p:cNvCxnSpPr>
            <a:cxnSpLocks/>
          </p:cNvCxnSpPr>
          <p:nvPr/>
        </p:nvCxnSpPr>
        <p:spPr>
          <a:xfrm>
            <a:off x="1752805" y="833938"/>
            <a:ext cx="5400482" cy="21086"/>
          </a:xfrm>
          <a:prstGeom prst="line">
            <a:avLst/>
          </a:prstGeom>
          <a:ln w="571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4" name="Picture 3" descr="A logo with a city in the background&#10;&#10;AI-generated content may be incorrect.">
            <a:extLst>
              <a:ext uri="{FF2B5EF4-FFF2-40B4-BE49-F238E27FC236}">
                <a16:creationId xmlns:a16="http://schemas.microsoft.com/office/drawing/2014/main" id="{651CD8A0-07DC-15C7-12FF-48586F5C92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0468" t="20212" r="20128" b="20314"/>
          <a:stretch>
            <a:fillRect/>
          </a:stretch>
        </p:blipFill>
        <p:spPr bwMode="auto">
          <a:xfrm>
            <a:off x="619898" y="203084"/>
            <a:ext cx="953051" cy="958938"/>
          </a:xfrm>
          <a:prstGeom prst="flowChartConnector">
            <a:avLst/>
          </a:prstGeom>
          <a:noFill/>
          <a:ln>
            <a:noFill/>
          </a:ln>
          <a:effectLst/>
          <a:extLst>
            <a:ext uri="{909E8E84-426E-40DD-AFC4-6F175D3DCCD1}">
              <a14:hiddenFill xmlns:a14="http://schemas.microsoft.com/office/drawing/2010/main">
                <a:solidFill>
                  <a:srgbClr val="04617B"/>
                </a:solidFill>
              </a14:hiddenFill>
            </a:ex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spTree>
    <p:extLst>
      <p:ext uri="{BB962C8B-B14F-4D97-AF65-F5344CB8AC3E}">
        <p14:creationId xmlns:p14="http://schemas.microsoft.com/office/powerpoint/2010/main" val="2644390905"/>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05D50-F5ED-F098-60CD-7C5C988CD22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5560BE-110C-16A9-F3BB-C249B3821B4D}"/>
              </a:ext>
            </a:extLst>
          </p:cNvPr>
          <p:cNvSpPr>
            <a:spLocks noGrp="1"/>
          </p:cNvSpPr>
          <p:nvPr>
            <p:ph idx="1"/>
          </p:nvPr>
        </p:nvSpPr>
        <p:spPr>
          <a:xfrm>
            <a:off x="534353" y="1339704"/>
            <a:ext cx="6703695" cy="7719842"/>
          </a:xfrm>
        </p:spPr>
        <p:txBody>
          <a:bodyPr vert="horz" lIns="91440" tIns="45720" rIns="91440" bIns="45720" rtlCol="0" anchor="t">
            <a:normAutofit/>
          </a:bodyPr>
          <a:lstStyle/>
          <a:p>
            <a:pPr marL="0" indent="0">
              <a:buNone/>
            </a:pPr>
            <a:r>
              <a:rPr lang="en-US" sz="1400">
                <a:highlight>
                  <a:srgbClr val="FFFF00"/>
                </a:highlight>
                <a:latin typeface="Perpetua"/>
                <a:ea typeface="Calibri"/>
                <a:cs typeface="Calibri"/>
              </a:rPr>
              <a:t>Table With:</a:t>
            </a:r>
            <a:br>
              <a:rPr lang="en-US" sz="1400">
                <a:highlight>
                  <a:srgbClr val="FFFF00"/>
                </a:highlight>
                <a:latin typeface="Perpetua"/>
                <a:ea typeface="Calibri" panose="020F0502020204030204" pitchFamily="34" charset="0"/>
                <a:cs typeface="Calibri" panose="020F0502020204030204" pitchFamily="34" charset="0"/>
              </a:rPr>
            </a:br>
            <a:r>
              <a:rPr lang="en-US" sz="1400">
                <a:highlight>
                  <a:srgbClr val="FFFF00"/>
                </a:highlight>
                <a:latin typeface="Perpetua"/>
                <a:ea typeface="Calibri"/>
                <a:cs typeface="Calibri"/>
              </a:rPr>
              <a:t>Location (front yard, backyard, dripline)</a:t>
            </a:r>
          </a:p>
          <a:p>
            <a:pPr marL="0" indent="0">
              <a:buNone/>
            </a:pPr>
            <a:r>
              <a:rPr lang="en-US" sz="1400">
                <a:highlight>
                  <a:srgbClr val="FFFF00"/>
                </a:highlight>
                <a:latin typeface="Perpetua"/>
                <a:ea typeface="Calibri"/>
                <a:cs typeface="Calibri"/>
              </a:rPr>
              <a:t>Average Lead concentration (ppm)</a:t>
            </a:r>
          </a:p>
          <a:p>
            <a:pPr marL="0" indent="0">
              <a:buNone/>
            </a:pPr>
            <a:r>
              <a:rPr lang="en-US" sz="1400">
                <a:highlight>
                  <a:srgbClr val="FFFF00"/>
                </a:highlight>
                <a:latin typeface="Perpetua"/>
                <a:ea typeface="Calibri"/>
                <a:cs typeface="Calibri"/>
              </a:rPr>
              <a:t>EPA guideline for comparison (200 ppm for play areas)</a:t>
            </a:r>
          </a:p>
          <a:p>
            <a:pPr marL="0" indent="0">
              <a:buNone/>
            </a:pPr>
            <a:r>
              <a:rPr lang="en-US" sz="1400">
                <a:highlight>
                  <a:srgbClr val="FFFF00"/>
                </a:highlight>
                <a:latin typeface="Perpetua"/>
                <a:ea typeface="Calibri"/>
                <a:cs typeface="Calibri"/>
              </a:rPr>
              <a:t>DEC guidelines</a:t>
            </a:r>
          </a:p>
          <a:p>
            <a:pPr marL="0" indent="0">
              <a:buNone/>
            </a:pPr>
            <a:r>
              <a:rPr lang="en-US" sz="1400">
                <a:highlight>
                  <a:srgbClr val="FFFF00"/>
                </a:highlight>
                <a:latin typeface="Perpetua"/>
                <a:ea typeface="Calibri"/>
                <a:cs typeface="Calibri"/>
              </a:rPr>
              <a:t>Use color coding</a:t>
            </a:r>
          </a:p>
        </p:txBody>
      </p:sp>
      <p:sp>
        <p:nvSpPr>
          <p:cNvPr id="9" name="Date Placeholder 8">
            <a:extLst>
              <a:ext uri="{FF2B5EF4-FFF2-40B4-BE49-F238E27FC236}">
                <a16:creationId xmlns:a16="http://schemas.microsoft.com/office/drawing/2014/main" id="{EB2D9393-BFBD-BEF2-108C-049274C2BD12}"/>
              </a:ext>
            </a:extLst>
          </p:cNvPr>
          <p:cNvSpPr>
            <a:spLocks noGrp="1"/>
          </p:cNvSpPr>
          <p:nvPr>
            <p:ph type="dt" sz="half" idx="10"/>
          </p:nvPr>
        </p:nvSpPr>
        <p:spPr/>
        <p:txBody>
          <a:bodyPr/>
          <a:lstStyle/>
          <a:p>
            <a:fld id="{002D99DD-8857-4184-A278-3A7D828E7638}" type="datetime1">
              <a:rPr lang="en-US" smtClean="0"/>
              <a:t>3/2/2026</a:t>
            </a:fld>
            <a:endParaRPr lang="en-US"/>
          </a:p>
        </p:txBody>
      </p:sp>
      <p:sp>
        <p:nvSpPr>
          <p:cNvPr id="10" name="Slide Number Placeholder 9">
            <a:extLst>
              <a:ext uri="{FF2B5EF4-FFF2-40B4-BE49-F238E27FC236}">
                <a16:creationId xmlns:a16="http://schemas.microsoft.com/office/drawing/2014/main" id="{8558B679-A7CF-2249-2865-90C611E8A8C5}"/>
              </a:ext>
            </a:extLst>
          </p:cNvPr>
          <p:cNvSpPr>
            <a:spLocks noGrp="1"/>
          </p:cNvSpPr>
          <p:nvPr>
            <p:ph type="sldNum" sz="quarter" idx="12"/>
          </p:nvPr>
        </p:nvSpPr>
        <p:spPr/>
        <p:txBody>
          <a:bodyPr/>
          <a:lstStyle/>
          <a:p>
            <a:fld id="{AF85498A-A7D2-4202-8B58-6C83C98E0B39}" type="slidenum">
              <a:rPr lang="en-US" sz="1000" dirty="0" smtClean="0">
                <a:latin typeface="Aptos"/>
              </a:rPr>
              <a:t>4</a:t>
            </a:fld>
            <a:endParaRPr lang="en-US" sz="1000">
              <a:latin typeface="Aptos"/>
            </a:endParaRPr>
          </a:p>
        </p:txBody>
      </p:sp>
      <p:sp>
        <p:nvSpPr>
          <p:cNvPr id="19" name="Title 1">
            <a:extLst>
              <a:ext uri="{FF2B5EF4-FFF2-40B4-BE49-F238E27FC236}">
                <a16:creationId xmlns:a16="http://schemas.microsoft.com/office/drawing/2014/main" id="{E39B0794-C92B-94E5-E994-35C20CE8AD41}"/>
              </a:ext>
            </a:extLst>
          </p:cNvPr>
          <p:cNvSpPr>
            <a:spLocks noGrp="1"/>
          </p:cNvSpPr>
          <p:nvPr>
            <p:ph type="title"/>
          </p:nvPr>
        </p:nvSpPr>
        <p:spPr>
          <a:xfrm>
            <a:off x="-601221" y="-56088"/>
            <a:ext cx="6703695" cy="1319039"/>
          </a:xfrm>
        </p:spPr>
        <p:txBody>
          <a:bodyPr>
            <a:normAutofit/>
          </a:bodyPr>
          <a:lstStyle/>
          <a:p>
            <a:pPr algn="ctr"/>
            <a:r>
              <a:rPr lang="en-US" sz="1800" b="1">
                <a:latin typeface="Arial Black"/>
                <a:cs typeface="Arial"/>
              </a:rPr>
              <a:t>            Your Results: Soil Lead Levels</a:t>
            </a:r>
            <a:endParaRPr lang="en-US" sz="3700">
              <a:latin typeface="Arial Black"/>
            </a:endParaRPr>
          </a:p>
        </p:txBody>
      </p:sp>
      <p:cxnSp>
        <p:nvCxnSpPr>
          <p:cNvPr id="21" name="Straight Connector 20">
            <a:extLst>
              <a:ext uri="{FF2B5EF4-FFF2-40B4-BE49-F238E27FC236}">
                <a16:creationId xmlns:a16="http://schemas.microsoft.com/office/drawing/2014/main" id="{F450526F-C160-FE23-F3DC-69B5A5324ED2}"/>
              </a:ext>
            </a:extLst>
          </p:cNvPr>
          <p:cNvCxnSpPr>
            <a:cxnSpLocks/>
          </p:cNvCxnSpPr>
          <p:nvPr/>
        </p:nvCxnSpPr>
        <p:spPr>
          <a:xfrm>
            <a:off x="1355811" y="834704"/>
            <a:ext cx="5400482" cy="21086"/>
          </a:xfrm>
          <a:prstGeom prst="line">
            <a:avLst/>
          </a:prstGeom>
          <a:ln w="571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23" name="Picture 3" descr="A logo with a city skyline in the background&#10;&#10;AI-generated content may be incorrect.">
            <a:extLst>
              <a:ext uri="{FF2B5EF4-FFF2-40B4-BE49-F238E27FC236}">
                <a16:creationId xmlns:a16="http://schemas.microsoft.com/office/drawing/2014/main" id="{9996A947-7E3A-5BB2-667F-81EFCDFE19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0468" t="20212" r="20128" b="20314"/>
          <a:stretch>
            <a:fillRect/>
          </a:stretch>
        </p:blipFill>
        <p:spPr bwMode="auto">
          <a:xfrm>
            <a:off x="222904" y="203850"/>
            <a:ext cx="953051" cy="958938"/>
          </a:xfrm>
          <a:prstGeom prst="flowChartConnector">
            <a:avLst/>
          </a:prstGeom>
          <a:noFill/>
          <a:ln>
            <a:noFill/>
          </a:ln>
          <a:effectLst/>
          <a:extLst>
            <a:ext uri="{909E8E84-426E-40DD-AFC4-6F175D3DCCD1}">
              <a14:hiddenFill xmlns:a14="http://schemas.microsoft.com/office/drawing/2010/main">
                <a:solidFill>
                  <a:srgbClr val="04617B"/>
                </a:solidFill>
              </a14:hiddenFill>
            </a:ex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spTree>
    <p:extLst>
      <p:ext uri="{BB962C8B-B14F-4D97-AF65-F5344CB8AC3E}">
        <p14:creationId xmlns:p14="http://schemas.microsoft.com/office/powerpoint/2010/main" val="2461842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E7D82-9760-CA69-516C-16F2F644678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182012-AB61-73AD-5FC4-712D7D89D77D}"/>
              </a:ext>
            </a:extLst>
          </p:cNvPr>
          <p:cNvSpPr>
            <a:spLocks noGrp="1"/>
          </p:cNvSpPr>
          <p:nvPr>
            <p:ph idx="1"/>
          </p:nvPr>
        </p:nvSpPr>
        <p:spPr>
          <a:xfrm>
            <a:off x="534352" y="1485754"/>
            <a:ext cx="6703695" cy="7719842"/>
          </a:xfrm>
        </p:spPr>
        <p:txBody>
          <a:bodyPr vert="horz" lIns="91440" tIns="45720" rIns="91440" bIns="45720" rtlCol="0" anchor="t">
            <a:normAutofit/>
          </a:bodyPr>
          <a:lstStyle/>
          <a:p>
            <a:pPr marL="0" indent="0">
              <a:buNone/>
            </a:pPr>
            <a:r>
              <a:rPr lang="en-US" sz="1400">
                <a:highlight>
                  <a:srgbClr val="FFFF00"/>
                </a:highlight>
                <a:latin typeface="Perpetua"/>
                <a:ea typeface="Calibri"/>
                <a:cs typeface="Calibri"/>
              </a:rPr>
              <a:t>Visual map of property with color-coded zones</a:t>
            </a:r>
          </a:p>
          <a:p>
            <a:pPr marL="0" indent="0">
              <a:buNone/>
            </a:pPr>
            <a:r>
              <a:rPr lang="en-US" sz="1400">
                <a:highlight>
                  <a:srgbClr val="FFFF00"/>
                </a:highlight>
                <a:latin typeface="Perpetua"/>
                <a:ea typeface="Calibri"/>
                <a:cs typeface="Calibri"/>
              </a:rPr>
              <a:t>Highlight hotspots</a:t>
            </a:r>
          </a:p>
        </p:txBody>
      </p:sp>
      <p:sp>
        <p:nvSpPr>
          <p:cNvPr id="8" name="Control 2">
            <a:extLst>
              <a:ext uri="{FF2B5EF4-FFF2-40B4-BE49-F238E27FC236}">
                <a16:creationId xmlns:a16="http://schemas.microsoft.com/office/drawing/2014/main" id="{44088F50-4771-A236-F31A-8A3D2E47205E}"/>
              </a:ext>
            </a:extLst>
          </p:cNvPr>
          <p:cNvSpPr>
            <a:spLocks noChangeArrowheads="1" noChangeShapeType="1"/>
          </p:cNvSpPr>
          <p:nvPr/>
        </p:nvSpPr>
        <p:spPr bwMode="auto">
          <a:xfrm>
            <a:off x="9702272" y="15380678"/>
            <a:ext cx="1946275" cy="1341438"/>
          </a:xfrm>
          <a:prstGeom prst="rect">
            <a:avLst/>
          </a:prstGeom>
          <a:noFill/>
          <a:ln>
            <a:noFill/>
          </a:ln>
          <a:effectLst/>
          <a:extLst>
            <a:ext uri="{91240B29-F687-4F45-9708-019B960494DF}">
              <a14:hiddenLine xmlns:a14="http://schemas.microsoft.com/office/drawing/2010/main" w="25400">
                <a:no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0" tIns="0" rIns="0" bIns="0" numCol="1" anchor="t" anchorCtr="0" compatLnSpc="1">
            <a:prstTxWarp prst="textNoShape">
              <a:avLst/>
            </a:prstTxWarp>
          </a:bodyPr>
          <a:lstStyle/>
          <a:p>
            <a:endParaRPr lang="en-US"/>
          </a:p>
        </p:txBody>
      </p:sp>
      <p:sp>
        <p:nvSpPr>
          <p:cNvPr id="10" name="Date Placeholder 9">
            <a:extLst>
              <a:ext uri="{FF2B5EF4-FFF2-40B4-BE49-F238E27FC236}">
                <a16:creationId xmlns:a16="http://schemas.microsoft.com/office/drawing/2014/main" id="{370626A5-205F-111B-7ACB-341668573EA6}"/>
              </a:ext>
            </a:extLst>
          </p:cNvPr>
          <p:cNvSpPr>
            <a:spLocks noGrp="1"/>
          </p:cNvSpPr>
          <p:nvPr>
            <p:ph type="dt" sz="half" idx="10"/>
          </p:nvPr>
        </p:nvSpPr>
        <p:spPr/>
        <p:txBody>
          <a:bodyPr/>
          <a:lstStyle/>
          <a:p>
            <a:fld id="{60CAFBF7-0BE5-43DC-9598-022A59EF3BC8}" type="datetime1">
              <a:rPr lang="en-US" smtClean="0"/>
              <a:t>3/2/2026</a:t>
            </a:fld>
            <a:endParaRPr lang="en-US"/>
          </a:p>
        </p:txBody>
      </p:sp>
      <p:sp>
        <p:nvSpPr>
          <p:cNvPr id="11" name="Slide Number Placeholder 10">
            <a:extLst>
              <a:ext uri="{FF2B5EF4-FFF2-40B4-BE49-F238E27FC236}">
                <a16:creationId xmlns:a16="http://schemas.microsoft.com/office/drawing/2014/main" id="{98AB5CD8-BED3-E05C-584D-C4061DB07012}"/>
              </a:ext>
            </a:extLst>
          </p:cNvPr>
          <p:cNvSpPr>
            <a:spLocks noGrp="1"/>
          </p:cNvSpPr>
          <p:nvPr>
            <p:ph type="sldNum" sz="quarter" idx="12"/>
          </p:nvPr>
        </p:nvSpPr>
        <p:spPr/>
        <p:txBody>
          <a:bodyPr/>
          <a:lstStyle/>
          <a:p>
            <a:fld id="{AF85498A-A7D2-4202-8B58-6C83C98E0B39}" type="slidenum">
              <a:rPr lang="en-US" smtClean="0"/>
              <a:t>5</a:t>
            </a:fld>
            <a:endParaRPr lang="en-US"/>
          </a:p>
        </p:txBody>
      </p:sp>
      <p:sp>
        <p:nvSpPr>
          <p:cNvPr id="12" name="Title 1">
            <a:extLst>
              <a:ext uri="{FF2B5EF4-FFF2-40B4-BE49-F238E27FC236}">
                <a16:creationId xmlns:a16="http://schemas.microsoft.com/office/drawing/2014/main" id="{68C012FB-F2F0-5A1F-91EE-9A041DF1C297}"/>
              </a:ext>
            </a:extLst>
          </p:cNvPr>
          <p:cNvSpPr>
            <a:spLocks noGrp="1"/>
          </p:cNvSpPr>
          <p:nvPr>
            <p:ph type="title"/>
          </p:nvPr>
        </p:nvSpPr>
        <p:spPr>
          <a:xfrm>
            <a:off x="1022861" y="-56088"/>
            <a:ext cx="5738737" cy="1319039"/>
          </a:xfrm>
        </p:spPr>
        <p:txBody>
          <a:bodyPr>
            <a:normAutofit/>
          </a:bodyPr>
          <a:lstStyle/>
          <a:p>
            <a:r>
              <a:rPr lang="en-US" sz="1800" b="1">
                <a:latin typeface="Arial Black"/>
                <a:cs typeface="Arial"/>
              </a:rPr>
              <a:t>   Where Lead Was Found in Your Yard</a:t>
            </a:r>
            <a:endParaRPr lang="en-US" err="1"/>
          </a:p>
        </p:txBody>
      </p:sp>
      <p:cxnSp>
        <p:nvCxnSpPr>
          <p:cNvPr id="14" name="Straight Connector 13">
            <a:extLst>
              <a:ext uri="{FF2B5EF4-FFF2-40B4-BE49-F238E27FC236}">
                <a16:creationId xmlns:a16="http://schemas.microsoft.com/office/drawing/2014/main" id="{F2BC476A-B7B8-7283-9DA3-B5948B0B5A65}"/>
              </a:ext>
            </a:extLst>
          </p:cNvPr>
          <p:cNvCxnSpPr>
            <a:cxnSpLocks/>
          </p:cNvCxnSpPr>
          <p:nvPr/>
        </p:nvCxnSpPr>
        <p:spPr>
          <a:xfrm>
            <a:off x="1355811" y="834704"/>
            <a:ext cx="5400482" cy="21086"/>
          </a:xfrm>
          <a:prstGeom prst="line">
            <a:avLst/>
          </a:prstGeom>
          <a:ln w="571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6" name="Picture 3" descr="A logo with a city skyline in the background&#10;&#10;AI-generated content may be incorrect.">
            <a:extLst>
              <a:ext uri="{FF2B5EF4-FFF2-40B4-BE49-F238E27FC236}">
                <a16:creationId xmlns:a16="http://schemas.microsoft.com/office/drawing/2014/main" id="{4422FDE2-0042-73B2-4AEC-286DD5B19F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0468" t="20212" r="20128" b="20314"/>
          <a:stretch>
            <a:fillRect/>
          </a:stretch>
        </p:blipFill>
        <p:spPr bwMode="auto">
          <a:xfrm>
            <a:off x="222904" y="203850"/>
            <a:ext cx="953051" cy="958938"/>
          </a:xfrm>
          <a:prstGeom prst="flowChartConnector">
            <a:avLst/>
          </a:prstGeom>
          <a:noFill/>
          <a:ln>
            <a:noFill/>
          </a:ln>
          <a:effectLst/>
          <a:extLst>
            <a:ext uri="{909E8E84-426E-40DD-AFC4-6F175D3DCCD1}">
              <a14:hiddenFill xmlns:a14="http://schemas.microsoft.com/office/drawing/2010/main">
                <a:solidFill>
                  <a:srgbClr val="04617B"/>
                </a:solidFill>
              </a14:hiddenFill>
            </a:ex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spTree>
    <p:extLst>
      <p:ext uri="{BB962C8B-B14F-4D97-AF65-F5344CB8AC3E}">
        <p14:creationId xmlns:p14="http://schemas.microsoft.com/office/powerpoint/2010/main" val="3768280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93C11-032B-9887-F2A2-C94C80B6BE9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5104B3-A687-70A1-4424-D58BCFFEFB4B}"/>
              </a:ext>
            </a:extLst>
          </p:cNvPr>
          <p:cNvSpPr>
            <a:spLocks noGrp="1"/>
          </p:cNvSpPr>
          <p:nvPr>
            <p:ph idx="1"/>
          </p:nvPr>
        </p:nvSpPr>
        <p:spPr>
          <a:xfrm>
            <a:off x="534352" y="1574654"/>
            <a:ext cx="6703695" cy="7719842"/>
          </a:xfrm>
        </p:spPr>
        <p:txBody>
          <a:bodyPr vert="horz" lIns="91440" tIns="45720" rIns="91440" bIns="45720" rtlCol="0" anchor="t">
            <a:normAutofit/>
          </a:bodyPr>
          <a:lstStyle/>
          <a:p>
            <a:pPr marL="0" indent="0">
              <a:lnSpc>
                <a:spcPct val="150000"/>
              </a:lnSpc>
              <a:buNone/>
            </a:pPr>
            <a:r>
              <a:rPr lang="en-US" sz="1400">
                <a:latin typeface="Perpetua"/>
                <a:ea typeface="Calibri"/>
                <a:cs typeface="Calibri"/>
              </a:rPr>
              <a:t>Our study collects soil samples using </a:t>
            </a:r>
            <a:r>
              <a:rPr lang="en-US" sz="1400" b="1">
                <a:latin typeface="Perpetua"/>
                <a:ea typeface="Calibri"/>
                <a:cs typeface="Calibri"/>
              </a:rPr>
              <a:t>The Pittsburgh Protocol</a:t>
            </a:r>
            <a:r>
              <a:rPr lang="en-US" sz="1400">
                <a:latin typeface="Perpetua"/>
                <a:ea typeface="Calibri"/>
                <a:cs typeface="Calibri"/>
              </a:rPr>
              <a:t>. To do this, we creating a rectangle around the yard, then dividing the rectangle into 10 feet by 10 feet boxes. </a:t>
            </a:r>
            <a:endParaRPr lang="en-US"/>
          </a:p>
          <a:p>
            <a:pPr marL="0" indent="0">
              <a:buNone/>
            </a:pPr>
            <a:endParaRPr lang="en-US" sz="1400">
              <a:latin typeface="Perpetua"/>
              <a:ea typeface="Calibri"/>
              <a:cs typeface="Calibri"/>
            </a:endParaRPr>
          </a:p>
          <a:p>
            <a:pPr marL="0" indent="0">
              <a:buNone/>
            </a:pPr>
            <a:endParaRPr lang="en-US" sz="1400">
              <a:latin typeface="Perpetua"/>
              <a:ea typeface="Calibri"/>
              <a:cs typeface="Calibri"/>
            </a:endParaRPr>
          </a:p>
          <a:p>
            <a:pPr marL="0" indent="0">
              <a:buNone/>
            </a:pPr>
            <a:endParaRPr lang="en-US" sz="1400">
              <a:latin typeface="Perpetua"/>
              <a:ea typeface="Calibri"/>
              <a:cs typeface="Calibri"/>
            </a:endParaRPr>
          </a:p>
          <a:p>
            <a:pPr marL="0" indent="0">
              <a:buNone/>
            </a:pPr>
            <a:endParaRPr lang="en-US" sz="1400">
              <a:latin typeface="Perpetua"/>
              <a:ea typeface="Calibri"/>
              <a:cs typeface="Calibri"/>
            </a:endParaRPr>
          </a:p>
          <a:p>
            <a:pPr marL="0" indent="0">
              <a:buNone/>
            </a:pPr>
            <a:endParaRPr lang="en-US" sz="1400">
              <a:latin typeface="Perpetua"/>
              <a:ea typeface="Calibri"/>
              <a:cs typeface="Calibri"/>
            </a:endParaRPr>
          </a:p>
          <a:p>
            <a:pPr marL="0" indent="0">
              <a:buNone/>
            </a:pPr>
            <a:endParaRPr lang="en-US" sz="1400">
              <a:latin typeface="Perpetua"/>
              <a:ea typeface="Calibri"/>
              <a:cs typeface="Calibri"/>
            </a:endParaRPr>
          </a:p>
          <a:p>
            <a:pPr marL="0" indent="0">
              <a:buNone/>
            </a:pPr>
            <a:endParaRPr lang="en-US" sz="1400">
              <a:latin typeface="Perpetua"/>
              <a:ea typeface="Calibri"/>
              <a:cs typeface="Calibri"/>
            </a:endParaRPr>
          </a:p>
          <a:p>
            <a:pPr marL="0" indent="0">
              <a:buNone/>
            </a:pPr>
            <a:endParaRPr lang="en-US" sz="1400">
              <a:latin typeface="Perpetua"/>
              <a:ea typeface="Calibri"/>
              <a:cs typeface="Calibri"/>
            </a:endParaRPr>
          </a:p>
          <a:p>
            <a:pPr marL="0" indent="0">
              <a:buNone/>
            </a:pPr>
            <a:endParaRPr lang="en-US" sz="1400">
              <a:latin typeface="Perpetua"/>
              <a:ea typeface="Calibri"/>
              <a:cs typeface="Calibri"/>
            </a:endParaRPr>
          </a:p>
          <a:p>
            <a:pPr marL="0" indent="0">
              <a:lnSpc>
                <a:spcPct val="150000"/>
              </a:lnSpc>
              <a:buNone/>
            </a:pPr>
            <a:r>
              <a:rPr lang="en-US" sz="1400">
                <a:latin typeface="Perpetua"/>
                <a:ea typeface="Calibri"/>
                <a:cs typeface="Calibri"/>
              </a:rPr>
              <a:t>We collect 5 soil cores from each of these boxes. Each soil core is ¾ of an inch wide and 5 inches deep. We then combine the 5 soil cores into a single sample. The sample is labeled with the box where it was collected.</a:t>
            </a:r>
          </a:p>
          <a:p>
            <a:pPr marL="0" indent="0">
              <a:buNone/>
            </a:pPr>
            <a:endParaRPr lang="en-US" sz="1400">
              <a:latin typeface="Perpetua"/>
              <a:ea typeface="Calibri"/>
              <a:cs typeface="Calibri"/>
            </a:endParaRPr>
          </a:p>
        </p:txBody>
      </p:sp>
      <p:sp>
        <p:nvSpPr>
          <p:cNvPr id="10" name="Date Placeholder 9">
            <a:extLst>
              <a:ext uri="{FF2B5EF4-FFF2-40B4-BE49-F238E27FC236}">
                <a16:creationId xmlns:a16="http://schemas.microsoft.com/office/drawing/2014/main" id="{B27DDFEF-8D78-4483-EEEE-A005EAAB7ECA}"/>
              </a:ext>
            </a:extLst>
          </p:cNvPr>
          <p:cNvSpPr>
            <a:spLocks noGrp="1"/>
          </p:cNvSpPr>
          <p:nvPr>
            <p:ph type="dt" sz="half" idx="10"/>
          </p:nvPr>
        </p:nvSpPr>
        <p:spPr/>
        <p:txBody>
          <a:bodyPr/>
          <a:lstStyle/>
          <a:p>
            <a:fld id="{9C49C248-45F2-4992-8E2A-3398331695D8}" type="datetime1">
              <a:rPr lang="en-US" smtClean="0"/>
              <a:t>3/2/2026</a:t>
            </a:fld>
            <a:endParaRPr lang="en-US"/>
          </a:p>
        </p:txBody>
      </p:sp>
      <p:sp>
        <p:nvSpPr>
          <p:cNvPr id="11" name="Slide Number Placeholder 10">
            <a:extLst>
              <a:ext uri="{FF2B5EF4-FFF2-40B4-BE49-F238E27FC236}">
                <a16:creationId xmlns:a16="http://schemas.microsoft.com/office/drawing/2014/main" id="{6244754F-85D9-E589-0E8A-E356C1FC7D45}"/>
              </a:ext>
            </a:extLst>
          </p:cNvPr>
          <p:cNvSpPr>
            <a:spLocks noGrp="1"/>
          </p:cNvSpPr>
          <p:nvPr>
            <p:ph type="sldNum" sz="quarter" idx="12"/>
          </p:nvPr>
        </p:nvSpPr>
        <p:spPr/>
        <p:txBody>
          <a:bodyPr/>
          <a:lstStyle/>
          <a:p>
            <a:fld id="{AF85498A-A7D2-4202-8B58-6C83C98E0B39}" type="slidenum">
              <a:rPr lang="en-US" sz="1000" dirty="0" smtClean="0">
                <a:latin typeface="Aptos"/>
              </a:rPr>
              <a:t>6</a:t>
            </a:fld>
            <a:endParaRPr lang="en-US" sz="1000">
              <a:latin typeface="Aptos"/>
            </a:endParaRPr>
          </a:p>
        </p:txBody>
      </p:sp>
      <p:sp>
        <p:nvSpPr>
          <p:cNvPr id="12" name="Title 1">
            <a:extLst>
              <a:ext uri="{FF2B5EF4-FFF2-40B4-BE49-F238E27FC236}">
                <a16:creationId xmlns:a16="http://schemas.microsoft.com/office/drawing/2014/main" id="{11FF2DE9-D10A-A1A1-5F24-33E34E170FFA}"/>
              </a:ext>
            </a:extLst>
          </p:cNvPr>
          <p:cNvSpPr>
            <a:spLocks noGrp="1"/>
          </p:cNvSpPr>
          <p:nvPr>
            <p:ph type="title"/>
          </p:nvPr>
        </p:nvSpPr>
        <p:spPr>
          <a:xfrm>
            <a:off x="-601221" y="-56088"/>
            <a:ext cx="6703695" cy="1319039"/>
          </a:xfrm>
        </p:spPr>
        <p:txBody>
          <a:bodyPr>
            <a:normAutofit/>
          </a:bodyPr>
          <a:lstStyle/>
          <a:p>
            <a:pPr algn="ctr"/>
            <a:r>
              <a:rPr lang="en-US" sz="1800" b="1">
                <a:latin typeface="Arial Black"/>
                <a:cs typeface="Arial"/>
              </a:rPr>
              <a:t>            How We Collected Samples</a:t>
            </a:r>
            <a:endParaRPr lang="en-US"/>
          </a:p>
        </p:txBody>
      </p:sp>
      <p:cxnSp>
        <p:nvCxnSpPr>
          <p:cNvPr id="14" name="Straight Connector 13">
            <a:extLst>
              <a:ext uri="{FF2B5EF4-FFF2-40B4-BE49-F238E27FC236}">
                <a16:creationId xmlns:a16="http://schemas.microsoft.com/office/drawing/2014/main" id="{14C27B6C-2863-498C-B60A-7393D2B5774D}"/>
              </a:ext>
            </a:extLst>
          </p:cNvPr>
          <p:cNvCxnSpPr>
            <a:cxnSpLocks/>
          </p:cNvCxnSpPr>
          <p:nvPr/>
        </p:nvCxnSpPr>
        <p:spPr>
          <a:xfrm>
            <a:off x="1355811" y="834704"/>
            <a:ext cx="5400482" cy="21086"/>
          </a:xfrm>
          <a:prstGeom prst="line">
            <a:avLst/>
          </a:prstGeom>
          <a:ln w="571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6" name="Picture 3" descr="A logo with a city skyline in the background&#10;&#10;AI-generated content may be incorrect.">
            <a:extLst>
              <a:ext uri="{FF2B5EF4-FFF2-40B4-BE49-F238E27FC236}">
                <a16:creationId xmlns:a16="http://schemas.microsoft.com/office/drawing/2014/main" id="{147409F9-5D63-814F-A5FF-D399B35501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0468" t="20212" r="20128" b="20314"/>
          <a:stretch>
            <a:fillRect/>
          </a:stretch>
        </p:blipFill>
        <p:spPr bwMode="auto">
          <a:xfrm>
            <a:off x="222904" y="203850"/>
            <a:ext cx="953051" cy="958938"/>
          </a:xfrm>
          <a:prstGeom prst="flowChartConnector">
            <a:avLst/>
          </a:prstGeom>
          <a:noFill/>
          <a:ln>
            <a:noFill/>
          </a:ln>
          <a:effectLst/>
          <a:extLst>
            <a:ext uri="{909E8E84-426E-40DD-AFC4-6F175D3DCCD1}">
              <a14:hiddenFill xmlns:a14="http://schemas.microsoft.com/office/drawing/2010/main">
                <a:solidFill>
                  <a:srgbClr val="04617B"/>
                </a:solidFill>
              </a14:hiddenFill>
            </a:ex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5" name="Picture 4" descr="A grid of squares with black text&#10;&#10;AI-generated content may be incorrect.">
            <a:extLst>
              <a:ext uri="{FF2B5EF4-FFF2-40B4-BE49-F238E27FC236}">
                <a16:creationId xmlns:a16="http://schemas.microsoft.com/office/drawing/2014/main" id="{9F2717B8-CCAC-E881-E86F-7EFEFF89D2B0}"/>
              </a:ext>
            </a:extLst>
          </p:cNvPr>
          <p:cNvPicPr>
            <a:picLocks noChangeAspect="1"/>
          </p:cNvPicPr>
          <p:nvPr/>
        </p:nvPicPr>
        <p:blipFill>
          <a:blip r:embed="rId5"/>
          <a:srcRect l="70" t="11959" b="254"/>
          <a:stretch>
            <a:fillRect/>
          </a:stretch>
        </p:blipFill>
        <p:spPr>
          <a:xfrm>
            <a:off x="2455833" y="2302055"/>
            <a:ext cx="2145813" cy="1817058"/>
          </a:xfrm>
          <a:prstGeom prst="rect">
            <a:avLst/>
          </a:prstGeom>
        </p:spPr>
      </p:pic>
      <p:pic>
        <p:nvPicPr>
          <p:cNvPr id="9" name="Picture 8" descr="A white square with blue x marks&#10;&#10;AI-generated content may be incorrect.">
            <a:extLst>
              <a:ext uri="{FF2B5EF4-FFF2-40B4-BE49-F238E27FC236}">
                <a16:creationId xmlns:a16="http://schemas.microsoft.com/office/drawing/2014/main" id="{91AD1828-8863-DC2E-5B91-0206524FD42A}"/>
              </a:ext>
            </a:extLst>
          </p:cNvPr>
          <p:cNvPicPr>
            <a:picLocks noChangeAspect="1"/>
          </p:cNvPicPr>
          <p:nvPr/>
        </p:nvPicPr>
        <p:blipFill>
          <a:blip r:embed="rId6"/>
          <a:stretch>
            <a:fillRect/>
          </a:stretch>
        </p:blipFill>
        <p:spPr>
          <a:xfrm>
            <a:off x="2362303" y="5958936"/>
            <a:ext cx="1836921" cy="1930879"/>
          </a:xfrm>
          <a:prstGeom prst="rect">
            <a:avLst/>
          </a:prstGeom>
        </p:spPr>
      </p:pic>
      <p:sp>
        <p:nvSpPr>
          <p:cNvPr id="13" name="TextBox 12">
            <a:extLst>
              <a:ext uri="{FF2B5EF4-FFF2-40B4-BE49-F238E27FC236}">
                <a16:creationId xmlns:a16="http://schemas.microsoft.com/office/drawing/2014/main" id="{0EBA302D-C306-7DD7-0106-330EA9F319D6}"/>
              </a:ext>
            </a:extLst>
          </p:cNvPr>
          <p:cNvSpPr txBox="1"/>
          <p:nvPr/>
        </p:nvSpPr>
        <p:spPr>
          <a:xfrm>
            <a:off x="2362109" y="7788349"/>
            <a:ext cx="202939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i="1">
                <a:latin typeface="Aptos"/>
                <a:cs typeface="Arial"/>
              </a:rPr>
              <a:t>Figure 2: A single box showing the locations where soil cores are taken. The 5 cores are combined to become a single sample.</a:t>
            </a:r>
          </a:p>
        </p:txBody>
      </p:sp>
      <p:sp>
        <p:nvSpPr>
          <p:cNvPr id="15" name="TextBox 14">
            <a:extLst>
              <a:ext uri="{FF2B5EF4-FFF2-40B4-BE49-F238E27FC236}">
                <a16:creationId xmlns:a16="http://schemas.microsoft.com/office/drawing/2014/main" id="{36AAF680-0AB6-217A-C8D5-969432215D75}"/>
              </a:ext>
            </a:extLst>
          </p:cNvPr>
          <p:cNvSpPr txBox="1"/>
          <p:nvPr/>
        </p:nvSpPr>
        <p:spPr>
          <a:xfrm>
            <a:off x="2456381" y="4061258"/>
            <a:ext cx="234577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i="1">
                <a:latin typeface="Aptos"/>
                <a:cs typeface="Arial"/>
              </a:rPr>
              <a:t>Figure 1: A yard is divided into boxes labeled with numbers and letters. </a:t>
            </a:r>
          </a:p>
        </p:txBody>
      </p:sp>
    </p:spTree>
    <p:extLst>
      <p:ext uri="{BB962C8B-B14F-4D97-AF65-F5344CB8AC3E}">
        <p14:creationId xmlns:p14="http://schemas.microsoft.com/office/powerpoint/2010/main" val="3920693786"/>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0ABDC-7100-6E8C-B538-3E8AE88FF7B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53E49A-31A2-7D8F-6F90-7CDBC19CC6D3}"/>
              </a:ext>
            </a:extLst>
          </p:cNvPr>
          <p:cNvSpPr>
            <a:spLocks noGrp="1"/>
          </p:cNvSpPr>
          <p:nvPr>
            <p:ph idx="1"/>
          </p:nvPr>
        </p:nvSpPr>
        <p:spPr>
          <a:xfrm>
            <a:off x="618721" y="1355519"/>
            <a:ext cx="6134211" cy="7719842"/>
          </a:xfrm>
        </p:spPr>
        <p:txBody>
          <a:bodyPr vert="horz" lIns="91440" tIns="45720" rIns="91440" bIns="45720" rtlCol="0" anchor="t">
            <a:noAutofit/>
          </a:bodyPr>
          <a:lstStyle/>
          <a:p>
            <a:pPr marL="0" indent="0">
              <a:lnSpc>
                <a:spcPct val="150000"/>
              </a:lnSpc>
              <a:buNone/>
            </a:pPr>
            <a:r>
              <a:rPr lang="en-US" sz="1400">
                <a:latin typeface="Perpetua"/>
                <a:ea typeface="Calibri"/>
                <a:cs typeface="Arial"/>
              </a:rPr>
              <a:t>We analyzed your soil samples using a portable X-ray fluorescence (XRF) device. This handheld tool uses low-level X-rays to measure the elements present in the soil, including metals such as lead.</a:t>
            </a:r>
            <a:endParaRPr lang="en-US" sz="1400">
              <a:latin typeface="Perpetua"/>
            </a:endParaRPr>
          </a:p>
          <a:p>
            <a:pPr marL="0" indent="0">
              <a:lnSpc>
                <a:spcPct val="150000"/>
              </a:lnSpc>
              <a:buNone/>
            </a:pPr>
            <a:r>
              <a:rPr lang="en-US" sz="1400">
                <a:latin typeface="Perpetua"/>
                <a:ea typeface="Calibri"/>
                <a:cs typeface="Arial"/>
              </a:rPr>
              <a:t>XRF is a well-established method for screening soil for lead. It provides results quickly and at a lower cost than laboratory testing, making it useful for identifying areas where lead levels may be elevated. XRF can detect several metals in soil, and it is particularly effective for screening for lead.</a:t>
            </a:r>
            <a:endParaRPr lang="en-US" sz="1400">
              <a:latin typeface="Perpetua"/>
            </a:endParaRPr>
          </a:p>
          <a:p>
            <a:pPr marL="0" indent="0">
              <a:lnSpc>
                <a:spcPct val="150000"/>
              </a:lnSpc>
              <a:buNone/>
            </a:pPr>
            <a:r>
              <a:rPr lang="en-US" sz="1400">
                <a:latin typeface="Perpetua"/>
                <a:ea typeface="Calibri"/>
                <a:cs typeface="Arial"/>
              </a:rPr>
              <a:t>While XRF results are not identical to laboratory results, studies show that XRF measurements typically provide estimates that are reasonably consistent with lab-based analysis. For this reason, XRF is widely used for soil screening and to help guide decisions about further testing or exposure reduction.</a:t>
            </a:r>
            <a:r>
              <a:rPr lang="en-US" sz="1400" baseline="30000">
                <a:solidFill>
                  <a:srgbClr val="000000"/>
                </a:solidFill>
                <a:latin typeface="Perpetua"/>
                <a:ea typeface="Calibri"/>
                <a:cs typeface="Arial"/>
              </a:rPr>
              <a:t>4</a:t>
            </a:r>
          </a:p>
        </p:txBody>
      </p:sp>
      <p:pic>
        <p:nvPicPr>
          <p:cNvPr id="5124" name="Picture 4">
            <a:extLst>
              <a:ext uri="{FF2B5EF4-FFF2-40B4-BE49-F238E27FC236}">
                <a16:creationId xmlns:a16="http://schemas.microsoft.com/office/drawing/2014/main" id="{70FB975C-D3F5-A25F-4BD8-2E24805181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3212" t="12308" r="16760" b="12063"/>
          <a:stretch>
            <a:fillRect/>
          </a:stretch>
        </p:blipFill>
        <p:spPr bwMode="auto">
          <a:xfrm>
            <a:off x="617831" y="6200394"/>
            <a:ext cx="2267833" cy="285122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F0F15C4-E916-B1BB-1349-6D8642C2F6BF}"/>
              </a:ext>
            </a:extLst>
          </p:cNvPr>
          <p:cNvSpPr txBox="1"/>
          <p:nvPr/>
        </p:nvSpPr>
        <p:spPr>
          <a:xfrm>
            <a:off x="212950" y="9068901"/>
            <a:ext cx="3352032" cy="246221"/>
          </a:xfrm>
          <a:prstGeom prst="rect">
            <a:avLst/>
          </a:prstGeom>
          <a:noFill/>
        </p:spPr>
        <p:txBody>
          <a:bodyPr wrap="square" lIns="91440" tIns="45720" rIns="91440" bIns="45720" rtlCol="0" anchor="t">
            <a:spAutoFit/>
          </a:bodyPr>
          <a:lstStyle/>
          <a:p>
            <a:pPr algn="ctr"/>
            <a:r>
              <a:rPr lang="en-US" sz="1000" i="1">
                <a:latin typeface="Aptos"/>
                <a:cs typeface="Arial"/>
              </a:rPr>
              <a:t>Figure 3: A picture of a portable XRF device</a:t>
            </a:r>
          </a:p>
        </p:txBody>
      </p:sp>
      <p:sp>
        <p:nvSpPr>
          <p:cNvPr id="10" name="Date Placeholder 9">
            <a:extLst>
              <a:ext uri="{FF2B5EF4-FFF2-40B4-BE49-F238E27FC236}">
                <a16:creationId xmlns:a16="http://schemas.microsoft.com/office/drawing/2014/main" id="{75AD45D0-46F9-4CF6-2E1F-8EC2D5FBF55A}"/>
              </a:ext>
            </a:extLst>
          </p:cNvPr>
          <p:cNvSpPr>
            <a:spLocks noGrp="1"/>
          </p:cNvSpPr>
          <p:nvPr>
            <p:ph type="dt" sz="half" idx="10"/>
          </p:nvPr>
        </p:nvSpPr>
        <p:spPr/>
        <p:txBody>
          <a:bodyPr/>
          <a:lstStyle/>
          <a:p>
            <a:fld id="{2EF01E21-5CC5-43F8-9C53-49F093E4376D}" type="datetime1">
              <a:rPr lang="en-US" smtClean="0"/>
              <a:t>3/2/2026</a:t>
            </a:fld>
            <a:endParaRPr lang="en-US"/>
          </a:p>
        </p:txBody>
      </p:sp>
      <p:sp>
        <p:nvSpPr>
          <p:cNvPr id="11" name="Slide Number Placeholder 10">
            <a:extLst>
              <a:ext uri="{FF2B5EF4-FFF2-40B4-BE49-F238E27FC236}">
                <a16:creationId xmlns:a16="http://schemas.microsoft.com/office/drawing/2014/main" id="{F5A58B80-CDE7-12A7-B67C-DBD1AB5E6E89}"/>
              </a:ext>
            </a:extLst>
          </p:cNvPr>
          <p:cNvSpPr>
            <a:spLocks noGrp="1"/>
          </p:cNvSpPr>
          <p:nvPr>
            <p:ph type="sldNum" sz="quarter" idx="12"/>
          </p:nvPr>
        </p:nvSpPr>
        <p:spPr/>
        <p:txBody>
          <a:bodyPr/>
          <a:lstStyle/>
          <a:p>
            <a:fld id="{AF85498A-A7D2-4202-8B58-6C83C98E0B39}" type="slidenum">
              <a:rPr lang="en-US" sz="1000" dirty="0" smtClean="0">
                <a:latin typeface="Aptos"/>
              </a:rPr>
              <a:t>7</a:t>
            </a:fld>
            <a:endParaRPr lang="en-US" sz="1000">
              <a:latin typeface="Aptos"/>
            </a:endParaRPr>
          </a:p>
        </p:txBody>
      </p:sp>
      <p:pic>
        <p:nvPicPr>
          <p:cNvPr id="1026" name="Picture 2" descr="Technology Focus: X-ray Fluorescence (XRF) in Mining">
            <a:extLst>
              <a:ext uri="{FF2B5EF4-FFF2-40B4-BE49-F238E27FC236}">
                <a16:creationId xmlns:a16="http://schemas.microsoft.com/office/drawing/2014/main" id="{C226CA3D-90C5-293D-C743-D756FE427C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4981" y="5188510"/>
            <a:ext cx="3886200" cy="388039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309DAC81-4909-FD3A-30B9-BEA67E402050}"/>
              </a:ext>
            </a:extLst>
          </p:cNvPr>
          <p:cNvSpPr txBox="1"/>
          <p:nvPr/>
        </p:nvSpPr>
        <p:spPr>
          <a:xfrm>
            <a:off x="3433142" y="9068901"/>
            <a:ext cx="3352032" cy="246221"/>
          </a:xfrm>
          <a:prstGeom prst="rect">
            <a:avLst/>
          </a:prstGeom>
          <a:noFill/>
        </p:spPr>
        <p:txBody>
          <a:bodyPr wrap="square" lIns="91440" tIns="45720" rIns="91440" bIns="45720" rtlCol="0" anchor="t">
            <a:spAutoFit/>
          </a:bodyPr>
          <a:lstStyle/>
          <a:p>
            <a:pPr algn="ctr"/>
            <a:r>
              <a:rPr lang="en-US" sz="1000" i="1">
                <a:latin typeface="Aptos"/>
              </a:rPr>
              <a:t>Figure 4: An illustration of how an XRF works</a:t>
            </a:r>
            <a:endParaRPr lang="en-US" sz="1000" i="1" baseline="30000">
              <a:latin typeface="Aptos"/>
            </a:endParaRPr>
          </a:p>
        </p:txBody>
      </p:sp>
      <p:sp>
        <p:nvSpPr>
          <p:cNvPr id="12" name="Title 1">
            <a:extLst>
              <a:ext uri="{FF2B5EF4-FFF2-40B4-BE49-F238E27FC236}">
                <a16:creationId xmlns:a16="http://schemas.microsoft.com/office/drawing/2014/main" id="{30243910-28A9-FE39-BA01-69316B7D1309}"/>
              </a:ext>
            </a:extLst>
          </p:cNvPr>
          <p:cNvSpPr txBox="1">
            <a:spLocks/>
          </p:cNvSpPr>
          <p:nvPr/>
        </p:nvSpPr>
        <p:spPr>
          <a:xfrm>
            <a:off x="-875711" y="-157250"/>
            <a:ext cx="6703695" cy="1319039"/>
          </a:xfrm>
          <a:prstGeom prst="rect">
            <a:avLst/>
          </a:prstGeom>
        </p:spPr>
        <p:txBody>
          <a:bodyPr vert="horz" lIns="91440" tIns="45720" rIns="91440" bIns="45720" rtlCol="0" anchor="ctr">
            <a:normAutofit/>
          </a:bodyPr>
          <a:lstStyle>
            <a:lvl1pPr algn="l" defTabSz="777240" rtl="0" eaLnBrk="1" latinLnBrk="0" hangingPunct="1">
              <a:lnSpc>
                <a:spcPct val="90000"/>
              </a:lnSpc>
              <a:spcBef>
                <a:spcPct val="0"/>
              </a:spcBef>
              <a:buNone/>
              <a:defRPr sz="3740" kern="1200">
                <a:solidFill>
                  <a:schemeClr val="tx1"/>
                </a:solidFill>
                <a:latin typeface="+mj-lt"/>
                <a:ea typeface="+mj-ea"/>
                <a:cs typeface="+mj-cs"/>
              </a:defRPr>
            </a:lvl1pPr>
          </a:lstStyle>
          <a:p>
            <a:pPr algn="ctr"/>
            <a:r>
              <a:rPr lang="en-US" sz="1800" b="1">
                <a:latin typeface="Arial Black"/>
                <a:cs typeface="Arial"/>
              </a:rPr>
              <a:t>How XRF Works</a:t>
            </a:r>
            <a:endParaRPr lang="en-US"/>
          </a:p>
        </p:txBody>
      </p:sp>
      <p:cxnSp>
        <p:nvCxnSpPr>
          <p:cNvPr id="14" name="Straight Connector 13">
            <a:extLst>
              <a:ext uri="{FF2B5EF4-FFF2-40B4-BE49-F238E27FC236}">
                <a16:creationId xmlns:a16="http://schemas.microsoft.com/office/drawing/2014/main" id="{7AA76495-3A47-759E-9B1D-C747C0610906}"/>
              </a:ext>
            </a:extLst>
          </p:cNvPr>
          <p:cNvCxnSpPr>
            <a:cxnSpLocks/>
          </p:cNvCxnSpPr>
          <p:nvPr/>
        </p:nvCxnSpPr>
        <p:spPr>
          <a:xfrm>
            <a:off x="1355811" y="834704"/>
            <a:ext cx="5400482" cy="21086"/>
          </a:xfrm>
          <a:prstGeom prst="line">
            <a:avLst/>
          </a:prstGeom>
          <a:ln w="571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6" name="Picture 3" descr="A logo with a city skyline in the background&#10;&#10;AI-generated content may be incorrect.">
            <a:extLst>
              <a:ext uri="{FF2B5EF4-FFF2-40B4-BE49-F238E27FC236}">
                <a16:creationId xmlns:a16="http://schemas.microsoft.com/office/drawing/2014/main" id="{2BB4E086-B304-406A-F54B-C684166A02D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20468" t="20212" r="20128" b="20314"/>
          <a:stretch>
            <a:fillRect/>
          </a:stretch>
        </p:blipFill>
        <p:spPr bwMode="auto">
          <a:xfrm>
            <a:off x="222904" y="203850"/>
            <a:ext cx="953051" cy="958938"/>
          </a:xfrm>
          <a:prstGeom prst="flowChartConnector">
            <a:avLst/>
          </a:prstGeom>
          <a:noFill/>
          <a:ln>
            <a:noFill/>
          </a:ln>
          <a:effectLst/>
          <a:extLst>
            <a:ext uri="{909E8E84-426E-40DD-AFC4-6F175D3DCCD1}">
              <a14:hiddenFill xmlns:a14="http://schemas.microsoft.com/office/drawing/2010/main">
                <a:solidFill>
                  <a:srgbClr val="04617B"/>
                </a:solidFill>
              </a14:hiddenFill>
            </a:ex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spTree>
    <p:extLst>
      <p:ext uri="{BB962C8B-B14F-4D97-AF65-F5344CB8AC3E}">
        <p14:creationId xmlns:p14="http://schemas.microsoft.com/office/powerpoint/2010/main" val="3055071563"/>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E09BA-6421-9563-166E-C2A6292F0C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6E1BD4-DE96-5412-3A2D-8F5A07442AF6}"/>
              </a:ext>
            </a:extLst>
          </p:cNvPr>
          <p:cNvSpPr>
            <a:spLocks noGrp="1"/>
          </p:cNvSpPr>
          <p:nvPr>
            <p:ph idx="1"/>
          </p:nvPr>
        </p:nvSpPr>
        <p:spPr>
          <a:xfrm>
            <a:off x="534353" y="1339704"/>
            <a:ext cx="6703695" cy="7719842"/>
          </a:xfrm>
        </p:spPr>
        <p:txBody>
          <a:bodyPr vert="horz" lIns="91440" tIns="45720" rIns="91440" bIns="45720" rtlCol="0" anchor="t">
            <a:normAutofit/>
          </a:bodyPr>
          <a:lstStyle/>
          <a:p>
            <a:pPr marL="0" indent="0">
              <a:lnSpc>
                <a:spcPct val="150000"/>
              </a:lnSpc>
              <a:buNone/>
            </a:pPr>
            <a:r>
              <a:rPr lang="en-US" sz="1400">
                <a:latin typeface="Perpetua"/>
                <a:ea typeface="Calibri"/>
                <a:cs typeface="Calibri"/>
              </a:rPr>
              <a:t> </a:t>
            </a:r>
          </a:p>
          <a:p>
            <a:pPr marL="0" indent="0">
              <a:lnSpc>
                <a:spcPct val="150000"/>
              </a:lnSpc>
              <a:buNone/>
            </a:pPr>
            <a:r>
              <a:rPr lang="en-US" sz="1400">
                <a:latin typeface="Perpetua"/>
                <a:ea typeface="Calibri"/>
                <a:cs typeface="Calibri"/>
              </a:rPr>
              <a:t>Lead in soil is often a result of old lead paint that chips from housing and falls into soil, industrial and vehicle emissions, and old lead pipes where it can remain an issue for years. This issue especially effects houses built before 1978. By screening your soil for lead we hope to help you take a more proactive approach to limiting and preventing further exposure.</a:t>
            </a:r>
            <a:r>
              <a:rPr lang="en-US" sz="1400" baseline="30000">
                <a:latin typeface="Perpetua"/>
                <a:ea typeface="Calibri"/>
                <a:cs typeface="Calibri"/>
              </a:rPr>
              <a:t>1, 3</a:t>
            </a:r>
            <a:endParaRPr lang="en-US" sz="1400">
              <a:latin typeface="Perpetua"/>
              <a:ea typeface="Calibri"/>
              <a:cs typeface="Calibri"/>
            </a:endParaRPr>
          </a:p>
          <a:p>
            <a:pPr marL="0" indent="0">
              <a:lnSpc>
                <a:spcPct val="150000"/>
              </a:lnSpc>
              <a:buNone/>
            </a:pPr>
            <a:r>
              <a:rPr lang="en-US" sz="1400">
                <a:latin typeface="Calibri" panose="020F0502020204030204" pitchFamily="34" charset="0"/>
                <a:ea typeface="Calibri" panose="020F0502020204030204" pitchFamily="34" charset="0"/>
                <a:cs typeface="Calibri" panose="020F0502020204030204" pitchFamily="34" charset="0"/>
              </a:rPr>
              <a:t>	</a:t>
            </a:r>
          </a:p>
        </p:txBody>
      </p:sp>
      <p:pic>
        <p:nvPicPr>
          <p:cNvPr id="2050" name="Picture 2" descr="% of Older Homes Likely to Contain Lead-Based Paint">
            <a:extLst>
              <a:ext uri="{FF2B5EF4-FFF2-40B4-BE49-F238E27FC236}">
                <a16:creationId xmlns:a16="http://schemas.microsoft.com/office/drawing/2014/main" id="{BDD14CEA-0DC9-3EF6-0E35-4D5CC345FB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952" y="5199625"/>
            <a:ext cx="6383983" cy="2805363"/>
          </a:xfrm>
          <a:prstGeom prst="rect">
            <a:avLst/>
          </a:prstGeom>
          <a:noFill/>
          <a:extLst>
            <a:ext uri="{909E8E84-426E-40DD-AFC4-6F175D3DCCD1}">
              <a14:hiddenFill xmlns:a14="http://schemas.microsoft.com/office/drawing/2010/main">
                <a:solidFill>
                  <a:srgbClr val="FFFFFF"/>
                </a:solidFill>
              </a14:hiddenFill>
            </a:ext>
          </a:extLst>
        </p:spPr>
      </p:pic>
      <p:sp>
        <p:nvSpPr>
          <p:cNvPr id="9" name="Date Placeholder 8">
            <a:extLst>
              <a:ext uri="{FF2B5EF4-FFF2-40B4-BE49-F238E27FC236}">
                <a16:creationId xmlns:a16="http://schemas.microsoft.com/office/drawing/2014/main" id="{4D606E7A-7653-2884-2436-69DEEB44515E}"/>
              </a:ext>
            </a:extLst>
          </p:cNvPr>
          <p:cNvSpPr>
            <a:spLocks noGrp="1"/>
          </p:cNvSpPr>
          <p:nvPr>
            <p:ph type="dt" sz="half" idx="10"/>
          </p:nvPr>
        </p:nvSpPr>
        <p:spPr/>
        <p:txBody>
          <a:bodyPr/>
          <a:lstStyle/>
          <a:p>
            <a:fld id="{53560F19-E2D5-4A6B-A3F4-C6F54397B97E}" type="datetime1">
              <a:rPr lang="en-US" smtClean="0"/>
              <a:t>3/2/2026</a:t>
            </a:fld>
            <a:endParaRPr lang="en-US"/>
          </a:p>
        </p:txBody>
      </p:sp>
      <p:sp>
        <p:nvSpPr>
          <p:cNvPr id="10" name="Slide Number Placeholder 9">
            <a:extLst>
              <a:ext uri="{FF2B5EF4-FFF2-40B4-BE49-F238E27FC236}">
                <a16:creationId xmlns:a16="http://schemas.microsoft.com/office/drawing/2014/main" id="{74E29FE8-D8C0-2071-14AA-781D1FF2AAD3}"/>
              </a:ext>
            </a:extLst>
          </p:cNvPr>
          <p:cNvSpPr>
            <a:spLocks noGrp="1"/>
          </p:cNvSpPr>
          <p:nvPr>
            <p:ph type="sldNum" sz="quarter" idx="12"/>
          </p:nvPr>
        </p:nvSpPr>
        <p:spPr/>
        <p:txBody>
          <a:bodyPr/>
          <a:lstStyle/>
          <a:p>
            <a:r>
              <a:rPr lang="en-US">
                <a:latin typeface="Aptos"/>
              </a:rPr>
              <a:t>6</a:t>
            </a:r>
            <a:endParaRPr lang="en-US" sz="1000">
              <a:latin typeface="Aptos"/>
            </a:endParaRPr>
          </a:p>
        </p:txBody>
      </p:sp>
      <p:sp>
        <p:nvSpPr>
          <p:cNvPr id="11" name="Title 1">
            <a:extLst>
              <a:ext uri="{FF2B5EF4-FFF2-40B4-BE49-F238E27FC236}">
                <a16:creationId xmlns:a16="http://schemas.microsoft.com/office/drawing/2014/main" id="{E9BD9276-DEF3-8171-FF4A-FC2E3623CB4E}"/>
              </a:ext>
            </a:extLst>
          </p:cNvPr>
          <p:cNvSpPr>
            <a:spLocks noGrp="1"/>
          </p:cNvSpPr>
          <p:nvPr>
            <p:ph type="title"/>
          </p:nvPr>
        </p:nvSpPr>
        <p:spPr>
          <a:xfrm>
            <a:off x="73722" y="-56088"/>
            <a:ext cx="6028752" cy="1319039"/>
          </a:xfrm>
        </p:spPr>
        <p:txBody>
          <a:bodyPr>
            <a:normAutofit/>
          </a:bodyPr>
          <a:lstStyle/>
          <a:p>
            <a:pPr algn="ctr"/>
            <a:r>
              <a:rPr lang="en-US" sz="1800" b="1">
                <a:latin typeface="Arial Black"/>
                <a:cs typeface="Arial"/>
              </a:rPr>
              <a:t>            Where Does Soil Lead Come From?</a:t>
            </a:r>
            <a:endParaRPr lang="en-US"/>
          </a:p>
        </p:txBody>
      </p:sp>
      <p:cxnSp>
        <p:nvCxnSpPr>
          <p:cNvPr id="13" name="Straight Connector 12">
            <a:extLst>
              <a:ext uri="{FF2B5EF4-FFF2-40B4-BE49-F238E27FC236}">
                <a16:creationId xmlns:a16="http://schemas.microsoft.com/office/drawing/2014/main" id="{016FCCEF-0E72-B85B-94FD-B80F43219AFA}"/>
              </a:ext>
            </a:extLst>
          </p:cNvPr>
          <p:cNvCxnSpPr>
            <a:cxnSpLocks/>
          </p:cNvCxnSpPr>
          <p:nvPr/>
        </p:nvCxnSpPr>
        <p:spPr>
          <a:xfrm>
            <a:off x="1355811" y="834704"/>
            <a:ext cx="5400482" cy="21086"/>
          </a:xfrm>
          <a:prstGeom prst="line">
            <a:avLst/>
          </a:prstGeom>
          <a:ln w="571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5" name="Picture 3" descr="A logo with a city skyline in the background&#10;&#10;AI-generated content may be incorrect.">
            <a:extLst>
              <a:ext uri="{FF2B5EF4-FFF2-40B4-BE49-F238E27FC236}">
                <a16:creationId xmlns:a16="http://schemas.microsoft.com/office/drawing/2014/main" id="{90E89EAE-945A-B740-0567-CE354CA438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0468" t="20212" r="20128" b="20314"/>
          <a:stretch>
            <a:fillRect/>
          </a:stretch>
        </p:blipFill>
        <p:spPr bwMode="auto">
          <a:xfrm>
            <a:off x="222904" y="203850"/>
            <a:ext cx="953051" cy="958938"/>
          </a:xfrm>
          <a:prstGeom prst="flowChartConnector">
            <a:avLst/>
          </a:prstGeom>
          <a:noFill/>
          <a:ln>
            <a:noFill/>
          </a:ln>
          <a:effectLst/>
          <a:extLst>
            <a:ext uri="{909E8E84-426E-40DD-AFC4-6F175D3DCCD1}">
              <a14:hiddenFill xmlns:a14="http://schemas.microsoft.com/office/drawing/2010/main">
                <a:solidFill>
                  <a:srgbClr val="04617B"/>
                </a:solidFill>
              </a14:hiddenFill>
            </a:ex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sp>
        <p:nvSpPr>
          <p:cNvPr id="20" name="TextBox 6">
            <a:extLst>
              <a:ext uri="{FF2B5EF4-FFF2-40B4-BE49-F238E27FC236}">
                <a16:creationId xmlns:a16="http://schemas.microsoft.com/office/drawing/2014/main" id="{D713271E-9550-5E58-9B14-C245A60C806A}"/>
              </a:ext>
            </a:extLst>
          </p:cNvPr>
          <p:cNvSpPr txBox="1"/>
          <p:nvPr/>
        </p:nvSpPr>
        <p:spPr>
          <a:xfrm>
            <a:off x="1287385" y="8258265"/>
            <a:ext cx="4720839" cy="70788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000" i="1"/>
              <a:t>Figure 5: </a:t>
            </a:r>
            <a:r>
              <a:rPr lang="en-US" sz="1000" i="1">
                <a:ea typeface="+mn-lt"/>
                <a:cs typeface="+mn-lt"/>
              </a:rPr>
              <a:t>This chart shows that older homes are more likely to contain lead-based paint. About 24% of homes built between 1960–1977 contain lead-based paint, compared to 69% of homes built between 1940–1959 and 87% of homes built before 1940.</a:t>
            </a:r>
            <a:endParaRPr lang="en-US" sz="1000" i="1"/>
          </a:p>
        </p:txBody>
      </p:sp>
    </p:spTree>
    <p:extLst>
      <p:ext uri="{BB962C8B-B14F-4D97-AF65-F5344CB8AC3E}">
        <p14:creationId xmlns:p14="http://schemas.microsoft.com/office/powerpoint/2010/main" val="2744952188"/>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CDEF1F-5EB2-D38B-A96F-4F82CF5AD4B6}"/>
              </a:ext>
            </a:extLst>
          </p:cNvPr>
          <p:cNvSpPr>
            <a:spLocks noGrp="1"/>
          </p:cNvSpPr>
          <p:nvPr>
            <p:ph idx="1"/>
          </p:nvPr>
        </p:nvSpPr>
        <p:spPr>
          <a:xfrm>
            <a:off x="534353" y="1352990"/>
            <a:ext cx="6710076" cy="7706556"/>
          </a:xfrm>
        </p:spPr>
        <p:txBody>
          <a:bodyPr vert="horz" lIns="91440" tIns="45720" rIns="91440" bIns="45720" rtlCol="0" anchor="t">
            <a:normAutofit/>
          </a:bodyPr>
          <a:lstStyle/>
          <a:p>
            <a:pPr>
              <a:lnSpc>
                <a:spcPct val="150000"/>
              </a:lnSpc>
            </a:pPr>
            <a:r>
              <a:rPr lang="en-US" sz="1400">
                <a:latin typeface="Perpetua"/>
                <a:ea typeface="Calibri"/>
                <a:cs typeface="Calibri"/>
              </a:rPr>
              <a:t>The U.S. Environmental Protection Agency (EPA) considers bare soil in residential areas with lead levels above 200 parts per million (ppm) to be a potential environmental hazard. When multiple sources of lead are present, the overall risk of exposure can increase. Therefore, soil with lead levels of 100 ppm or higher may also pose a concern, especially if there are other sources of lead on the property, such as lead-based paint or lead-containing plumbing. </a:t>
            </a:r>
            <a:endParaRPr lang="en-US" sz="2350">
              <a:latin typeface="Aptos" panose="02110004020202020204"/>
              <a:ea typeface="Calibri"/>
              <a:cs typeface="Calibri"/>
            </a:endParaRPr>
          </a:p>
          <a:p>
            <a:pPr>
              <a:lnSpc>
                <a:spcPct val="150000"/>
              </a:lnSpc>
            </a:pPr>
            <a:r>
              <a:rPr lang="en-US" sz="1400">
                <a:latin typeface="Perpetua"/>
                <a:ea typeface="Calibri"/>
                <a:cs typeface="Calibri"/>
              </a:rPr>
              <a:t>Lead in soil can increase the risk of lead exposure and related health problems. Everyday activities—such as gardening, playing in bare soil, or touching soil and then putting hands in the mouth—can bring people into contact with lead-contaminated soil. Lead can enter the body when contaminated dust or soil is swallowed or breathed in.</a:t>
            </a:r>
            <a:endParaRPr lang="en-US" sz="2350"/>
          </a:p>
          <a:p>
            <a:pPr>
              <a:lnSpc>
                <a:spcPct val="150000"/>
              </a:lnSpc>
            </a:pPr>
            <a:r>
              <a:rPr lang="en-US" sz="1400">
                <a:latin typeface="Perpetua"/>
                <a:ea typeface="Calibri"/>
                <a:cs typeface="Calibri"/>
              </a:rPr>
              <a:t>Lead is a toxic metal that can affect many parts of the body. Exposure to lead has been linked to effects on brain development, learning and behavior, and reproductive health. Children are especially vulnerable because their bodies and brains are still developing, and they are more likely to put their hands or objects in their mouths. Lead can stay in the body for a long time, which means repeated small exposures can add up over time.</a:t>
            </a:r>
            <a:endParaRPr lang="en-US"/>
          </a:p>
          <a:p>
            <a:pPr>
              <a:lnSpc>
                <a:spcPct val="150000"/>
              </a:lnSpc>
            </a:pPr>
            <a:r>
              <a:rPr lang="en-US" sz="1400">
                <a:latin typeface="Perpetua"/>
                <a:ea typeface="Calibri"/>
                <a:cs typeface="Calibri"/>
              </a:rPr>
              <a:t>There is no known safe level of lead exposure, particularly for children. Understanding soil test results can help people take steps to reduce contact with lead and lower the risk of future exposure.</a:t>
            </a:r>
            <a:r>
              <a:rPr lang="en-US" sz="1400" baseline="30000">
                <a:latin typeface="Perpetua"/>
                <a:ea typeface="Calibri"/>
                <a:cs typeface="Calibri"/>
              </a:rPr>
              <a:t>2</a:t>
            </a:r>
            <a:endParaRPr lang="en-US" sz="1400">
              <a:latin typeface="Perpetua"/>
              <a:ea typeface="Calibri"/>
              <a:cs typeface="Calibri"/>
            </a:endParaRPr>
          </a:p>
        </p:txBody>
      </p:sp>
      <p:sp>
        <p:nvSpPr>
          <p:cNvPr id="9" name="Date Placeholder 8">
            <a:extLst>
              <a:ext uri="{FF2B5EF4-FFF2-40B4-BE49-F238E27FC236}">
                <a16:creationId xmlns:a16="http://schemas.microsoft.com/office/drawing/2014/main" id="{224D0134-2990-0ECE-FB58-BFA9C08E7BE3}"/>
              </a:ext>
            </a:extLst>
          </p:cNvPr>
          <p:cNvSpPr>
            <a:spLocks noGrp="1"/>
          </p:cNvSpPr>
          <p:nvPr>
            <p:ph type="dt" sz="half" idx="10"/>
          </p:nvPr>
        </p:nvSpPr>
        <p:spPr/>
        <p:txBody>
          <a:bodyPr/>
          <a:lstStyle/>
          <a:p>
            <a:fld id="{66817667-D7C3-4048-9084-5E6EE7588C8B}" type="datetime1">
              <a:rPr lang="en-US" smtClean="0"/>
              <a:t>3/2/2026</a:t>
            </a:fld>
            <a:endParaRPr lang="en-US"/>
          </a:p>
        </p:txBody>
      </p:sp>
      <p:sp>
        <p:nvSpPr>
          <p:cNvPr id="10" name="Slide Number Placeholder 9">
            <a:extLst>
              <a:ext uri="{FF2B5EF4-FFF2-40B4-BE49-F238E27FC236}">
                <a16:creationId xmlns:a16="http://schemas.microsoft.com/office/drawing/2014/main" id="{C0975AC0-36B8-DADE-20F3-B2FC7DC526D3}"/>
              </a:ext>
            </a:extLst>
          </p:cNvPr>
          <p:cNvSpPr>
            <a:spLocks noGrp="1"/>
          </p:cNvSpPr>
          <p:nvPr>
            <p:ph type="sldNum" sz="quarter" idx="12"/>
          </p:nvPr>
        </p:nvSpPr>
        <p:spPr/>
        <p:txBody>
          <a:bodyPr/>
          <a:lstStyle/>
          <a:p>
            <a:fld id="{AF85498A-A7D2-4202-8B58-6C83C98E0B39}" type="slidenum">
              <a:rPr lang="en-US" sz="1000" dirty="0" smtClean="0">
                <a:latin typeface="Aptos"/>
              </a:rPr>
              <a:t>9</a:t>
            </a:fld>
            <a:endParaRPr lang="en-US" sz="1000">
              <a:latin typeface="Aptos"/>
            </a:endParaRPr>
          </a:p>
        </p:txBody>
      </p:sp>
      <p:sp>
        <p:nvSpPr>
          <p:cNvPr id="19" name="Title 1">
            <a:extLst>
              <a:ext uri="{FF2B5EF4-FFF2-40B4-BE49-F238E27FC236}">
                <a16:creationId xmlns:a16="http://schemas.microsoft.com/office/drawing/2014/main" id="{F8017121-EC51-3DF4-E0C0-CF65A82FF369}"/>
              </a:ext>
            </a:extLst>
          </p:cNvPr>
          <p:cNvSpPr>
            <a:spLocks noGrp="1"/>
          </p:cNvSpPr>
          <p:nvPr>
            <p:ph type="title"/>
          </p:nvPr>
        </p:nvSpPr>
        <p:spPr>
          <a:xfrm>
            <a:off x="-246901" y="-5936"/>
            <a:ext cx="6454826" cy="1299893"/>
          </a:xfrm>
        </p:spPr>
        <p:txBody>
          <a:bodyPr>
            <a:normAutofit/>
          </a:bodyPr>
          <a:lstStyle/>
          <a:p>
            <a:pPr algn="ctr"/>
            <a:r>
              <a:rPr lang="en-US" sz="1800" b="1">
                <a:latin typeface="Arial Black"/>
                <a:cs typeface="Arial"/>
              </a:rPr>
              <a:t>What Your Results Mean</a:t>
            </a:r>
          </a:p>
        </p:txBody>
      </p:sp>
      <p:cxnSp>
        <p:nvCxnSpPr>
          <p:cNvPr id="21" name="Straight Connector 20">
            <a:extLst>
              <a:ext uri="{FF2B5EF4-FFF2-40B4-BE49-F238E27FC236}">
                <a16:creationId xmlns:a16="http://schemas.microsoft.com/office/drawing/2014/main" id="{B98B5957-4FB7-C081-DA54-D5C9BBA8B7B5}"/>
              </a:ext>
            </a:extLst>
          </p:cNvPr>
          <p:cNvCxnSpPr>
            <a:cxnSpLocks/>
          </p:cNvCxnSpPr>
          <p:nvPr/>
        </p:nvCxnSpPr>
        <p:spPr>
          <a:xfrm>
            <a:off x="1461262" y="865710"/>
            <a:ext cx="5400482" cy="21086"/>
          </a:xfrm>
          <a:prstGeom prst="line">
            <a:avLst/>
          </a:prstGeom>
          <a:ln w="571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23" name="Picture 3" descr="A logo with a city skyline in the background&#10;&#10;AI-generated content may be incorrect.">
            <a:extLst>
              <a:ext uri="{FF2B5EF4-FFF2-40B4-BE49-F238E27FC236}">
                <a16:creationId xmlns:a16="http://schemas.microsoft.com/office/drawing/2014/main" id="{8E37E84B-0E10-3045-5B04-36246C4587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0468" t="20212" r="20128" b="20314"/>
          <a:stretch>
            <a:fillRect/>
          </a:stretch>
        </p:blipFill>
        <p:spPr bwMode="auto">
          <a:xfrm>
            <a:off x="328355" y="234856"/>
            <a:ext cx="953051" cy="958938"/>
          </a:xfrm>
          <a:prstGeom prst="flowChartConnector">
            <a:avLst/>
          </a:prstGeom>
          <a:noFill/>
          <a:ln>
            <a:noFill/>
          </a:ln>
          <a:effectLst/>
          <a:extLst>
            <a:ext uri="{909E8E84-426E-40DD-AFC4-6F175D3DCCD1}">
              <a14:hiddenFill xmlns:a14="http://schemas.microsoft.com/office/drawing/2010/main">
                <a:solidFill>
                  <a:srgbClr val="04617B"/>
                </a:solidFill>
              </a14:hiddenFill>
            </a:ex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spTree>
    <p:extLst>
      <p:ext uri="{BB962C8B-B14F-4D97-AF65-F5344CB8AC3E}">
        <p14:creationId xmlns:p14="http://schemas.microsoft.com/office/powerpoint/2010/main" val="2906519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EA9CC-A3EC-C2C8-3FB3-3480A8AB6D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723B34-AE2A-EF24-EAE6-38E403DDEF7C}"/>
              </a:ext>
            </a:extLst>
          </p:cNvPr>
          <p:cNvSpPr>
            <a:spLocks noGrp="1"/>
          </p:cNvSpPr>
          <p:nvPr>
            <p:ph idx="1"/>
          </p:nvPr>
        </p:nvSpPr>
        <p:spPr>
          <a:xfrm>
            <a:off x="534353" y="1339704"/>
            <a:ext cx="6703695" cy="7719842"/>
          </a:xfrm>
        </p:spPr>
        <p:txBody>
          <a:bodyPr vert="horz" lIns="91440" tIns="45720" rIns="91440" bIns="45720" rtlCol="0" anchor="t">
            <a:normAutofit/>
          </a:bodyPr>
          <a:lstStyle/>
          <a:p>
            <a:pPr marL="0" indent="0">
              <a:lnSpc>
                <a:spcPct val="150000"/>
              </a:lnSpc>
              <a:buNone/>
            </a:pPr>
            <a:r>
              <a:rPr lang="en-US" sz="1400">
                <a:latin typeface="Perpetua"/>
                <a:ea typeface="Calibri"/>
                <a:cs typeface="Calibri"/>
              </a:rPr>
              <a:t>Elevated soil lead can increase your risk for long term negative health effects. There are many ways that you can practice to manage your exposure. </a:t>
            </a:r>
            <a:endParaRPr lang="en-US"/>
          </a:p>
          <a:p>
            <a:pPr>
              <a:lnSpc>
                <a:spcPct val="150000"/>
              </a:lnSpc>
            </a:pPr>
            <a:endParaRPr lang="en-US" sz="1400" b="1">
              <a:solidFill>
                <a:schemeClr val="tx2"/>
              </a:solidFill>
              <a:latin typeface="Perpetua"/>
              <a:ea typeface="Calibri"/>
              <a:cs typeface="Calibri"/>
            </a:endParaRPr>
          </a:p>
          <a:p>
            <a:pPr marL="0" indent="0">
              <a:lnSpc>
                <a:spcPct val="150000"/>
              </a:lnSpc>
              <a:buNone/>
            </a:pPr>
            <a:endParaRPr lang="en-US" sz="1400">
              <a:solidFill>
                <a:schemeClr val="tx2"/>
              </a:solidFill>
              <a:latin typeface="Perpetua"/>
              <a:ea typeface="Calibri" panose="020F0502020204030204" pitchFamily="34" charset="0"/>
              <a:cs typeface="Calibri" panose="020F0502020204030204" pitchFamily="34" charset="0"/>
            </a:endParaRPr>
          </a:p>
        </p:txBody>
      </p:sp>
      <p:sp>
        <p:nvSpPr>
          <p:cNvPr id="9" name="Date Placeholder 8">
            <a:extLst>
              <a:ext uri="{FF2B5EF4-FFF2-40B4-BE49-F238E27FC236}">
                <a16:creationId xmlns:a16="http://schemas.microsoft.com/office/drawing/2014/main" id="{D3AB28C6-E182-7652-7D4A-ACA1279887E8}"/>
              </a:ext>
            </a:extLst>
          </p:cNvPr>
          <p:cNvSpPr>
            <a:spLocks noGrp="1"/>
          </p:cNvSpPr>
          <p:nvPr>
            <p:ph type="dt" sz="half" idx="10"/>
          </p:nvPr>
        </p:nvSpPr>
        <p:spPr/>
        <p:txBody>
          <a:bodyPr/>
          <a:lstStyle/>
          <a:p>
            <a:fld id="{85E1093B-DF35-498B-9C86-A0A5FC2F3A12}" type="datetime1">
              <a:rPr lang="en-US" smtClean="0"/>
              <a:t>3/2/2026</a:t>
            </a:fld>
            <a:endParaRPr lang="en-US"/>
          </a:p>
        </p:txBody>
      </p:sp>
      <p:sp>
        <p:nvSpPr>
          <p:cNvPr id="10" name="Slide Number Placeholder 9">
            <a:extLst>
              <a:ext uri="{FF2B5EF4-FFF2-40B4-BE49-F238E27FC236}">
                <a16:creationId xmlns:a16="http://schemas.microsoft.com/office/drawing/2014/main" id="{02AE2D00-445C-DF2F-0F2F-C398928D2D63}"/>
              </a:ext>
            </a:extLst>
          </p:cNvPr>
          <p:cNvSpPr>
            <a:spLocks noGrp="1"/>
          </p:cNvSpPr>
          <p:nvPr>
            <p:ph type="sldNum" sz="quarter" idx="12"/>
          </p:nvPr>
        </p:nvSpPr>
        <p:spPr/>
        <p:txBody>
          <a:bodyPr/>
          <a:lstStyle/>
          <a:p>
            <a:fld id="{AF85498A-A7D2-4202-8B58-6C83C98E0B39}" type="slidenum">
              <a:rPr lang="en-US" smtClean="0"/>
              <a:t>10</a:t>
            </a:fld>
            <a:endParaRPr lang="en-US"/>
          </a:p>
        </p:txBody>
      </p:sp>
      <p:sp>
        <p:nvSpPr>
          <p:cNvPr id="11" name="Title 1">
            <a:extLst>
              <a:ext uri="{FF2B5EF4-FFF2-40B4-BE49-F238E27FC236}">
                <a16:creationId xmlns:a16="http://schemas.microsoft.com/office/drawing/2014/main" id="{A7DEC3DC-C989-BE49-9C25-4E11B2D1CB3F}"/>
              </a:ext>
            </a:extLst>
          </p:cNvPr>
          <p:cNvSpPr>
            <a:spLocks noGrp="1"/>
          </p:cNvSpPr>
          <p:nvPr>
            <p:ph type="title"/>
          </p:nvPr>
        </p:nvSpPr>
        <p:spPr>
          <a:xfrm>
            <a:off x="-320445" y="-56088"/>
            <a:ext cx="6422919" cy="1319039"/>
          </a:xfrm>
        </p:spPr>
        <p:txBody>
          <a:bodyPr>
            <a:normAutofit/>
          </a:bodyPr>
          <a:lstStyle/>
          <a:p>
            <a:pPr algn="ctr"/>
            <a:r>
              <a:rPr lang="en-US" sz="1800" b="1">
                <a:latin typeface="Arial Black"/>
                <a:cs typeface="Arial"/>
              </a:rPr>
              <a:t>            Reducing Exposure to Soil Lead</a:t>
            </a:r>
            <a:endParaRPr lang="en-US"/>
          </a:p>
        </p:txBody>
      </p:sp>
      <p:cxnSp>
        <p:nvCxnSpPr>
          <p:cNvPr id="13" name="Straight Connector 12">
            <a:extLst>
              <a:ext uri="{FF2B5EF4-FFF2-40B4-BE49-F238E27FC236}">
                <a16:creationId xmlns:a16="http://schemas.microsoft.com/office/drawing/2014/main" id="{1109E8CD-39FE-127D-35E3-2DA541B3D15C}"/>
              </a:ext>
            </a:extLst>
          </p:cNvPr>
          <p:cNvCxnSpPr>
            <a:cxnSpLocks/>
          </p:cNvCxnSpPr>
          <p:nvPr/>
        </p:nvCxnSpPr>
        <p:spPr>
          <a:xfrm>
            <a:off x="1355811" y="834704"/>
            <a:ext cx="5400482" cy="21086"/>
          </a:xfrm>
          <a:prstGeom prst="line">
            <a:avLst/>
          </a:prstGeom>
          <a:ln w="571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5" name="Picture 3" descr="A logo with a city skyline in the background&#10;&#10;AI-generated content may be incorrect.">
            <a:extLst>
              <a:ext uri="{FF2B5EF4-FFF2-40B4-BE49-F238E27FC236}">
                <a16:creationId xmlns:a16="http://schemas.microsoft.com/office/drawing/2014/main" id="{C7246DBD-4B7B-0F0A-FDE0-E1D38ED956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0468" t="20212" r="20128" b="20314"/>
          <a:stretch>
            <a:fillRect/>
          </a:stretch>
        </p:blipFill>
        <p:spPr bwMode="auto">
          <a:xfrm>
            <a:off x="222904" y="203850"/>
            <a:ext cx="953051" cy="958938"/>
          </a:xfrm>
          <a:prstGeom prst="flowChartConnector">
            <a:avLst/>
          </a:prstGeom>
          <a:noFill/>
          <a:ln>
            <a:noFill/>
          </a:ln>
          <a:effectLst/>
          <a:extLst>
            <a:ext uri="{909E8E84-426E-40DD-AFC4-6F175D3DCCD1}">
              <a14:hiddenFill xmlns:a14="http://schemas.microsoft.com/office/drawing/2010/main">
                <a:solidFill>
                  <a:srgbClr val="04617B"/>
                </a:solidFill>
              </a14:hiddenFill>
            </a:ex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8" name="Picture 7" descr="Actions to Reduce Potential Lead Exposure | US EPA">
            <a:extLst>
              <a:ext uri="{FF2B5EF4-FFF2-40B4-BE49-F238E27FC236}">
                <a16:creationId xmlns:a16="http://schemas.microsoft.com/office/drawing/2014/main" id="{EBED5D5C-DD9F-EB59-5D12-36DA3F63D0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324" y="2234614"/>
            <a:ext cx="3289399" cy="314266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4">
            <a:extLst>
              <a:ext uri="{FF2B5EF4-FFF2-40B4-BE49-F238E27FC236}">
                <a16:creationId xmlns:a16="http://schemas.microsoft.com/office/drawing/2014/main" id="{7CBF5285-381F-B86C-BD0F-6CA49EED6CA4}"/>
              </a:ext>
            </a:extLst>
          </p:cNvPr>
          <p:cNvSpPr txBox="1"/>
          <p:nvPr/>
        </p:nvSpPr>
        <p:spPr>
          <a:xfrm>
            <a:off x="3764961" y="2079147"/>
            <a:ext cx="3474325" cy="528221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nSpc>
                <a:spcPct val="150000"/>
              </a:lnSpc>
              <a:spcBef>
                <a:spcPts val="850"/>
              </a:spcBef>
              <a:buFont typeface="Arial"/>
              <a:buChar char="•"/>
            </a:pPr>
            <a:r>
              <a:rPr lang="en-US" sz="1400" b="1">
                <a:solidFill>
                  <a:schemeClr val="tx2"/>
                </a:solidFill>
                <a:latin typeface="Perpetua"/>
              </a:rPr>
              <a:t>Cover bare soil in backyards with grass, mulch, stones and shrubs</a:t>
            </a:r>
            <a:endParaRPr lang="en-US" sz="1400">
              <a:solidFill>
                <a:schemeClr val="tx2"/>
              </a:solidFill>
              <a:latin typeface="Perpetua"/>
            </a:endParaRPr>
          </a:p>
          <a:p>
            <a:pPr marL="285750" indent="-285750">
              <a:lnSpc>
                <a:spcPct val="150000"/>
              </a:lnSpc>
              <a:spcBef>
                <a:spcPts val="850"/>
              </a:spcBef>
              <a:buFont typeface="Arial"/>
              <a:buChar char="•"/>
            </a:pPr>
            <a:r>
              <a:rPr lang="en-US" sz="1400" b="1">
                <a:solidFill>
                  <a:schemeClr val="tx2"/>
                </a:solidFill>
                <a:latin typeface="Perpetua"/>
              </a:rPr>
              <a:t>Garden with raised beds and clean soil</a:t>
            </a:r>
            <a:endParaRPr lang="en-US" sz="1400">
              <a:solidFill>
                <a:schemeClr val="tx2"/>
              </a:solidFill>
              <a:latin typeface="Perpetua"/>
            </a:endParaRPr>
          </a:p>
          <a:p>
            <a:pPr marL="285750" indent="-285750">
              <a:lnSpc>
                <a:spcPct val="150000"/>
              </a:lnSpc>
              <a:spcBef>
                <a:spcPts val="850"/>
              </a:spcBef>
              <a:buFont typeface="Arial"/>
              <a:buChar char="•"/>
            </a:pPr>
            <a:r>
              <a:rPr lang="en-US" sz="1400" b="1">
                <a:solidFill>
                  <a:schemeClr val="tx2"/>
                </a:solidFill>
                <a:latin typeface="Perpetua"/>
              </a:rPr>
              <a:t>Wash produce harvested from gardens before eating</a:t>
            </a:r>
            <a:endParaRPr lang="en-US" sz="1400">
              <a:solidFill>
                <a:schemeClr val="tx2"/>
              </a:solidFill>
              <a:latin typeface="Perpetua"/>
            </a:endParaRPr>
          </a:p>
          <a:p>
            <a:pPr marL="285750" indent="-285750">
              <a:lnSpc>
                <a:spcPct val="150000"/>
              </a:lnSpc>
              <a:spcBef>
                <a:spcPts val="850"/>
              </a:spcBef>
              <a:buFont typeface="Arial"/>
              <a:buChar char="•"/>
            </a:pPr>
            <a:r>
              <a:rPr lang="en-US" sz="1400" b="1">
                <a:solidFill>
                  <a:schemeClr val="tx2"/>
                </a:solidFill>
                <a:latin typeface="Perpetua"/>
              </a:rPr>
              <a:t>Wash hands after playing or gardening outside </a:t>
            </a:r>
            <a:endParaRPr lang="en-US" sz="1400">
              <a:solidFill>
                <a:schemeClr val="tx2"/>
              </a:solidFill>
              <a:latin typeface="Perpetua"/>
            </a:endParaRPr>
          </a:p>
          <a:p>
            <a:pPr marL="285750" indent="-285750">
              <a:lnSpc>
                <a:spcPct val="150000"/>
              </a:lnSpc>
              <a:spcBef>
                <a:spcPts val="850"/>
              </a:spcBef>
              <a:buFont typeface="Arial"/>
              <a:buChar char="•"/>
            </a:pPr>
            <a:r>
              <a:rPr lang="en-US" sz="1400" b="1">
                <a:solidFill>
                  <a:schemeClr val="tx2"/>
                </a:solidFill>
                <a:latin typeface="Perpetua"/>
              </a:rPr>
              <a:t>Take off shoes when inside to avoid bringing contaminated soil into your home</a:t>
            </a:r>
            <a:endParaRPr lang="en-US" sz="1400">
              <a:solidFill>
                <a:schemeClr val="tx2"/>
              </a:solidFill>
              <a:latin typeface="Perpetua"/>
            </a:endParaRPr>
          </a:p>
          <a:p>
            <a:pPr marL="285750" indent="-285750">
              <a:lnSpc>
                <a:spcPct val="150000"/>
              </a:lnSpc>
              <a:spcBef>
                <a:spcPts val="850"/>
              </a:spcBef>
              <a:buFont typeface="Arial"/>
              <a:buChar char="•"/>
            </a:pPr>
            <a:r>
              <a:rPr lang="en-US" sz="1400" b="1">
                <a:solidFill>
                  <a:schemeClr val="tx2"/>
                </a:solidFill>
                <a:latin typeface="Perpetua"/>
              </a:rPr>
              <a:t>Clean toys regularly, especially if used when playing outside</a:t>
            </a:r>
            <a:endParaRPr lang="en-US" sz="1400">
              <a:solidFill>
                <a:schemeClr val="tx2"/>
              </a:solidFill>
              <a:latin typeface="Perpetua"/>
            </a:endParaRPr>
          </a:p>
          <a:p>
            <a:pPr marL="285750" indent="-285750">
              <a:lnSpc>
                <a:spcPct val="150000"/>
              </a:lnSpc>
              <a:spcBef>
                <a:spcPts val="850"/>
              </a:spcBef>
              <a:buFont typeface="Arial"/>
              <a:buChar char="•"/>
            </a:pPr>
            <a:r>
              <a:rPr lang="en-US" sz="1400" b="1">
                <a:solidFill>
                  <a:schemeClr val="tx2"/>
                </a:solidFill>
                <a:latin typeface="Perpetua"/>
              </a:rPr>
              <a:t>Eat a diet high in iron and calcium to prevent absorption of lead in the body</a:t>
            </a:r>
            <a:r>
              <a:rPr lang="en-US" sz="1200" b="1" baseline="30000">
                <a:solidFill>
                  <a:schemeClr val="tx2"/>
                </a:solidFill>
                <a:latin typeface="Perpetua"/>
              </a:rPr>
              <a:t>6</a:t>
            </a:r>
            <a:endParaRPr lang="en-US" sz="1200">
              <a:solidFill>
                <a:schemeClr val="tx2"/>
              </a:solidFill>
              <a:latin typeface="Aptos"/>
            </a:endParaRPr>
          </a:p>
        </p:txBody>
      </p:sp>
      <p:pic>
        <p:nvPicPr>
          <p:cNvPr id="14" name="Picture 13" descr="A qr code with a few black squares&#10;&#10;AI-generated content may be incorrect.">
            <a:extLst>
              <a:ext uri="{FF2B5EF4-FFF2-40B4-BE49-F238E27FC236}">
                <a16:creationId xmlns:a16="http://schemas.microsoft.com/office/drawing/2014/main" id="{89F287A0-370D-BC0C-5A63-FF7D84FF57DB}"/>
              </a:ext>
            </a:extLst>
          </p:cNvPr>
          <p:cNvPicPr>
            <a:picLocks noChangeAspect="1"/>
          </p:cNvPicPr>
          <p:nvPr/>
        </p:nvPicPr>
        <p:blipFill>
          <a:blip r:embed="rId5"/>
          <a:stretch>
            <a:fillRect/>
          </a:stretch>
        </p:blipFill>
        <p:spPr>
          <a:xfrm>
            <a:off x="693644" y="7787016"/>
            <a:ext cx="1081242" cy="1044947"/>
          </a:xfrm>
          <a:prstGeom prst="rect">
            <a:avLst/>
          </a:prstGeom>
        </p:spPr>
      </p:pic>
      <p:sp>
        <p:nvSpPr>
          <p:cNvPr id="16" name="Content Placeholder 6">
            <a:extLst>
              <a:ext uri="{FF2B5EF4-FFF2-40B4-BE49-F238E27FC236}">
                <a16:creationId xmlns:a16="http://schemas.microsoft.com/office/drawing/2014/main" id="{09384E1A-2CE3-EDE6-2BF6-A740D139E633}"/>
              </a:ext>
            </a:extLst>
          </p:cNvPr>
          <p:cNvSpPr>
            <a:spLocks noGrp="1"/>
          </p:cNvSpPr>
          <p:nvPr/>
        </p:nvSpPr>
        <p:spPr>
          <a:xfrm>
            <a:off x="1880812" y="7787738"/>
            <a:ext cx="5287052" cy="967440"/>
          </a:xfrm>
          <a:prstGeom prst="rect">
            <a:avLst/>
          </a:prstGeom>
        </p:spPr>
        <p:txBody>
          <a:bodyPr vert="horz" lIns="91440" tIns="45720" rIns="91440" bIns="45720" rtlCol="0" anchor="t">
            <a:normAutofit fontScale="92500" lnSpcReduction="10000"/>
          </a:bodyPr>
          <a:lstStyle>
            <a:defPPr>
              <a:defRPr lang="en-US"/>
            </a:defPPr>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marL="0" indent="0">
              <a:lnSpc>
                <a:spcPct val="150000"/>
              </a:lnSpc>
              <a:buNone/>
            </a:pPr>
            <a:r>
              <a:rPr lang="en-US" sz="1400">
                <a:latin typeface="Perpetua"/>
                <a:cs typeface="Arial"/>
              </a:rPr>
              <a:t>Scan the QR code or use the short URL to access to more information and resources about how lead impacts health and what can be done to prevent further lead exposure. </a:t>
            </a:r>
          </a:p>
          <a:p>
            <a:pPr marL="0" indent="0">
              <a:lnSpc>
                <a:spcPct val="150000"/>
              </a:lnSpc>
              <a:buNone/>
            </a:pPr>
            <a:endParaRPr lang="en-US" sz="1400">
              <a:latin typeface="Perpetua"/>
              <a:cs typeface="Arial"/>
            </a:endParaRPr>
          </a:p>
        </p:txBody>
      </p:sp>
      <p:sp>
        <p:nvSpPr>
          <p:cNvPr id="17" name="TextBox 16">
            <a:extLst>
              <a:ext uri="{FF2B5EF4-FFF2-40B4-BE49-F238E27FC236}">
                <a16:creationId xmlns:a16="http://schemas.microsoft.com/office/drawing/2014/main" id="{05E07CB7-3E85-AB2A-558F-31EE37A64EE2}"/>
              </a:ext>
            </a:extLst>
          </p:cNvPr>
          <p:cNvSpPr txBox="1"/>
          <p:nvPr/>
        </p:nvSpPr>
        <p:spPr>
          <a:xfrm>
            <a:off x="438797" y="8835205"/>
            <a:ext cx="1600344"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100" b="1">
                <a:ea typeface="+mn-lt"/>
                <a:cs typeface="+mn-lt"/>
              </a:rPr>
              <a:t>https://bit.ly/3LbnnqZ</a:t>
            </a:r>
            <a:endParaRPr lang="en-US" sz="1100" b="1"/>
          </a:p>
        </p:txBody>
      </p:sp>
      <p:sp>
        <p:nvSpPr>
          <p:cNvPr id="19" name="TextBox 18">
            <a:extLst>
              <a:ext uri="{FF2B5EF4-FFF2-40B4-BE49-F238E27FC236}">
                <a16:creationId xmlns:a16="http://schemas.microsoft.com/office/drawing/2014/main" id="{1470A1F6-E227-8F24-516A-C69162F67CC0}"/>
              </a:ext>
            </a:extLst>
          </p:cNvPr>
          <p:cNvSpPr txBox="1"/>
          <p:nvPr/>
        </p:nvSpPr>
        <p:spPr>
          <a:xfrm>
            <a:off x="536915" y="5510951"/>
            <a:ext cx="226023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ea typeface="+mn-lt"/>
                <a:cs typeface="+mn-lt"/>
              </a:rPr>
              <a:t>Figure 6: US EPA, Actions to Reduce </a:t>
            </a:r>
            <a:r>
              <a:rPr lang="en-US" sz="1000" dirty="0">
                <a:ea typeface="+mn-lt"/>
                <a:cs typeface="+mn-lt"/>
              </a:rPr>
              <a:t>Potential Lead Exposure</a:t>
            </a:r>
            <a:r>
              <a:rPr lang="en-US" sz="700" i="1" baseline="30000" dirty="0">
                <a:ea typeface="+mn-lt"/>
                <a:cs typeface="+mn-lt"/>
              </a:rPr>
              <a:t>6</a:t>
            </a:r>
            <a:endParaRPr lang="en-US" sz="700" i="1" baseline="30000" dirty="0"/>
          </a:p>
        </p:txBody>
      </p:sp>
    </p:spTree>
    <p:extLst>
      <p:ext uri="{BB962C8B-B14F-4D97-AF65-F5344CB8AC3E}">
        <p14:creationId xmlns:p14="http://schemas.microsoft.com/office/powerpoint/2010/main" val="3101187536"/>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8587B-A6FD-12D1-B4A5-073BE2A4AF2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420018-FC6D-C064-4E26-D1728F11EDD6}"/>
              </a:ext>
            </a:extLst>
          </p:cNvPr>
          <p:cNvSpPr>
            <a:spLocks noGrp="1"/>
          </p:cNvSpPr>
          <p:nvPr>
            <p:ph idx="1"/>
          </p:nvPr>
        </p:nvSpPr>
        <p:spPr>
          <a:xfrm>
            <a:off x="534353" y="1339704"/>
            <a:ext cx="6703695" cy="7719842"/>
          </a:xfrm>
        </p:spPr>
        <p:txBody>
          <a:bodyPr vert="horz" lIns="91440" tIns="45720" rIns="91440" bIns="45720" rtlCol="0" anchor="t">
            <a:normAutofit/>
          </a:bodyPr>
          <a:lstStyle/>
          <a:p>
            <a:pPr marL="457200" indent="-457200" algn="just">
              <a:buNone/>
            </a:pPr>
            <a:r>
              <a:rPr lang="en-US" sz="1400" b="1" u="sng">
                <a:latin typeface="Perpetua"/>
                <a:ea typeface="Calibri"/>
                <a:cs typeface="Calibri"/>
              </a:rPr>
              <a:t>Text</a:t>
            </a:r>
          </a:p>
          <a:p>
            <a:pPr marL="457200" indent="-457200" algn="just">
              <a:buNone/>
            </a:pPr>
            <a:r>
              <a:rPr lang="en-US" sz="1400" dirty="0">
                <a:latin typeface="Perpetua"/>
                <a:ea typeface="Calibri"/>
                <a:cs typeface="Calibri"/>
              </a:rPr>
              <a:t>1.Erie County Lead Soil Fact Sheet. (2018, January). </a:t>
            </a:r>
            <a:r>
              <a:rPr lang="en-US" sz="1400" dirty="0" err="1">
                <a:latin typeface="Perpetua"/>
                <a:ea typeface="Calibri"/>
                <a:cs typeface="Calibri"/>
              </a:rPr>
              <a:t>Erie.Gov</a:t>
            </a:r>
            <a:r>
              <a:rPr lang="en-US" sz="1400" dirty="0">
                <a:latin typeface="Perpetua"/>
                <a:ea typeface="Calibri"/>
                <a:cs typeface="Calibri"/>
              </a:rPr>
              <a:t>. https://www3.erie.gov/envhealth/sites/www3.erie.gov.envhealth/files/2022-10/leadsoilfactsheet.pdf</a:t>
            </a:r>
            <a:endParaRPr lang="en-US" sz="2350" dirty="0"/>
          </a:p>
          <a:p>
            <a:pPr marL="457200" indent="-457200">
              <a:buNone/>
            </a:pPr>
            <a:r>
              <a:rPr lang="en-US" sz="1400">
                <a:latin typeface="Perpetua"/>
                <a:ea typeface="Calibri"/>
                <a:cs typeface="Calibri"/>
              </a:rPr>
              <a:t>2. </a:t>
            </a:r>
            <a:r>
              <a:rPr lang="en-US" sz="1400" i="1">
                <a:latin typeface="Perpetua"/>
              </a:rPr>
              <a:t>Updated Soil Lead Guidance for CERCLA sites and RCRA Corrective Action Facilities</a:t>
            </a:r>
            <a:r>
              <a:rPr lang="en-US" sz="1400">
                <a:latin typeface="Perpetua"/>
              </a:rPr>
              <a:t>. (2024, January). EPA. </a:t>
            </a:r>
            <a:r>
              <a:rPr lang="en-US" sz="1400" dirty="0">
                <a:latin typeface="Perpetua"/>
              </a:rPr>
              <a:t>https://www.epa.gov/system/files/documents/2024-01/explainer_olem-lead-guidance_formatted.pdf</a:t>
            </a:r>
          </a:p>
          <a:p>
            <a:pPr marL="457200" indent="-457200">
              <a:buNone/>
            </a:pPr>
            <a:r>
              <a:rPr lang="en-US" sz="1400">
                <a:latin typeface="Perpetua"/>
                <a:ea typeface="Calibri"/>
                <a:cs typeface="Calibri"/>
              </a:rPr>
              <a:t>3. </a:t>
            </a:r>
            <a:r>
              <a:rPr lang="en-US" sz="1400" i="1">
                <a:latin typeface="Perpetua"/>
              </a:rPr>
              <a:t>Protect Your Family from Sourc</a:t>
            </a:r>
            <a:r>
              <a:rPr lang="en-US" sz="1400" i="1" err="1">
                <a:latin typeface="Perpetua"/>
              </a:rPr>
              <a:t>es of Le</a:t>
            </a:r>
            <a:r>
              <a:rPr lang="en-US" sz="1400" i="1">
                <a:latin typeface="Perpetua"/>
              </a:rPr>
              <a:t>ad</a:t>
            </a:r>
            <a:r>
              <a:rPr lang="en-US" sz="1400">
                <a:latin typeface="Perpetua"/>
              </a:rPr>
              <a:t>. (2025, November 17). EPA. </a:t>
            </a:r>
            <a:r>
              <a:rPr lang="en-US" sz="1400" dirty="0">
                <a:latin typeface="Perpetua"/>
              </a:rPr>
              <a:t>https://www.epa.gov/lead/protect-your-family-sources-lead</a:t>
            </a:r>
          </a:p>
          <a:p>
            <a:pPr marL="457200" indent="-457200">
              <a:buNone/>
            </a:pPr>
            <a:r>
              <a:rPr lang="en-US" sz="1400" dirty="0">
                <a:latin typeface="Perpetua"/>
                <a:ea typeface="Calibri"/>
                <a:cs typeface="Calibri"/>
              </a:rPr>
              <a:t>4. Jenkins, E., Galbraith, J., &amp; </a:t>
            </a:r>
            <a:r>
              <a:rPr lang="en-US" sz="1400" dirty="0" err="1">
                <a:latin typeface="Perpetua"/>
                <a:ea typeface="Calibri"/>
                <a:cs typeface="Calibri"/>
              </a:rPr>
              <a:t>Paltseva</a:t>
            </a:r>
            <a:r>
              <a:rPr lang="en-US" sz="1400" dirty="0">
                <a:latin typeface="Perpetua"/>
                <a:ea typeface="Calibri"/>
                <a:cs typeface="Calibri"/>
              </a:rPr>
              <a:t>, A. (2024). </a:t>
            </a:r>
            <a:r>
              <a:rPr lang="en-US" sz="1400" i="1" dirty="0">
                <a:latin typeface="Perpetua"/>
                <a:ea typeface="Calibri"/>
                <a:cs typeface="Calibri"/>
              </a:rPr>
              <a:t>Portable X-Ray Fluorescence as a Tool for Urban </a:t>
            </a:r>
            <a:r>
              <a:rPr lang="en-US" sz="1400" i="1" dirty="0" err="1">
                <a:latin typeface="Perpetua"/>
                <a:ea typeface="Calibri"/>
                <a:cs typeface="Calibri"/>
              </a:rPr>
              <a:t>SoilContamination</a:t>
            </a:r>
            <a:r>
              <a:rPr lang="en-US" sz="1400" i="1" dirty="0">
                <a:latin typeface="Perpetua"/>
                <a:ea typeface="Calibri"/>
                <a:cs typeface="Calibri"/>
              </a:rPr>
              <a:t> Analysis: Accuracy, Precision, and Practicality</a:t>
            </a:r>
            <a:r>
              <a:rPr lang="en-US" sz="1400" dirty="0">
                <a:latin typeface="Perpetua"/>
                <a:ea typeface="Calibri"/>
                <a:cs typeface="Calibri"/>
              </a:rPr>
              <a:t>. </a:t>
            </a:r>
            <a:r>
              <a:rPr lang="en-US" sz="1400" dirty="0">
                <a:latin typeface="Perpetua"/>
                <a:ea typeface="Calibri"/>
                <a:cs typeface="Calibri"/>
                <a:hlinkClick r:id="rId3"/>
              </a:rPr>
              <a:t>https://doi.org/10.5194/egusphere-2024-3101</a:t>
            </a:r>
            <a:endParaRPr lang="en-US" sz="1400" dirty="0">
              <a:latin typeface="Perpetua"/>
              <a:ea typeface="Calibri"/>
              <a:cs typeface="Calibri"/>
            </a:endParaRPr>
          </a:p>
          <a:p>
            <a:pPr marL="457200" indent="-457200">
              <a:buNone/>
            </a:pPr>
            <a:r>
              <a:rPr lang="en-US" sz="1400">
                <a:latin typeface="Perpetua"/>
                <a:ea typeface="Calibri"/>
                <a:cs typeface="Calibri"/>
              </a:rPr>
              <a:t>5. </a:t>
            </a:r>
            <a:endParaRPr lang="en-US" sz="1400">
              <a:latin typeface="Perpetua"/>
            </a:endParaRPr>
          </a:p>
          <a:p>
            <a:pPr marL="457200" indent="-457200">
              <a:buNone/>
            </a:pPr>
            <a:r>
              <a:rPr lang="en-US" sz="1400">
                <a:latin typeface="Perpetua"/>
                <a:ea typeface="Calibri"/>
                <a:cs typeface="Calibri"/>
              </a:rPr>
              <a:t>6. </a:t>
            </a:r>
            <a:r>
              <a:rPr lang="en-US" sz="1400" i="1">
                <a:latin typeface="Perpetua"/>
              </a:rPr>
              <a:t>Actions to Reduce Potential Lead Exposure</a:t>
            </a:r>
            <a:r>
              <a:rPr lang="en-US" sz="1400">
                <a:latin typeface="Perpetua"/>
              </a:rPr>
              <a:t>. (n.d.). EPA. https://www.epa.gov/lead/actions-reduce-</a:t>
            </a:r>
            <a:r>
              <a:rPr lang="en-US" sz="1400" dirty="0">
                <a:latin typeface="Perpetua"/>
              </a:rPr>
              <a:t>potential-lead-exposure</a:t>
            </a:r>
          </a:p>
          <a:p>
            <a:pPr marL="457200" indent="-457200">
              <a:buNone/>
            </a:pPr>
            <a:endParaRPr lang="en-US" sz="1400" b="1" u="sng">
              <a:latin typeface="Perpetua"/>
              <a:ea typeface="Calibri"/>
              <a:cs typeface="Calibri"/>
            </a:endParaRPr>
          </a:p>
          <a:p>
            <a:pPr marL="457200" indent="-457200">
              <a:buNone/>
            </a:pPr>
            <a:r>
              <a:rPr lang="en-US" sz="1400" b="1" u="sng">
                <a:latin typeface="Perpetua"/>
                <a:ea typeface="Calibri"/>
                <a:cs typeface="Calibri"/>
              </a:rPr>
              <a:t>Figures</a:t>
            </a:r>
            <a:endParaRPr lang="en-US"/>
          </a:p>
          <a:p>
            <a:pPr marL="457200" indent="-457200">
              <a:buAutoNum type="arabicPeriod"/>
            </a:pPr>
            <a:br>
              <a:rPr lang="en-US" sz="1400" b="1" dirty="0">
                <a:latin typeface="Perpetua"/>
                <a:ea typeface="Calibri"/>
                <a:cs typeface="Calibri"/>
              </a:rPr>
            </a:br>
            <a:endParaRPr lang="en-US" sz="1400" b="1">
              <a:latin typeface="Perpetua"/>
              <a:ea typeface="Calibri"/>
              <a:cs typeface="Calibri"/>
            </a:endParaRPr>
          </a:p>
          <a:p>
            <a:pPr marL="457200" indent="-457200">
              <a:buAutoNum type="arabicPeriod"/>
            </a:pPr>
            <a:br>
              <a:rPr lang="en-US" sz="1400" b="1" dirty="0">
                <a:latin typeface="Perpetua"/>
                <a:ea typeface="Calibri"/>
                <a:cs typeface="Calibri"/>
              </a:rPr>
            </a:br>
            <a:endParaRPr lang="en-US" sz="1400" b="1">
              <a:latin typeface="Perpetua"/>
              <a:ea typeface="Calibri"/>
              <a:cs typeface="Calibri"/>
            </a:endParaRPr>
          </a:p>
          <a:p>
            <a:pPr marL="457200" indent="-457200">
              <a:buAutoNum type="arabicPeriod"/>
            </a:pPr>
            <a:br>
              <a:rPr lang="en-US" sz="1400" b="1" dirty="0">
                <a:latin typeface="Perpetua"/>
                <a:ea typeface="Calibri"/>
                <a:cs typeface="Calibri"/>
              </a:rPr>
            </a:br>
            <a:endParaRPr lang="en-US" sz="1400" b="1">
              <a:latin typeface="Perpetua"/>
              <a:ea typeface="Calibri"/>
              <a:cs typeface="Calibri"/>
            </a:endParaRPr>
          </a:p>
          <a:p>
            <a:pPr marL="457200" indent="-457200">
              <a:buAutoNum type="arabicPeriod"/>
            </a:pPr>
            <a:r>
              <a:rPr lang="en-US" sz="1200" dirty="0" err="1"/>
              <a:t>Gasdia</a:t>
            </a:r>
            <a:r>
              <a:rPr lang="en-US" sz="1200" dirty="0"/>
              <a:t>-Cochrane, M. (2024, February 21). Technology Focus: X-ray Fluorescence (XRF) in Mining. Techno Fisher Scientific. https://www.thermofisher.com/blog/mining/technology-focus-x-ray-fluorescence-xrf-in-mining/ </a:t>
            </a:r>
            <a:endParaRPr lang="en-US" sz="1200" b="1" dirty="0">
              <a:latin typeface="Perpetua"/>
              <a:ea typeface="Calibri"/>
              <a:cs typeface="Calibri"/>
            </a:endParaRPr>
          </a:p>
          <a:p>
            <a:pPr marL="457200" indent="-457200">
              <a:buAutoNum type="arabicPeriod"/>
            </a:pPr>
            <a:r>
              <a:rPr lang="en-US" sz="1400">
                <a:latin typeface="Perpetua"/>
                <a:ea typeface="Calibri"/>
                <a:cs typeface="Calibri"/>
              </a:rPr>
              <a:t>USEPA, Protect Your Family from Sources of Lead</a:t>
            </a:r>
            <a:endParaRPr lang="en-US" sz="1400">
              <a:latin typeface="Perpetua"/>
              <a:ea typeface="Calibri" panose="020F0502020204030204" pitchFamily="34" charset="0"/>
              <a:cs typeface="Calibri" panose="020F0502020204030204" pitchFamily="34" charset="0"/>
            </a:endParaRPr>
          </a:p>
          <a:p>
            <a:pPr marL="457200" indent="-457200">
              <a:buAutoNum type="arabicPeriod"/>
            </a:pPr>
            <a:r>
              <a:rPr lang="en-US" sz="1400" i="1">
                <a:latin typeface="Perpetua"/>
                <a:ea typeface="Calibri"/>
                <a:cs typeface="Calibri"/>
              </a:rPr>
              <a:t>Actions to Reduce Potential Lead Exposure</a:t>
            </a:r>
            <a:r>
              <a:rPr lang="en-US" sz="1400">
                <a:latin typeface="Perpetua"/>
                <a:ea typeface="Calibri"/>
                <a:cs typeface="Calibri"/>
              </a:rPr>
              <a:t>. (n.d.). EPA. https://www.epa.gov/lead/actions-</a:t>
            </a:r>
            <a:r>
              <a:rPr lang="en-US" sz="1400" dirty="0">
                <a:latin typeface="Perpetua"/>
                <a:ea typeface="Calibri"/>
                <a:cs typeface="Calibri"/>
              </a:rPr>
              <a:t>reduce-potential-lead-exposure</a:t>
            </a:r>
          </a:p>
          <a:p>
            <a:pPr marL="457200" indent="-457200">
              <a:buAutoNum type="arabicPeriod"/>
            </a:pPr>
            <a:endParaRPr lang="en-US" sz="1400" dirty="0">
              <a:latin typeface="Perpetua"/>
              <a:ea typeface="Calibri" panose="020F0502020204030204" pitchFamily="34" charset="0"/>
              <a:cs typeface="Calibri" panose="020F0502020204030204" pitchFamily="34" charset="0"/>
            </a:endParaRPr>
          </a:p>
          <a:p>
            <a:pPr marL="457200" indent="-457200">
              <a:buNone/>
            </a:pPr>
            <a:endParaRPr lang="en-US" sz="1400">
              <a:latin typeface="Perpetua"/>
              <a:ea typeface="Calibri" panose="020F0502020204030204" pitchFamily="34" charset="0"/>
              <a:cs typeface="Calibri" panose="020F0502020204030204" pitchFamily="34" charset="0"/>
            </a:endParaRPr>
          </a:p>
        </p:txBody>
      </p:sp>
      <p:sp>
        <p:nvSpPr>
          <p:cNvPr id="9" name="Date Placeholder 8">
            <a:extLst>
              <a:ext uri="{FF2B5EF4-FFF2-40B4-BE49-F238E27FC236}">
                <a16:creationId xmlns:a16="http://schemas.microsoft.com/office/drawing/2014/main" id="{ACBFE3EA-98AA-7EB1-9B0F-8EAFE1391164}"/>
              </a:ext>
            </a:extLst>
          </p:cNvPr>
          <p:cNvSpPr>
            <a:spLocks noGrp="1"/>
          </p:cNvSpPr>
          <p:nvPr>
            <p:ph type="dt" sz="half" idx="10"/>
          </p:nvPr>
        </p:nvSpPr>
        <p:spPr/>
        <p:txBody>
          <a:bodyPr/>
          <a:lstStyle/>
          <a:p>
            <a:fld id="{E77CD51D-C0C4-45A4-9453-5DF12ADBCCF4}" type="datetime1">
              <a:rPr lang="en-US" smtClean="0"/>
              <a:t>3/2/2026</a:t>
            </a:fld>
            <a:endParaRPr lang="en-US"/>
          </a:p>
        </p:txBody>
      </p:sp>
      <p:sp>
        <p:nvSpPr>
          <p:cNvPr id="10" name="Slide Number Placeholder 9">
            <a:extLst>
              <a:ext uri="{FF2B5EF4-FFF2-40B4-BE49-F238E27FC236}">
                <a16:creationId xmlns:a16="http://schemas.microsoft.com/office/drawing/2014/main" id="{1C7E2479-44AE-306A-75D4-893931BB03D3}"/>
              </a:ext>
            </a:extLst>
          </p:cNvPr>
          <p:cNvSpPr>
            <a:spLocks noGrp="1"/>
          </p:cNvSpPr>
          <p:nvPr>
            <p:ph type="sldNum" sz="quarter" idx="12"/>
          </p:nvPr>
        </p:nvSpPr>
        <p:spPr/>
        <p:txBody>
          <a:bodyPr/>
          <a:lstStyle/>
          <a:p>
            <a:fld id="{AF85498A-A7D2-4202-8B58-6C83C98E0B39}" type="slidenum">
              <a:rPr lang="en-US" smtClean="0"/>
              <a:t>11</a:t>
            </a:fld>
            <a:endParaRPr lang="en-US"/>
          </a:p>
        </p:txBody>
      </p:sp>
      <p:sp>
        <p:nvSpPr>
          <p:cNvPr id="7" name="Title 1">
            <a:extLst>
              <a:ext uri="{FF2B5EF4-FFF2-40B4-BE49-F238E27FC236}">
                <a16:creationId xmlns:a16="http://schemas.microsoft.com/office/drawing/2014/main" id="{AE05BCAE-1477-8320-2562-B4F86A0FE1BC}"/>
              </a:ext>
            </a:extLst>
          </p:cNvPr>
          <p:cNvSpPr>
            <a:spLocks noGrp="1"/>
          </p:cNvSpPr>
          <p:nvPr>
            <p:ph type="title"/>
          </p:nvPr>
        </p:nvSpPr>
        <p:spPr>
          <a:xfrm>
            <a:off x="1357832" y="-56088"/>
            <a:ext cx="4744642" cy="1319039"/>
          </a:xfrm>
        </p:spPr>
        <p:txBody>
          <a:bodyPr>
            <a:normAutofit/>
          </a:bodyPr>
          <a:lstStyle/>
          <a:p>
            <a:r>
              <a:rPr lang="en-US" sz="1800" b="1">
                <a:latin typeface="Arial Black"/>
                <a:cs typeface="Arial"/>
              </a:rPr>
              <a:t>References Cited in this Document</a:t>
            </a:r>
            <a:endParaRPr lang="en-US"/>
          </a:p>
        </p:txBody>
      </p:sp>
      <p:cxnSp>
        <p:nvCxnSpPr>
          <p:cNvPr id="11" name="Straight Connector 10">
            <a:extLst>
              <a:ext uri="{FF2B5EF4-FFF2-40B4-BE49-F238E27FC236}">
                <a16:creationId xmlns:a16="http://schemas.microsoft.com/office/drawing/2014/main" id="{8C73E447-0547-4438-36C1-2C0ECE17B289}"/>
              </a:ext>
            </a:extLst>
          </p:cNvPr>
          <p:cNvCxnSpPr>
            <a:cxnSpLocks/>
          </p:cNvCxnSpPr>
          <p:nvPr/>
        </p:nvCxnSpPr>
        <p:spPr>
          <a:xfrm>
            <a:off x="1355811" y="834704"/>
            <a:ext cx="5400482" cy="21086"/>
          </a:xfrm>
          <a:prstGeom prst="line">
            <a:avLst/>
          </a:prstGeom>
          <a:ln w="571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3" name="Picture 3" descr="A logo with a city skyline in the background&#10;&#10;AI-generated content may be incorrect.">
            <a:extLst>
              <a:ext uri="{FF2B5EF4-FFF2-40B4-BE49-F238E27FC236}">
                <a16:creationId xmlns:a16="http://schemas.microsoft.com/office/drawing/2014/main" id="{85D63D18-B056-5C93-C04F-EF5993BA77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0468" t="20212" r="20128" b="20314"/>
          <a:stretch>
            <a:fillRect/>
          </a:stretch>
        </p:blipFill>
        <p:spPr bwMode="auto">
          <a:xfrm>
            <a:off x="222904" y="203850"/>
            <a:ext cx="953051" cy="958938"/>
          </a:xfrm>
          <a:prstGeom prst="flowChartConnector">
            <a:avLst/>
          </a:prstGeom>
          <a:noFill/>
          <a:ln>
            <a:noFill/>
          </a:ln>
          <a:effectLst/>
          <a:extLst>
            <a:ext uri="{909E8E84-426E-40DD-AFC4-6F175D3DCCD1}">
              <a14:hiddenFill xmlns:a14="http://schemas.microsoft.com/office/drawing/2010/main">
                <a:solidFill>
                  <a:srgbClr val="04617B"/>
                </a:solidFill>
              </a14:hiddenFill>
            </a:ex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spTree>
    <p:extLst>
      <p:ext uri="{BB962C8B-B14F-4D97-AF65-F5344CB8AC3E}">
        <p14:creationId xmlns:p14="http://schemas.microsoft.com/office/powerpoint/2010/main" val="2852702300"/>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dfc68a2-ae10-4ffa-b3f4-abe62a45313a">
      <Terms xmlns="http://schemas.microsoft.com/office/infopath/2007/PartnerControls"/>
    </lcf76f155ced4ddcb4097134ff3c332f>
    <TaxCatchAll xmlns="7d18843c-7584-4fd4-885f-9ebd2132272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5C00F2116D4EA4C8DD2167EDA1D90A4" ma:contentTypeVersion="11" ma:contentTypeDescription="Create a new document." ma:contentTypeScope="" ma:versionID="a6a069d3677ceffa0fd58e5ea19d4c30">
  <xsd:schema xmlns:xsd="http://www.w3.org/2001/XMLSchema" xmlns:xs="http://www.w3.org/2001/XMLSchema" xmlns:p="http://schemas.microsoft.com/office/2006/metadata/properties" xmlns:ns2="2dfc68a2-ae10-4ffa-b3f4-abe62a45313a" xmlns:ns3="7d18843c-7584-4fd4-885f-9ebd21322727" targetNamespace="http://schemas.microsoft.com/office/2006/metadata/properties" ma:root="true" ma:fieldsID="a975bc98f7f2d6cbb2cbda3d0f261976" ns2:_="" ns3:_="">
    <xsd:import namespace="2dfc68a2-ae10-4ffa-b3f4-abe62a45313a"/>
    <xsd:import namespace="7d18843c-7584-4fd4-885f-9ebd2132272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fc68a2-ae10-4ffa-b3f4-abe62a4531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99c2756-c3f8-4113-8c05-ab1a31d0654c"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d18843c-7584-4fd4-885f-9ebd2132272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605c630-c0c6-43e9-86d0-4cda70c05801}" ma:internalName="TaxCatchAll" ma:showField="CatchAllData" ma:web="7d18843c-7584-4fd4-885f-9ebd213227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6AE42FC-47CE-49DF-8092-42DBAAAF26DD}">
  <ds:schemaRefs>
    <ds:schemaRef ds:uri="0c2c5283-3706-4d57-bf02-2fa60d99da02"/>
    <ds:schemaRef ds:uri="2dfc68a2-ae10-4ffa-b3f4-abe62a45313a"/>
    <ds:schemaRef ds:uri="7d18843c-7584-4fd4-885f-9ebd2132272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9B7C6BD-59CF-4295-8D57-92F0ABDE5030}">
  <ds:schemaRefs>
    <ds:schemaRef ds:uri="http://schemas.microsoft.com/sharepoint/v3/contenttype/forms"/>
  </ds:schemaRefs>
</ds:datastoreItem>
</file>

<file path=customXml/itemProps3.xml><?xml version="1.0" encoding="utf-8"?>
<ds:datastoreItem xmlns:ds="http://schemas.openxmlformats.org/officeDocument/2006/customXml" ds:itemID="{3DF158BA-4603-4708-A290-8770670338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dfc68a2-ae10-4ffa-b3f4-abe62a45313a"/>
    <ds:schemaRef ds:uri="7d18843c-7584-4fd4-885f-9ebd2132272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11</Slides>
  <Notes>3</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Soil Screening Results</vt:lpstr>
      <vt:lpstr>PowerPoint Presentation</vt:lpstr>
      <vt:lpstr>            Your Results: Soil Lead Levels</vt:lpstr>
      <vt:lpstr>   Where Lead Was Found in Your Yard</vt:lpstr>
      <vt:lpstr>            How We Collected Samples</vt:lpstr>
      <vt:lpstr>PowerPoint Presentation</vt:lpstr>
      <vt:lpstr>            Where Does Soil Lead Come From?</vt:lpstr>
      <vt:lpstr>What Your Results Mean</vt:lpstr>
      <vt:lpstr>            Reducing Exposure to Soil Lead</vt:lpstr>
      <vt:lpstr>References Cited in this Document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Cole Terwilliger</dc:creator>
  <cp:revision>38</cp:revision>
  <cp:lastPrinted>2025-11-13T00:01:39Z</cp:lastPrinted>
  <dcterms:created xsi:type="dcterms:W3CDTF">2025-10-27T22:32:31Z</dcterms:created>
  <dcterms:modified xsi:type="dcterms:W3CDTF">2026-03-03T05:03:15Z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0x010100B5C00F2116D4EA4C8DD2167EDA1D90A4</vt:lpwstr>
  </property>
  <property fmtid="{D5CDD505-2E9C-101B-9397-08002B2CF9AE}" pid="3" name="MediaServiceImageTags">
    <vt:lpwstr/>
  </property>
</Properties>
</file>