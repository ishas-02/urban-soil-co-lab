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comments/modernComment_107_92BCBB82.xml" ContentType="application/vnd.ms-powerpoint.comments+xml"/>
  <Override PartName="/ppt/revisionInfo.xml" ContentType="application/vnd.ms-powerpoint.revision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4"/>
  </p:sldMasterIdLst>
  <p:notesMasterIdLst>
    <p:notesMasterId r:id="rId9"/>
  </p:notesMasterIdLst>
  <p:handoutMasterIdLst>
    <p:handoutMasterId r:id="rId10"/>
  </p:handoutMasterIdLst>
  <p:sldIdLst>
    <p:sldId id="257" r:id="rId5"/>
    <p:sldId id="273" r:id="rId6"/>
    <p:sldId id="269" r:id="rId7"/>
    <p:sldId id="263" r:id="rId8"/>
  </p:sldIdLst>
  <p:sldSz cx="7772400" cy="100584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authors.xml><?xml version="1.0" encoding="utf-8"?>
<p188:authorLst xmlns:a="http://schemas.openxmlformats.org/drawingml/2006/main" xmlns:r="http://schemas.openxmlformats.org/officeDocument/2006/relationships" xmlns:p188="http://schemas.microsoft.com/office/powerpoint/2018/8/main">
  <p188:author id="{A5DD640C-C744-E7CA-032A-C16463CA340C}" name="Leila Tufekci" initials="LT" userId="S::leilaays@buffalo.edu::7d24a4fb-3081-4250-84a8-e8aaafff8633" providerId="AD"/>
  <p188:author id="{CC4A2A3F-1530-EB32-106A-B872D3915608}" name="Lily Zent" initials="LZ" userId="S::lilyzent@buffalo.edu::0c14848e-08db-4eeb-9407-6e22baa75dc4" providerId="AD"/>
  <p188:author id="{51209FD0-B1C6-01DC-9620-97BA2F7BA4AD}" name="Marisa Manheim" initials="MM" userId="S::mmanheim@buffalo.edu::6d0ffa6d-af00-4a24-a722-1929312d7d0f" providerId="AD"/>
</p188:authorLst>
</file>

<file path=ppt/presProps.xml><?xml version="1.0" encoding="utf-8"?>
<p:presentationPr xmlns:a="http://schemas.openxmlformats.org/drawingml/2006/main" xmlns:r="http://schemas.openxmlformats.org/officeDocument/2006/relationships" xmlns:p="http://schemas.openxmlformats.org/presentationml/2006/main">
  <p:clrMru>
    <a:srgbClr val="005BBA"/>
    <a:srgbClr val="FF221F"/>
    <a:srgbClr val="FF3430"/>
    <a:srgbClr val="FF4D00"/>
    <a:srgbClr val="FF5500"/>
    <a:srgbClr val="0066CC"/>
    <a:srgbClr val="9E57D4"/>
    <a:srgbClr val="FF5454"/>
    <a:srgbClr val="005BBB"/>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9E1DF11-A0FC-4E6A-AEEC-8ED5BBE9C614}" v="145" dt="2026-04-21T13:30:40.861"/>
    <p1510:client id="{B961DA65-9606-461C-B6C5-74D3BC955147}" v="4" dt="2026-04-21T13:14:38.825"/>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theme" Target="theme/theme1.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viewProps" Target="viewProps.xml"/><Relationship Id="rId2" Type="http://schemas.openxmlformats.org/officeDocument/2006/relationships/customXml" Target="../customXml/item2.xml"/><Relationship Id="rId16" Type="http://schemas.microsoft.com/office/2018/10/relationships/authors" Target="author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presProps" Target="presProps.xml"/><Relationship Id="rId5" Type="http://schemas.openxmlformats.org/officeDocument/2006/relationships/slide" Target="slides/slide1.xml"/><Relationship Id="rId15" Type="http://schemas.microsoft.com/office/2015/10/relationships/revisionInfo" Target="revisionInfo.xml"/><Relationship Id="rId10" Type="http://schemas.openxmlformats.org/officeDocument/2006/relationships/handoutMaster" Target="handoutMasters/handoutMaster1.xml"/><Relationship Id="rId4" Type="http://schemas.openxmlformats.org/officeDocument/2006/relationships/slideMaster" Target="slideMasters/slideMaster1.xml"/><Relationship Id="rId9" Type="http://schemas.openxmlformats.org/officeDocument/2006/relationships/notesMaster" Target="notesMasters/notesMaster1.xml"/><Relationship Id="rId14" Type="http://schemas.openxmlformats.org/officeDocument/2006/relationships/tableStyles" Target="tableStyles.xml"/></Relationships>
</file>

<file path=ppt/comments/modernComment_107_92BCBB82.xml><?xml version="1.0" encoding="utf-8"?>
<p188:cmLst xmlns:a="http://schemas.openxmlformats.org/drawingml/2006/main" xmlns:r="http://schemas.openxmlformats.org/officeDocument/2006/relationships" xmlns:p188="http://schemas.microsoft.com/office/powerpoint/2018/8/main">
  <p188:cm id="{DE20B68E-0BE5-49CD-97EF-2293B56227F1}" authorId="{51209FD0-B1C6-01DC-9620-97BA2F7BA4AD}" created="2026-04-21T13:27:54.437">
    <ac:txMkLst xmlns:ac="http://schemas.microsoft.com/office/drawing/2013/main/command">
      <pc:docMk xmlns:pc="http://schemas.microsoft.com/office/powerpoint/2013/main/command"/>
      <pc:sldMk xmlns:pc="http://schemas.microsoft.com/office/powerpoint/2013/main/command" cId="2461842306" sldId="263"/>
      <ac:graphicFrameMk id="2" creationId="{47CDCC5E-9C15-E3F5-3F43-41BC49894F59}"/>
      <ac:tblMk/>
      <ac:tcMk rowId="2121768640" colId="706587062"/>
      <ac:txMk cp="0" len="7">
        <ac:context len="8" hash="660429891"/>
      </ac:txMk>
    </ac:txMkLst>
    <p188:pos x="4419219" y="891495"/>
    <p188:txBody>
      <a:bodyPr/>
      <a:lstStyle/>
      <a:p>
        <a:r>
          <a:rPr lang="en-US"/>
          <a:t>If either Front or Backyard are not sampled, enter "Not sampled" for each column</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EFB130BD-FE6A-28EF-D312-D9ADEB3D8C98}"/>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59F72886-E0B7-7EC5-DF2B-62227BF0F923}"/>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53883EC7-3B6C-426B-9868-E849428E1665}" type="datetime1">
              <a:rPr lang="en-US" smtClean="0"/>
              <a:t>5/25/2026</a:t>
            </a:fld>
            <a:endParaRPr lang="en-US"/>
          </a:p>
        </p:txBody>
      </p:sp>
      <p:sp>
        <p:nvSpPr>
          <p:cNvPr id="4" name="Footer Placeholder 3">
            <a:extLst>
              <a:ext uri="{FF2B5EF4-FFF2-40B4-BE49-F238E27FC236}">
                <a16:creationId xmlns:a16="http://schemas.microsoft.com/office/drawing/2014/main" id="{74369666-E798-18F1-5918-94AAE922B459}"/>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264AB7EB-1EC3-28EF-787E-65F878CAB183}"/>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887A5266-8F6A-4B55-8361-6E91A883FD44}" type="slidenum">
              <a:rPr lang="en-US" smtClean="0"/>
              <a:t>‹#›</a:t>
            </a:fld>
            <a:endParaRPr lang="en-US"/>
          </a:p>
        </p:txBody>
      </p:sp>
    </p:spTree>
    <p:extLst>
      <p:ext uri="{BB962C8B-B14F-4D97-AF65-F5344CB8AC3E}">
        <p14:creationId xmlns:p14="http://schemas.microsoft.com/office/powerpoint/2010/main" val="3829883620"/>
      </p:ext>
    </p:extLst>
  </p:cSld>
  <p:clrMap bg1="lt1" tx1="dk1" bg2="lt2" tx2="dk2" accent1="accent1" accent2="accent2" accent3="accent3" accent4="accent4" accent5="accent5" accent6="accent6" hlink="hlink" folHlink="folHlink"/>
  <p:hf hdr="0" ftr="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8899A4A-3FCE-4140-B4FF-E28028908587}" type="datetime1">
              <a:rPr lang="en-US" smtClean="0"/>
              <a:t>5/25/2026</a:t>
            </a:fld>
            <a:endParaRPr lang="en-US"/>
          </a:p>
        </p:txBody>
      </p:sp>
      <p:sp>
        <p:nvSpPr>
          <p:cNvPr id="4" name="Slide Image Placeholder 3"/>
          <p:cNvSpPr>
            <a:spLocks noGrp="1" noRot="1" noChangeAspect="1"/>
          </p:cNvSpPr>
          <p:nvPr>
            <p:ph type="sldImg" idx="2"/>
          </p:nvPr>
        </p:nvSpPr>
        <p:spPr>
          <a:xfrm>
            <a:off x="2236788" y="1143000"/>
            <a:ext cx="23844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841F373-3F72-4E38-A4CD-D01EEFBBC30D}" type="slidenum">
              <a:rPr lang="en-US" smtClean="0"/>
              <a:t>‹#›</a:t>
            </a:fld>
            <a:endParaRPr lang="en-US"/>
          </a:p>
        </p:txBody>
      </p:sp>
    </p:spTree>
    <p:extLst>
      <p:ext uri="{BB962C8B-B14F-4D97-AF65-F5344CB8AC3E}">
        <p14:creationId xmlns:p14="http://schemas.microsoft.com/office/powerpoint/2010/main" val="2602720025"/>
      </p:ext>
    </p:extLst>
  </p:cSld>
  <p:clrMap bg1="lt1" tx1="dk1" bg2="lt2" tx2="dk2" accent1="accent1" accent2="accent2" accent3="accent3" accent4="accent4" accent5="accent5" accent6="accent6" hlink="hlink" folHlink="folHlink"/>
  <p:hf hdr="0" ftr="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82930" y="1646133"/>
            <a:ext cx="6606540" cy="3501813"/>
          </a:xfrm>
        </p:spPr>
        <p:txBody>
          <a:bodyPr anchor="b"/>
          <a:lstStyle>
            <a:lvl1pPr algn="ctr">
              <a:defRPr sz="5100"/>
            </a:lvl1pPr>
          </a:lstStyle>
          <a:p>
            <a:r>
              <a:rPr lang="en-US"/>
              <a:t>Click to edit Master title style</a:t>
            </a:r>
          </a:p>
        </p:txBody>
      </p:sp>
      <p:sp>
        <p:nvSpPr>
          <p:cNvPr id="3" name="Subtitle 2"/>
          <p:cNvSpPr>
            <a:spLocks noGrp="1"/>
          </p:cNvSpPr>
          <p:nvPr>
            <p:ph type="subTitle" idx="1"/>
          </p:nvPr>
        </p:nvSpPr>
        <p:spPr>
          <a:xfrm>
            <a:off x="971550" y="5282989"/>
            <a:ext cx="5829300" cy="2428451"/>
          </a:xfrm>
        </p:spPr>
        <p:txBody>
          <a:bodyPr/>
          <a:lstStyle>
            <a:lvl1pPr marL="0" indent="0" algn="ctr">
              <a:buNone/>
              <a:defRPr sz="2040"/>
            </a:lvl1pPr>
            <a:lvl2pPr marL="388620" indent="0" algn="ctr">
              <a:buNone/>
              <a:defRPr sz="1700"/>
            </a:lvl2pPr>
            <a:lvl3pPr marL="777240" indent="0" algn="ctr">
              <a:buNone/>
              <a:defRPr sz="1530"/>
            </a:lvl3pPr>
            <a:lvl4pPr marL="1165860" indent="0" algn="ctr">
              <a:buNone/>
              <a:defRPr sz="1360"/>
            </a:lvl4pPr>
            <a:lvl5pPr marL="1554480" indent="0" algn="ctr">
              <a:buNone/>
              <a:defRPr sz="1360"/>
            </a:lvl5pPr>
            <a:lvl6pPr marL="1943100" indent="0" algn="ctr">
              <a:buNone/>
              <a:defRPr sz="1360"/>
            </a:lvl6pPr>
            <a:lvl7pPr marL="2331720" indent="0" algn="ctr">
              <a:buNone/>
              <a:defRPr sz="1360"/>
            </a:lvl7pPr>
            <a:lvl8pPr marL="2720340" indent="0" algn="ctr">
              <a:buNone/>
              <a:defRPr sz="1360"/>
            </a:lvl8pPr>
            <a:lvl9pPr marL="3108960" indent="0" algn="ctr">
              <a:buNone/>
              <a:defRPr sz="1360"/>
            </a:lvl9pPr>
          </a:lstStyle>
          <a:p>
            <a:r>
              <a:rPr lang="en-US"/>
              <a:t>Click to edit Master subtitle style</a:t>
            </a:r>
          </a:p>
        </p:txBody>
      </p:sp>
      <p:sp>
        <p:nvSpPr>
          <p:cNvPr id="4" name="Date Placeholder 3"/>
          <p:cNvSpPr>
            <a:spLocks noGrp="1"/>
          </p:cNvSpPr>
          <p:nvPr>
            <p:ph type="dt" sz="half" idx="10"/>
          </p:nvPr>
        </p:nvSpPr>
        <p:spPr/>
        <p:txBody>
          <a:bodyPr/>
          <a:lstStyle/>
          <a:p>
            <a:fld id="{ABC81074-3128-4680-AF74-C8F155151E2D}" type="datetime1">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53737051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AA2AF5B0-4F54-4AE7-A208-3CE9354CAE71}" type="datetime1">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9118811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30305" y="2507618"/>
            <a:ext cx="6703695" cy="4184014"/>
          </a:xfrm>
        </p:spPr>
        <p:txBody>
          <a:bodyPr anchor="b"/>
          <a:lstStyle>
            <a:lvl1pPr>
              <a:defRPr sz="5100"/>
            </a:lvl1pPr>
          </a:lstStyle>
          <a:p>
            <a:r>
              <a:rPr lang="en-US"/>
              <a:t>Click to edit Master title style</a:t>
            </a:r>
          </a:p>
        </p:txBody>
      </p:sp>
      <p:sp>
        <p:nvSpPr>
          <p:cNvPr id="3" name="Text Placeholder 2"/>
          <p:cNvSpPr>
            <a:spLocks noGrp="1"/>
          </p:cNvSpPr>
          <p:nvPr>
            <p:ph type="body" idx="1"/>
          </p:nvPr>
        </p:nvSpPr>
        <p:spPr>
          <a:xfrm>
            <a:off x="530305" y="6731215"/>
            <a:ext cx="6703695" cy="2200274"/>
          </a:xfrm>
        </p:spPr>
        <p:txBody>
          <a:bodyPr/>
          <a:lstStyle>
            <a:lvl1pPr marL="0" indent="0">
              <a:buNone/>
              <a:defRPr sz="2040">
                <a:solidFill>
                  <a:schemeClr val="tx1">
                    <a:tint val="82000"/>
                  </a:schemeClr>
                </a:solidFill>
              </a:defRPr>
            </a:lvl1pPr>
            <a:lvl2pPr marL="388620" indent="0">
              <a:buNone/>
              <a:defRPr sz="1700">
                <a:solidFill>
                  <a:schemeClr val="tx1">
                    <a:tint val="82000"/>
                  </a:schemeClr>
                </a:solidFill>
              </a:defRPr>
            </a:lvl2pPr>
            <a:lvl3pPr marL="777240" indent="0">
              <a:buNone/>
              <a:defRPr sz="1530">
                <a:solidFill>
                  <a:schemeClr val="tx1">
                    <a:tint val="82000"/>
                  </a:schemeClr>
                </a:solidFill>
              </a:defRPr>
            </a:lvl3pPr>
            <a:lvl4pPr marL="1165860" indent="0">
              <a:buNone/>
              <a:defRPr sz="1360">
                <a:solidFill>
                  <a:schemeClr val="tx1">
                    <a:tint val="82000"/>
                  </a:schemeClr>
                </a:solidFill>
              </a:defRPr>
            </a:lvl4pPr>
            <a:lvl5pPr marL="1554480" indent="0">
              <a:buNone/>
              <a:defRPr sz="1360">
                <a:solidFill>
                  <a:schemeClr val="tx1">
                    <a:tint val="82000"/>
                  </a:schemeClr>
                </a:solidFill>
              </a:defRPr>
            </a:lvl5pPr>
            <a:lvl6pPr marL="1943100" indent="0">
              <a:buNone/>
              <a:defRPr sz="1360">
                <a:solidFill>
                  <a:schemeClr val="tx1">
                    <a:tint val="82000"/>
                  </a:schemeClr>
                </a:solidFill>
              </a:defRPr>
            </a:lvl6pPr>
            <a:lvl7pPr marL="2331720" indent="0">
              <a:buNone/>
              <a:defRPr sz="1360">
                <a:solidFill>
                  <a:schemeClr val="tx1">
                    <a:tint val="82000"/>
                  </a:schemeClr>
                </a:solidFill>
              </a:defRPr>
            </a:lvl7pPr>
            <a:lvl8pPr marL="2720340" indent="0">
              <a:buNone/>
              <a:defRPr sz="1360">
                <a:solidFill>
                  <a:schemeClr val="tx1">
                    <a:tint val="82000"/>
                  </a:schemeClr>
                </a:solidFill>
              </a:defRPr>
            </a:lvl8pPr>
            <a:lvl9pPr marL="3108960" indent="0">
              <a:buNone/>
              <a:defRPr sz="1360">
                <a:solidFill>
                  <a:schemeClr val="tx1">
                    <a:tint val="82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817E5F1E-8F60-4685-A202-6F0C81CF0EEC}" type="datetime1">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5223265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534353" y="2677584"/>
            <a:ext cx="3303270" cy="6381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3934778" y="2677584"/>
            <a:ext cx="3303270" cy="63819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B09EF5B1-D415-4206-A82F-FB47D399BA21}" type="datetime1">
              <a:rPr lang="en-US" smtClean="0"/>
              <a:t>5/25/2026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14136056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35365" y="535519"/>
            <a:ext cx="6703695" cy="1944159"/>
          </a:xfrm>
        </p:spPr>
        <p:txBody>
          <a:bodyPr/>
          <a:lstStyle/>
          <a:p>
            <a:r>
              <a:rPr lang="en-US"/>
              <a:t>Click to edit Master title style</a:t>
            </a:r>
          </a:p>
        </p:txBody>
      </p:sp>
      <p:sp>
        <p:nvSpPr>
          <p:cNvPr id="3" name="Text Placeholder 2"/>
          <p:cNvSpPr>
            <a:spLocks noGrp="1"/>
          </p:cNvSpPr>
          <p:nvPr>
            <p:ph type="body" idx="1"/>
          </p:nvPr>
        </p:nvSpPr>
        <p:spPr>
          <a:xfrm>
            <a:off x="535366" y="2465706"/>
            <a:ext cx="3288089" cy="1208404"/>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n-US"/>
              <a:t>Click to edit Master text styles</a:t>
            </a:r>
          </a:p>
        </p:txBody>
      </p:sp>
      <p:sp>
        <p:nvSpPr>
          <p:cNvPr id="4" name="Content Placeholder 3"/>
          <p:cNvSpPr>
            <a:spLocks noGrp="1"/>
          </p:cNvSpPr>
          <p:nvPr>
            <p:ph sz="half" idx="2"/>
          </p:nvPr>
        </p:nvSpPr>
        <p:spPr>
          <a:xfrm>
            <a:off x="535366" y="3674110"/>
            <a:ext cx="3288089" cy="5404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3934778" y="2465706"/>
            <a:ext cx="3304282" cy="1208404"/>
          </a:xfrm>
        </p:spPr>
        <p:txBody>
          <a:bodyPr anchor="b"/>
          <a:lstStyle>
            <a:lvl1pPr marL="0" indent="0">
              <a:buNone/>
              <a:defRPr sz="2040" b="1"/>
            </a:lvl1pPr>
            <a:lvl2pPr marL="388620" indent="0">
              <a:buNone/>
              <a:defRPr sz="1700" b="1"/>
            </a:lvl2pPr>
            <a:lvl3pPr marL="777240" indent="0">
              <a:buNone/>
              <a:defRPr sz="1530" b="1"/>
            </a:lvl3pPr>
            <a:lvl4pPr marL="1165860" indent="0">
              <a:buNone/>
              <a:defRPr sz="1360" b="1"/>
            </a:lvl4pPr>
            <a:lvl5pPr marL="1554480" indent="0">
              <a:buNone/>
              <a:defRPr sz="1360" b="1"/>
            </a:lvl5pPr>
            <a:lvl6pPr marL="1943100" indent="0">
              <a:buNone/>
              <a:defRPr sz="1360" b="1"/>
            </a:lvl6pPr>
            <a:lvl7pPr marL="2331720" indent="0">
              <a:buNone/>
              <a:defRPr sz="1360" b="1"/>
            </a:lvl7pPr>
            <a:lvl8pPr marL="2720340" indent="0">
              <a:buNone/>
              <a:defRPr sz="1360" b="1"/>
            </a:lvl8pPr>
            <a:lvl9pPr marL="3108960" indent="0">
              <a:buNone/>
              <a:defRPr sz="1360" b="1"/>
            </a:lvl9pPr>
          </a:lstStyle>
          <a:p>
            <a:pPr lvl="0"/>
            <a:r>
              <a:rPr lang="en-US"/>
              <a:t>Click to edit Master text styles</a:t>
            </a:r>
          </a:p>
        </p:txBody>
      </p:sp>
      <p:sp>
        <p:nvSpPr>
          <p:cNvPr id="6" name="Content Placeholder 5"/>
          <p:cNvSpPr>
            <a:spLocks noGrp="1"/>
          </p:cNvSpPr>
          <p:nvPr>
            <p:ph sz="quarter" idx="4"/>
          </p:nvPr>
        </p:nvSpPr>
        <p:spPr>
          <a:xfrm>
            <a:off x="3934778" y="3674110"/>
            <a:ext cx="3304282" cy="540406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A33CC9D5-F9D1-40CF-8505-2D33497BF4E9}" type="datetime1">
              <a:rPr lang="en-US" smtClean="0"/>
              <a:t>5/25/2026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298550423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C56F785-6734-45DB-87AF-3AC118D0F35A}" type="datetime1">
              <a:rPr lang="en-US" smtClean="0"/>
              <a:t>5/25/2026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349166252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E254923-DB1C-45AB-B139-662E574EE105}" type="datetime1">
              <a:rPr lang="en-US" smtClean="0"/>
              <a:t>5/25/2026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35857370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5365" y="670560"/>
            <a:ext cx="2506801" cy="2346960"/>
          </a:xfrm>
        </p:spPr>
        <p:txBody>
          <a:bodyPr anchor="b"/>
          <a:lstStyle>
            <a:lvl1pPr>
              <a:defRPr sz="2720"/>
            </a:lvl1pPr>
          </a:lstStyle>
          <a:p>
            <a:r>
              <a:rPr lang="en-US"/>
              <a:t>Click to edit Master title style</a:t>
            </a:r>
          </a:p>
        </p:txBody>
      </p:sp>
      <p:sp>
        <p:nvSpPr>
          <p:cNvPr id="3" name="Content Placeholder 2"/>
          <p:cNvSpPr>
            <a:spLocks noGrp="1"/>
          </p:cNvSpPr>
          <p:nvPr>
            <p:ph idx="1"/>
          </p:nvPr>
        </p:nvSpPr>
        <p:spPr>
          <a:xfrm>
            <a:off x="3304282" y="1448226"/>
            <a:ext cx="3934778" cy="7147983"/>
          </a:xfrm>
        </p:spPr>
        <p:txBody>
          <a:bodyPr/>
          <a:lstStyle>
            <a:lvl1pPr>
              <a:defRPr sz="2720"/>
            </a:lvl1pPr>
            <a:lvl2pPr>
              <a:defRPr sz="2380"/>
            </a:lvl2pPr>
            <a:lvl3pPr>
              <a:defRPr sz="2040"/>
            </a:lvl3pPr>
            <a:lvl4pPr>
              <a:defRPr sz="1700"/>
            </a:lvl4pPr>
            <a:lvl5pPr>
              <a:defRPr sz="1700"/>
            </a:lvl5pPr>
            <a:lvl6pPr>
              <a:defRPr sz="1700"/>
            </a:lvl6pPr>
            <a:lvl7pPr>
              <a:defRPr sz="1700"/>
            </a:lvl7pPr>
            <a:lvl8pPr>
              <a:defRPr sz="1700"/>
            </a:lvl8pPr>
            <a:lvl9pPr>
              <a:defRPr sz="17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535365" y="3017520"/>
            <a:ext cx="2506801" cy="5590329"/>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n-US"/>
              <a:t>Click to edit Master text styles</a:t>
            </a:r>
          </a:p>
        </p:txBody>
      </p:sp>
      <p:sp>
        <p:nvSpPr>
          <p:cNvPr id="5" name="Date Placeholder 4"/>
          <p:cNvSpPr>
            <a:spLocks noGrp="1"/>
          </p:cNvSpPr>
          <p:nvPr>
            <p:ph type="dt" sz="half" idx="10"/>
          </p:nvPr>
        </p:nvSpPr>
        <p:spPr/>
        <p:txBody>
          <a:bodyPr/>
          <a:lstStyle/>
          <a:p>
            <a:fld id="{2E09C110-74E6-4699-B1E8-87CBED288B1F}" type="datetime1">
              <a:rPr lang="en-US" smtClean="0"/>
              <a:t>5/25/2026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396619111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35365" y="670560"/>
            <a:ext cx="2506801" cy="2346960"/>
          </a:xfrm>
        </p:spPr>
        <p:txBody>
          <a:bodyPr anchor="b"/>
          <a:lstStyle>
            <a:lvl1pPr>
              <a:defRPr sz="2720"/>
            </a:lvl1pPr>
          </a:lstStyle>
          <a:p>
            <a:r>
              <a:rPr lang="en-US"/>
              <a:t>Click to edit Master title style</a:t>
            </a:r>
          </a:p>
        </p:txBody>
      </p:sp>
      <p:sp>
        <p:nvSpPr>
          <p:cNvPr id="3" name="Picture Placeholder 2"/>
          <p:cNvSpPr>
            <a:spLocks noGrp="1" noChangeAspect="1"/>
          </p:cNvSpPr>
          <p:nvPr>
            <p:ph type="pic" idx="1"/>
          </p:nvPr>
        </p:nvSpPr>
        <p:spPr>
          <a:xfrm>
            <a:off x="3304282" y="1448226"/>
            <a:ext cx="3934778" cy="7147983"/>
          </a:xfrm>
        </p:spPr>
        <p:txBody>
          <a:bodyPr anchor="t"/>
          <a:lstStyle>
            <a:lvl1pPr marL="0" indent="0">
              <a:buNone/>
              <a:defRPr sz="2720"/>
            </a:lvl1pPr>
            <a:lvl2pPr marL="388620" indent="0">
              <a:buNone/>
              <a:defRPr sz="2380"/>
            </a:lvl2pPr>
            <a:lvl3pPr marL="777240" indent="0">
              <a:buNone/>
              <a:defRPr sz="2040"/>
            </a:lvl3pPr>
            <a:lvl4pPr marL="1165860" indent="0">
              <a:buNone/>
              <a:defRPr sz="1700"/>
            </a:lvl4pPr>
            <a:lvl5pPr marL="1554480" indent="0">
              <a:buNone/>
              <a:defRPr sz="1700"/>
            </a:lvl5pPr>
            <a:lvl6pPr marL="1943100" indent="0">
              <a:buNone/>
              <a:defRPr sz="1700"/>
            </a:lvl6pPr>
            <a:lvl7pPr marL="2331720" indent="0">
              <a:buNone/>
              <a:defRPr sz="1700"/>
            </a:lvl7pPr>
            <a:lvl8pPr marL="2720340" indent="0">
              <a:buNone/>
              <a:defRPr sz="1700"/>
            </a:lvl8pPr>
            <a:lvl9pPr marL="3108960" indent="0">
              <a:buNone/>
              <a:defRPr sz="1700"/>
            </a:lvl9pPr>
          </a:lstStyle>
          <a:p>
            <a:r>
              <a:rPr lang="en-US"/>
              <a:t>Click icon to add picture</a:t>
            </a:r>
          </a:p>
        </p:txBody>
      </p:sp>
      <p:sp>
        <p:nvSpPr>
          <p:cNvPr id="4" name="Text Placeholder 3"/>
          <p:cNvSpPr>
            <a:spLocks noGrp="1"/>
          </p:cNvSpPr>
          <p:nvPr>
            <p:ph type="body" sz="half" idx="2"/>
          </p:nvPr>
        </p:nvSpPr>
        <p:spPr>
          <a:xfrm>
            <a:off x="535365" y="3017520"/>
            <a:ext cx="2506801" cy="5590329"/>
          </a:xfrm>
        </p:spPr>
        <p:txBody>
          <a:bodyPr/>
          <a:lstStyle>
            <a:lvl1pPr marL="0" indent="0">
              <a:buNone/>
              <a:defRPr sz="1360"/>
            </a:lvl1pPr>
            <a:lvl2pPr marL="388620" indent="0">
              <a:buNone/>
              <a:defRPr sz="1190"/>
            </a:lvl2pPr>
            <a:lvl3pPr marL="777240" indent="0">
              <a:buNone/>
              <a:defRPr sz="1020"/>
            </a:lvl3pPr>
            <a:lvl4pPr marL="1165860" indent="0">
              <a:buNone/>
              <a:defRPr sz="850"/>
            </a:lvl4pPr>
            <a:lvl5pPr marL="1554480" indent="0">
              <a:buNone/>
              <a:defRPr sz="850"/>
            </a:lvl5pPr>
            <a:lvl6pPr marL="1943100" indent="0">
              <a:buNone/>
              <a:defRPr sz="850"/>
            </a:lvl6pPr>
            <a:lvl7pPr marL="2331720" indent="0">
              <a:buNone/>
              <a:defRPr sz="850"/>
            </a:lvl7pPr>
            <a:lvl8pPr marL="2720340" indent="0">
              <a:buNone/>
              <a:defRPr sz="850"/>
            </a:lvl8pPr>
            <a:lvl9pPr marL="3108960" indent="0">
              <a:buNone/>
              <a:defRPr sz="850"/>
            </a:lvl9pPr>
          </a:lstStyle>
          <a:p>
            <a:pPr lvl="0"/>
            <a:r>
              <a:rPr lang="en-US"/>
              <a:t>Click to edit Master text styles</a:t>
            </a:r>
          </a:p>
        </p:txBody>
      </p:sp>
      <p:sp>
        <p:nvSpPr>
          <p:cNvPr id="5" name="Date Placeholder 4"/>
          <p:cNvSpPr>
            <a:spLocks noGrp="1"/>
          </p:cNvSpPr>
          <p:nvPr>
            <p:ph type="dt" sz="half" idx="10"/>
          </p:nvPr>
        </p:nvSpPr>
        <p:spPr/>
        <p:txBody>
          <a:bodyPr/>
          <a:lstStyle/>
          <a:p>
            <a:fld id="{23452CDB-C7C8-4CD9-AC35-7D9EB06CFB47}" type="datetime1">
              <a:rPr lang="en-US" smtClean="0"/>
              <a:t>5/25/2026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16096357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F533F489-0747-44C8-8561-DEBBFB78C708}" type="datetime1">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2293220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562124" y="535517"/>
            <a:ext cx="1675924" cy="8524029"/>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534353" y="535517"/>
            <a:ext cx="4930616" cy="852402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6FC26DF6-4002-41AF-9BE4-A98E94BCAAA1}" type="datetime1">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AF85498A-A7D2-4202-8B58-6C83C98E0B39}" type="slidenum">
              <a:rPr lang="en-US" smtClean="0"/>
              <a:t>‹#›</a:t>
            </a:fld>
            <a:endParaRPr lang="en-US"/>
          </a:p>
        </p:txBody>
      </p:sp>
    </p:spTree>
    <p:extLst>
      <p:ext uri="{BB962C8B-B14F-4D97-AF65-F5344CB8AC3E}">
        <p14:creationId xmlns:p14="http://schemas.microsoft.com/office/powerpoint/2010/main" val="164278857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34353" y="535519"/>
            <a:ext cx="6703695" cy="1944159"/>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534353" y="2677584"/>
            <a:ext cx="6703695" cy="6381962"/>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534353" y="9322649"/>
            <a:ext cx="1748790" cy="535517"/>
          </a:xfrm>
          <a:prstGeom prst="rect">
            <a:avLst/>
          </a:prstGeom>
        </p:spPr>
        <p:txBody>
          <a:bodyPr vert="horz" lIns="91440" tIns="45720" rIns="91440" bIns="45720" rtlCol="0" anchor="ctr"/>
          <a:lstStyle>
            <a:lvl1pPr algn="l">
              <a:defRPr sz="1020">
                <a:solidFill>
                  <a:schemeClr val="tx1">
                    <a:tint val="82000"/>
                  </a:schemeClr>
                </a:solidFill>
              </a:defRPr>
            </a:lvl1pPr>
          </a:lstStyle>
          <a:p>
            <a:fld id="{CE07574C-0E39-4F4D-BDD5-E1A25C485172}" type="datetime1">
              <a:rPr lang="en-US" smtClean="0"/>
              <a:t>5/25/2026</a:t>
            </a:fld>
            <a:endParaRPr lang="en-US"/>
          </a:p>
        </p:txBody>
      </p:sp>
      <p:sp>
        <p:nvSpPr>
          <p:cNvPr id="5" name="Footer Placeholder 4"/>
          <p:cNvSpPr>
            <a:spLocks noGrp="1"/>
          </p:cNvSpPr>
          <p:nvPr>
            <p:ph type="ftr" sz="quarter" idx="3"/>
          </p:nvPr>
        </p:nvSpPr>
        <p:spPr>
          <a:xfrm>
            <a:off x="2574608" y="9322649"/>
            <a:ext cx="2623185" cy="535517"/>
          </a:xfrm>
          <a:prstGeom prst="rect">
            <a:avLst/>
          </a:prstGeom>
        </p:spPr>
        <p:txBody>
          <a:bodyPr vert="horz" lIns="91440" tIns="45720" rIns="91440" bIns="45720" rtlCol="0" anchor="ctr"/>
          <a:lstStyle>
            <a:lvl1pPr algn="ctr">
              <a:defRPr sz="1020">
                <a:solidFill>
                  <a:schemeClr val="tx1">
                    <a:tint val="82000"/>
                  </a:schemeClr>
                </a:solidFill>
              </a:defRPr>
            </a:lvl1pPr>
          </a:lstStyle>
          <a:p>
            <a:endParaRPr lang="en-US"/>
          </a:p>
        </p:txBody>
      </p:sp>
      <p:sp>
        <p:nvSpPr>
          <p:cNvPr id="6" name="Slide Number Placeholder 5"/>
          <p:cNvSpPr>
            <a:spLocks noGrp="1"/>
          </p:cNvSpPr>
          <p:nvPr>
            <p:ph type="sldNum" sz="quarter" idx="4"/>
          </p:nvPr>
        </p:nvSpPr>
        <p:spPr>
          <a:xfrm>
            <a:off x="5489258" y="9322649"/>
            <a:ext cx="1748790" cy="535517"/>
          </a:xfrm>
          <a:prstGeom prst="rect">
            <a:avLst/>
          </a:prstGeom>
        </p:spPr>
        <p:txBody>
          <a:bodyPr vert="horz" lIns="91440" tIns="45720" rIns="91440" bIns="45720" rtlCol="0" anchor="ctr"/>
          <a:lstStyle>
            <a:lvl1pPr algn="r">
              <a:defRPr sz="1020">
                <a:solidFill>
                  <a:schemeClr val="tx1">
                    <a:tint val="82000"/>
                  </a:schemeClr>
                </a:solidFill>
              </a:defRPr>
            </a:lvl1pPr>
          </a:lstStyle>
          <a:p>
            <a:fld id="{AF85498A-A7D2-4202-8B58-6C83C98E0B39}" type="slidenum">
              <a:rPr lang="en-US" smtClean="0"/>
              <a:t>‹#›</a:t>
            </a:fld>
            <a:endParaRPr lang="en-US"/>
          </a:p>
        </p:txBody>
      </p:sp>
    </p:spTree>
    <p:extLst>
      <p:ext uri="{BB962C8B-B14F-4D97-AF65-F5344CB8AC3E}">
        <p14:creationId xmlns:p14="http://schemas.microsoft.com/office/powerpoint/2010/main" val="3655055326"/>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hf hdr="0" ftr="0"/>
  <p:txStyles>
    <p:titleStyle>
      <a:lvl1pPr algn="l" defTabSz="777240" rtl="0" eaLnBrk="1" latinLnBrk="0" hangingPunct="1">
        <a:lnSpc>
          <a:spcPct val="90000"/>
        </a:lnSpc>
        <a:spcBef>
          <a:spcPct val="0"/>
        </a:spcBef>
        <a:buNone/>
        <a:defRPr sz="3740" kern="1200">
          <a:solidFill>
            <a:schemeClr val="tx1"/>
          </a:solidFill>
          <a:latin typeface="+mj-lt"/>
          <a:ea typeface="+mj-ea"/>
          <a:cs typeface="+mj-cs"/>
        </a:defRPr>
      </a:lvl1pPr>
    </p:titleStyle>
    <p:body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p:bodyStyle>
    <p:otherStyle>
      <a:defPPr>
        <a:defRPr lang="en-US"/>
      </a:defPPr>
      <a:lvl1pPr marL="0" algn="l" defTabSz="777240" rtl="0" eaLnBrk="1" latinLnBrk="0" hangingPunct="1">
        <a:defRPr sz="1530" kern="1200">
          <a:solidFill>
            <a:schemeClr val="tx1"/>
          </a:solidFill>
          <a:latin typeface="+mn-lt"/>
          <a:ea typeface="+mn-ea"/>
          <a:cs typeface="+mn-cs"/>
        </a:defRPr>
      </a:lvl1pPr>
      <a:lvl2pPr marL="388620" algn="l" defTabSz="777240" rtl="0" eaLnBrk="1" latinLnBrk="0" hangingPunct="1">
        <a:defRPr sz="1530" kern="1200">
          <a:solidFill>
            <a:schemeClr val="tx1"/>
          </a:solidFill>
          <a:latin typeface="+mn-lt"/>
          <a:ea typeface="+mn-ea"/>
          <a:cs typeface="+mn-cs"/>
        </a:defRPr>
      </a:lvl2pPr>
      <a:lvl3pPr marL="777240" algn="l" defTabSz="777240" rtl="0" eaLnBrk="1" latinLnBrk="0" hangingPunct="1">
        <a:defRPr sz="1530" kern="1200">
          <a:solidFill>
            <a:schemeClr val="tx1"/>
          </a:solidFill>
          <a:latin typeface="+mn-lt"/>
          <a:ea typeface="+mn-ea"/>
          <a:cs typeface="+mn-cs"/>
        </a:defRPr>
      </a:lvl3pPr>
      <a:lvl4pPr marL="1165860" algn="l" defTabSz="777240" rtl="0" eaLnBrk="1" latinLnBrk="0" hangingPunct="1">
        <a:defRPr sz="1530" kern="1200">
          <a:solidFill>
            <a:schemeClr val="tx1"/>
          </a:solidFill>
          <a:latin typeface="+mn-lt"/>
          <a:ea typeface="+mn-ea"/>
          <a:cs typeface="+mn-cs"/>
        </a:defRPr>
      </a:lvl4pPr>
      <a:lvl5pPr marL="1554480" algn="l" defTabSz="777240" rtl="0" eaLnBrk="1" latinLnBrk="0" hangingPunct="1">
        <a:defRPr sz="1530" kern="1200">
          <a:solidFill>
            <a:schemeClr val="tx1"/>
          </a:solidFill>
          <a:latin typeface="+mn-lt"/>
          <a:ea typeface="+mn-ea"/>
          <a:cs typeface="+mn-cs"/>
        </a:defRPr>
      </a:lvl5pPr>
      <a:lvl6pPr marL="1943100" algn="l" defTabSz="777240" rtl="0" eaLnBrk="1" latinLnBrk="0" hangingPunct="1">
        <a:defRPr sz="1530" kern="1200">
          <a:solidFill>
            <a:schemeClr val="tx1"/>
          </a:solidFill>
          <a:latin typeface="+mn-lt"/>
          <a:ea typeface="+mn-ea"/>
          <a:cs typeface="+mn-cs"/>
        </a:defRPr>
      </a:lvl6pPr>
      <a:lvl7pPr marL="2331720" algn="l" defTabSz="777240" rtl="0" eaLnBrk="1" latinLnBrk="0" hangingPunct="1">
        <a:defRPr sz="1530" kern="1200">
          <a:solidFill>
            <a:schemeClr val="tx1"/>
          </a:solidFill>
          <a:latin typeface="+mn-lt"/>
          <a:ea typeface="+mn-ea"/>
          <a:cs typeface="+mn-cs"/>
        </a:defRPr>
      </a:lvl7pPr>
      <a:lvl8pPr marL="2720340" algn="l" defTabSz="777240" rtl="0" eaLnBrk="1" latinLnBrk="0" hangingPunct="1">
        <a:defRPr sz="1530" kern="1200">
          <a:solidFill>
            <a:schemeClr val="tx1"/>
          </a:solidFill>
          <a:latin typeface="+mn-lt"/>
          <a:ea typeface="+mn-ea"/>
          <a:cs typeface="+mn-cs"/>
        </a:defRPr>
      </a:lvl8pPr>
      <a:lvl9pPr marL="3108960" algn="l" defTabSz="777240" rtl="0" eaLnBrk="1" latinLnBrk="0" hangingPunct="1">
        <a:defRPr sz="153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5.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png"/><Relationship Id="rId1" Type="http://schemas.openxmlformats.org/officeDocument/2006/relationships/slideLayout" Target="../slideLayouts/slideLayout5.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1.png"/><Relationship Id="rId2" Type="http://schemas.microsoft.com/office/2018/10/relationships/comments" Target="../comments/modernComment_107_92BCBB8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E8B151-79AD-3D45-265F-240A37E81BAF}"/>
              </a:ext>
            </a:extLst>
          </p:cNvPr>
          <p:cNvSpPr>
            <a:spLocks noGrp="1"/>
          </p:cNvSpPr>
          <p:nvPr>
            <p:ph type="title"/>
          </p:nvPr>
        </p:nvSpPr>
        <p:spPr>
          <a:xfrm>
            <a:off x="-688002" y="1081344"/>
            <a:ext cx="7745550" cy="234785"/>
          </a:xfrm>
        </p:spPr>
        <p:txBody>
          <a:bodyPr>
            <a:noAutofit/>
          </a:bodyPr>
          <a:lstStyle/>
          <a:p>
            <a:pPr algn="ctr"/>
            <a:r>
              <a:rPr lang="en-US" sz="2400" b="1">
                <a:latin typeface="Perpetua"/>
                <a:cs typeface="Arial"/>
              </a:rPr>
              <a:t>Soil Screening Results</a:t>
            </a:r>
          </a:p>
        </p:txBody>
      </p:sp>
      <p:sp>
        <p:nvSpPr>
          <p:cNvPr id="3" name="Content Placeholder 2">
            <a:extLst>
              <a:ext uri="{FF2B5EF4-FFF2-40B4-BE49-F238E27FC236}">
                <a16:creationId xmlns:a16="http://schemas.microsoft.com/office/drawing/2014/main" id="{E18B016F-BE3E-A30E-98DF-79FBC7A05DD4}"/>
              </a:ext>
            </a:extLst>
          </p:cNvPr>
          <p:cNvSpPr>
            <a:spLocks noGrp="1"/>
          </p:cNvSpPr>
          <p:nvPr>
            <p:ph idx="1"/>
          </p:nvPr>
        </p:nvSpPr>
        <p:spPr>
          <a:xfrm>
            <a:off x="833988" y="1905669"/>
            <a:ext cx="6237302" cy="6409321"/>
          </a:xfrm>
        </p:spPr>
        <p:txBody>
          <a:bodyPr vert="horz" lIns="91440" tIns="45720" rIns="91440" bIns="45720" rtlCol="0" anchor="t">
            <a:noAutofit/>
          </a:bodyPr>
          <a:lstStyle/>
          <a:p>
            <a:pPr marL="0" indent="0">
              <a:lnSpc>
                <a:spcPct val="100000"/>
              </a:lnSpc>
              <a:buNone/>
            </a:pPr>
            <a:r>
              <a:rPr lang="en-US" sz="1350">
                <a:highlight>
                  <a:srgbClr val="FFFF00"/>
                </a:highlight>
                <a:latin typeface="Perpetua"/>
                <a:ea typeface="Calibri"/>
                <a:cs typeface="Calibri"/>
              </a:rPr>
              <a:t>Address of Resident from Site Analysis Database  </a:t>
            </a:r>
            <a:r>
              <a:rPr lang="en-US" sz="1350">
                <a:latin typeface="Perpetua"/>
                <a:ea typeface="Calibri"/>
                <a:cs typeface="Calibri"/>
              </a:rPr>
              <a:t>	           </a:t>
            </a:r>
            <a:endParaRPr lang="en-US" sz="1350">
              <a:highlight>
                <a:srgbClr val="FFFF00"/>
              </a:highlight>
              <a:latin typeface="Perpetua"/>
              <a:ea typeface="Calibri"/>
              <a:cs typeface="Calibri"/>
            </a:endParaRPr>
          </a:p>
          <a:p>
            <a:pPr marL="0" indent="0" algn="r">
              <a:lnSpc>
                <a:spcPct val="100000"/>
              </a:lnSpc>
              <a:buNone/>
            </a:pPr>
            <a:r>
              <a:rPr lang="en-US" sz="1400">
                <a:highlight>
                  <a:srgbClr val="FFFF00"/>
                </a:highlight>
                <a:latin typeface="Perpetua"/>
                <a:ea typeface="Calibri"/>
                <a:cs typeface="Calibri"/>
              </a:rPr>
              <a:t>Date</a:t>
            </a:r>
            <a:endParaRPr lang="en-US"/>
          </a:p>
          <a:p>
            <a:pPr marL="0" indent="0">
              <a:lnSpc>
                <a:spcPct val="100000"/>
              </a:lnSpc>
              <a:buNone/>
            </a:pPr>
            <a:r>
              <a:rPr lang="en-US" sz="1350">
                <a:latin typeface="Perpetua"/>
                <a:ea typeface="Calibri"/>
                <a:cs typeface="Calibri"/>
              </a:rPr>
              <a:t>Dear </a:t>
            </a:r>
            <a:r>
              <a:rPr lang="en-US" sz="1350">
                <a:highlight>
                  <a:srgbClr val="FFFF00"/>
                </a:highlight>
                <a:latin typeface="Perpetua"/>
                <a:ea typeface="Calibri"/>
                <a:cs typeface="Calibri"/>
              </a:rPr>
              <a:t>Name of Resident, </a:t>
            </a:r>
          </a:p>
          <a:p>
            <a:pPr marL="0" indent="0">
              <a:lnSpc>
                <a:spcPct val="100000"/>
              </a:lnSpc>
              <a:buNone/>
            </a:pPr>
            <a:r>
              <a:rPr lang="en-US" sz="1350">
                <a:highlight>
                  <a:srgbClr val="FFFFFF"/>
                </a:highlight>
                <a:latin typeface="Perpetua"/>
                <a:ea typeface="Calibri"/>
                <a:cs typeface="Calibri"/>
              </a:rPr>
              <a:t>During your site visit, the Urban Soil Co-Lab at the University at Buffalo completed a soil screening to help characterize potential lead exposure risks on your property. Please note that the Urban Soil Co-Lab screens for lead only and does not assess other soil characteristics such as nutrients, pH, or organic matter. </a:t>
            </a:r>
          </a:p>
          <a:p>
            <a:pPr marL="0" indent="0">
              <a:lnSpc>
                <a:spcPct val="100000"/>
              </a:lnSpc>
              <a:buNone/>
            </a:pPr>
            <a:r>
              <a:rPr lang="en-US" sz="1350">
                <a:highlight>
                  <a:srgbClr val="FFFFFF"/>
                </a:highlight>
                <a:latin typeface="Perpetua"/>
                <a:ea typeface="Calibri"/>
                <a:cs typeface="Calibri"/>
              </a:rPr>
              <a:t>This packet includes:</a:t>
            </a:r>
          </a:p>
          <a:p>
            <a:pPr marL="285750" indent="-285750">
              <a:lnSpc>
                <a:spcPct val="100000"/>
              </a:lnSpc>
              <a:spcBef>
                <a:spcPts val="250"/>
              </a:spcBef>
            </a:pPr>
            <a:r>
              <a:rPr lang="en-US" sz="1350">
                <a:highlight>
                  <a:srgbClr val="FFFFFF"/>
                </a:highlight>
                <a:latin typeface="Perpetua"/>
                <a:ea typeface="Calibri"/>
                <a:cs typeface="Calibri"/>
              </a:rPr>
              <a:t>An explanation of how the Urban Soil Co-Lab collects and analyzes samples</a:t>
            </a:r>
          </a:p>
          <a:p>
            <a:pPr marL="285750" indent="-285750">
              <a:lnSpc>
                <a:spcPct val="100000"/>
              </a:lnSpc>
              <a:spcBef>
                <a:spcPts val="250"/>
              </a:spcBef>
            </a:pPr>
            <a:r>
              <a:rPr lang="en-US" sz="1350">
                <a:highlight>
                  <a:srgbClr val="FFFFFF"/>
                </a:highlight>
                <a:latin typeface="Perpetua"/>
                <a:ea typeface="Calibri"/>
                <a:cs typeface="Calibri"/>
              </a:rPr>
              <a:t>A summary of your results</a:t>
            </a:r>
          </a:p>
          <a:p>
            <a:pPr marL="285750" indent="-285750">
              <a:lnSpc>
                <a:spcPct val="100000"/>
              </a:lnSpc>
              <a:spcBef>
                <a:spcPts val="250"/>
              </a:spcBef>
            </a:pPr>
            <a:r>
              <a:rPr lang="en-US" sz="1350">
                <a:highlight>
                  <a:srgbClr val="FFFFFF"/>
                </a:highlight>
                <a:latin typeface="Perpetua"/>
                <a:ea typeface="Calibri"/>
                <a:cs typeface="Calibri"/>
              </a:rPr>
              <a:t>Information from NY Soil Health on understanding your results and safety practices</a:t>
            </a:r>
            <a:endParaRPr lang="en-US" sz="1350"/>
          </a:p>
          <a:p>
            <a:pPr marL="0" indent="0">
              <a:lnSpc>
                <a:spcPct val="100000"/>
              </a:lnSpc>
              <a:buNone/>
            </a:pPr>
            <a:r>
              <a:rPr lang="en-US" sz="1350">
                <a:highlight>
                  <a:srgbClr val="FFFFFF"/>
                </a:highlight>
                <a:latin typeface="Perpetua"/>
                <a:ea typeface="Calibri"/>
                <a:cs typeface="Calibri"/>
              </a:rPr>
              <a:t>Lead in soil is often associated with deteriorating lead-based paint, particularly around older homes, but can also result from past industrial activity, vehicle emissions, and legacy infrastructure. Soil lead levels can vary significantly even within small areas of a property, so these results may not fully represent conditions across your property. </a:t>
            </a:r>
          </a:p>
          <a:p>
            <a:pPr marL="0" indent="0">
              <a:lnSpc>
                <a:spcPct val="100000"/>
              </a:lnSpc>
              <a:buNone/>
            </a:pPr>
            <a:r>
              <a:rPr lang="en-US" sz="1350">
                <a:highlight>
                  <a:srgbClr val="FFFFFF"/>
                </a:highlight>
                <a:latin typeface="Perpetua"/>
                <a:ea typeface="Calibri"/>
                <a:cs typeface="Calibri"/>
              </a:rPr>
              <a:t>While UB’s soil screening provides a helpful snapshot, it does not identify contamination sources or fully characterize a site. Field-based XRF results are less precise than laboratory analysis and are not intended for regulatory or legal use. UB is not a licensed environmental consultant or laboratory, and these results should not be used for permitting or compliance purposes. We encourage confirmatory testing through accredited laboratories or university extension services.</a:t>
            </a:r>
          </a:p>
          <a:p>
            <a:pPr marL="0" indent="0">
              <a:lnSpc>
                <a:spcPct val="100000"/>
              </a:lnSpc>
              <a:buNone/>
            </a:pPr>
            <a:r>
              <a:rPr lang="en-US" sz="1350">
                <a:highlight>
                  <a:srgbClr val="FFFFFF"/>
                </a:highlight>
                <a:latin typeface="Perpetua"/>
                <a:ea typeface="Calibri"/>
                <a:cs typeface="Calibri"/>
              </a:rPr>
              <a:t>We encourage a proactive approach to limit and prevent exposure. There is no single “safe” level of lead in soil, and risk depends on multiple factors including concentration, soil conditions, and how the space is used. </a:t>
            </a:r>
          </a:p>
          <a:p>
            <a:pPr marL="0" indent="0">
              <a:lnSpc>
                <a:spcPct val="100000"/>
              </a:lnSpc>
              <a:buNone/>
            </a:pPr>
            <a:r>
              <a:rPr lang="en-US" sz="1350" b="1" i="1">
                <a:highlight>
                  <a:srgbClr val="FFFFFF"/>
                </a:highlight>
                <a:latin typeface="Perpetua"/>
                <a:ea typeface="Calibri"/>
                <a:cs typeface="Calibri"/>
              </a:rPr>
              <a:t>All results are kept confidential.</a:t>
            </a:r>
          </a:p>
        </p:txBody>
      </p:sp>
      <p:sp>
        <p:nvSpPr>
          <p:cNvPr id="8" name="Date Placeholder 7">
            <a:extLst>
              <a:ext uri="{FF2B5EF4-FFF2-40B4-BE49-F238E27FC236}">
                <a16:creationId xmlns:a16="http://schemas.microsoft.com/office/drawing/2014/main" id="{C485D864-2BAE-4147-9D89-7FC2D2CB5BF2}"/>
              </a:ext>
            </a:extLst>
          </p:cNvPr>
          <p:cNvSpPr>
            <a:spLocks noGrp="1"/>
          </p:cNvSpPr>
          <p:nvPr>
            <p:ph type="dt" sz="half" idx="10"/>
          </p:nvPr>
        </p:nvSpPr>
        <p:spPr/>
        <p:txBody>
          <a:bodyPr/>
          <a:lstStyle/>
          <a:p>
            <a:fld id="{B0B9C900-5871-4D9E-86A4-9327B88D9118}" type="datetime1">
              <a:rPr lang="en-US" smtClean="0"/>
              <a:t>5/25/2026</a:t>
            </a:fld>
            <a:endParaRPr lang="en-US"/>
          </a:p>
        </p:txBody>
      </p:sp>
      <p:pic>
        <p:nvPicPr>
          <p:cNvPr id="1027" name="Picture 3">
            <a:extLst>
              <a:ext uri="{FF2B5EF4-FFF2-40B4-BE49-F238E27FC236}">
                <a16:creationId xmlns:a16="http://schemas.microsoft.com/office/drawing/2014/main" id="{70B3A7AB-2C08-E916-767A-7C74130E2A8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0468" t="20212" r="20128" b="20314"/>
          <a:stretch>
            <a:fillRect/>
          </a:stretch>
        </p:blipFill>
        <p:spPr bwMode="auto">
          <a:xfrm>
            <a:off x="619898" y="772427"/>
            <a:ext cx="953051" cy="958938"/>
          </a:xfrm>
          <a:prstGeom prst="flowChartConnector">
            <a:avLst/>
          </a:prstGeom>
          <a:noFill/>
          <a:ln>
            <a:noFill/>
          </a:ln>
          <a:effectLst/>
          <a:extLst>
            <a:ext uri="{909E8E84-426E-40DD-AFC4-6F175D3DCCD1}">
              <a14:hiddenFill xmlns:a14="http://schemas.microsoft.com/office/drawing/2010/main">
                <a:solidFill>
                  <a:srgbClr val="04617B"/>
                </a:solidFill>
              </a14:hiddenFill>
            </a:ext>
            <a:ext uri="{91240B29-F687-4F45-9708-019B960494DF}">
              <a14:hiddenLine xmlns:a14="http://schemas.microsoft.com/office/drawing/2010/main" w="25400" algn="ctr">
                <a:solidFill>
                  <a:srgbClr val="000000"/>
                </a:solidFill>
                <a:round/>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sp>
        <p:nvSpPr>
          <p:cNvPr id="4" name="TextBox 3">
            <a:extLst>
              <a:ext uri="{FF2B5EF4-FFF2-40B4-BE49-F238E27FC236}">
                <a16:creationId xmlns:a16="http://schemas.microsoft.com/office/drawing/2014/main" id="{4A07BC64-7087-D19E-535A-E20ABD779CAB}"/>
              </a:ext>
            </a:extLst>
          </p:cNvPr>
          <p:cNvSpPr txBox="1"/>
          <p:nvPr/>
        </p:nvSpPr>
        <p:spPr>
          <a:xfrm>
            <a:off x="833719" y="8363198"/>
            <a:ext cx="3169073" cy="92333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rtl="0"/>
            <a:r>
              <a:rPr lang="en-US" sz="1350" b="1" baseline="0">
                <a:latin typeface="Perpetua"/>
                <a:ea typeface="Calibri"/>
                <a:cs typeface="Segoe UI"/>
              </a:rPr>
              <a:t>Marisa Manheim, Ph.D.</a:t>
            </a:r>
            <a:r>
              <a:rPr lang="en-US" sz="1350" b="1">
                <a:latin typeface="Perpetua"/>
                <a:ea typeface="Calibri"/>
                <a:cs typeface="Segoe UI"/>
              </a:rPr>
              <a:t>​</a:t>
            </a:r>
          </a:p>
          <a:p>
            <a:pPr rtl="0"/>
            <a:r>
              <a:rPr lang="en-US" sz="1350" baseline="0">
                <a:latin typeface="Perpetua"/>
                <a:ea typeface="Calibri"/>
                <a:cs typeface="Segoe UI"/>
              </a:rPr>
              <a:t>Department of Environment &amp; Sustainability</a:t>
            </a:r>
            <a:r>
              <a:rPr lang="en-US" sz="1350">
                <a:latin typeface="Perpetua"/>
                <a:ea typeface="Calibri"/>
                <a:cs typeface="Segoe UI"/>
              </a:rPr>
              <a:t>​</a:t>
            </a:r>
          </a:p>
          <a:p>
            <a:pPr rtl="0"/>
            <a:r>
              <a:rPr lang="en-US" sz="1350" baseline="0">
                <a:latin typeface="Perpetua"/>
                <a:ea typeface="Calibri"/>
                <a:cs typeface="Segoe UI"/>
              </a:rPr>
              <a:t>University at Buffalo</a:t>
            </a:r>
          </a:p>
          <a:p>
            <a:pPr algn="ctr"/>
            <a:endParaRPr lang="en-US" sz="1350">
              <a:latin typeface="Perpetua"/>
            </a:endParaRPr>
          </a:p>
        </p:txBody>
      </p:sp>
      <p:sp>
        <p:nvSpPr>
          <p:cNvPr id="6" name="TextBox 5">
            <a:extLst>
              <a:ext uri="{FF2B5EF4-FFF2-40B4-BE49-F238E27FC236}">
                <a16:creationId xmlns:a16="http://schemas.microsoft.com/office/drawing/2014/main" id="{2326DBA6-F12D-1E8F-B530-525B978A9F19}"/>
              </a:ext>
            </a:extLst>
          </p:cNvPr>
          <p:cNvSpPr txBox="1"/>
          <p:nvPr/>
        </p:nvSpPr>
        <p:spPr>
          <a:xfrm>
            <a:off x="3904721" y="8362506"/>
            <a:ext cx="3169073" cy="113107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350" b="1">
                <a:latin typeface="Perpetua"/>
                <a:ea typeface="Calibri"/>
                <a:cs typeface="Segoe UI"/>
              </a:rPr>
              <a:t>Lourdes Vera</a:t>
            </a:r>
            <a:r>
              <a:rPr lang="en-US" sz="1350" b="1" baseline="0">
                <a:latin typeface="Perpetua"/>
                <a:ea typeface="Calibri"/>
                <a:cs typeface="Segoe UI"/>
              </a:rPr>
              <a:t>, Ph.D.</a:t>
            </a:r>
            <a:r>
              <a:rPr lang="en-US" sz="1350" b="1">
                <a:latin typeface="Perpetua"/>
                <a:ea typeface="Calibri"/>
                <a:cs typeface="Segoe UI"/>
              </a:rPr>
              <a:t>​</a:t>
            </a:r>
          </a:p>
          <a:p>
            <a:pPr rtl="0"/>
            <a:r>
              <a:rPr lang="en-US" sz="1350" baseline="0">
                <a:latin typeface="Perpetua"/>
                <a:ea typeface="Calibri"/>
                <a:cs typeface="Segoe UI"/>
              </a:rPr>
              <a:t>Department of Environment &amp; Sustainability</a:t>
            </a:r>
            <a:r>
              <a:rPr lang="en-US" sz="1350">
                <a:latin typeface="Perpetua"/>
                <a:ea typeface="Calibri"/>
                <a:cs typeface="Segoe UI"/>
              </a:rPr>
              <a:t>​</a:t>
            </a:r>
          </a:p>
          <a:p>
            <a:r>
              <a:rPr lang="en-US" sz="1350">
                <a:latin typeface="Perpetua"/>
                <a:ea typeface="Calibri"/>
                <a:cs typeface="Segoe UI"/>
              </a:rPr>
              <a:t>Department of Criminology &amp; Sociology</a:t>
            </a:r>
          </a:p>
          <a:p>
            <a:r>
              <a:rPr lang="en-US" sz="1350" baseline="0">
                <a:latin typeface="Perpetua"/>
                <a:ea typeface="Calibri"/>
                <a:cs typeface="Segoe UI"/>
              </a:rPr>
              <a:t>University at Buffalo</a:t>
            </a:r>
            <a:endParaRPr lang="en-US" sz="1350">
              <a:latin typeface="Perpetua"/>
              <a:ea typeface="Calibri"/>
              <a:cs typeface="Segoe UI"/>
            </a:endParaRPr>
          </a:p>
          <a:p>
            <a:pPr algn="ctr"/>
            <a:endParaRPr lang="en-US" sz="1350"/>
          </a:p>
        </p:txBody>
      </p:sp>
      <p:cxnSp>
        <p:nvCxnSpPr>
          <p:cNvPr id="12" name="Straight Connector 11">
            <a:extLst>
              <a:ext uri="{FF2B5EF4-FFF2-40B4-BE49-F238E27FC236}">
                <a16:creationId xmlns:a16="http://schemas.microsoft.com/office/drawing/2014/main" id="{7FB0371A-0660-BD70-FDC9-B4A00AA5FEB5}"/>
              </a:ext>
            </a:extLst>
          </p:cNvPr>
          <p:cNvCxnSpPr>
            <a:cxnSpLocks/>
          </p:cNvCxnSpPr>
          <p:nvPr/>
        </p:nvCxnSpPr>
        <p:spPr>
          <a:xfrm>
            <a:off x="1752805" y="1403281"/>
            <a:ext cx="5400482" cy="21086"/>
          </a:xfrm>
          <a:prstGeom prst="line">
            <a:avLst/>
          </a:prstGeom>
          <a:ln w="571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5" name="Slide Number Placeholder 4">
            <a:extLst>
              <a:ext uri="{FF2B5EF4-FFF2-40B4-BE49-F238E27FC236}">
                <a16:creationId xmlns:a16="http://schemas.microsoft.com/office/drawing/2014/main" id="{1ACDC6A6-6568-7FF0-73B5-41A79DA85523}"/>
              </a:ext>
            </a:extLst>
          </p:cNvPr>
          <p:cNvSpPr>
            <a:spLocks noGrp="1"/>
          </p:cNvSpPr>
          <p:nvPr>
            <p:ph type="sldNum" sz="quarter" idx="12"/>
          </p:nvPr>
        </p:nvSpPr>
        <p:spPr/>
        <p:txBody>
          <a:bodyPr/>
          <a:lstStyle/>
          <a:p>
            <a:fld id="{AF85498A-A7D2-4202-8B58-6C83C98E0B39}" type="slidenum">
              <a:rPr lang="en-US" smtClean="0"/>
              <a:t>1</a:t>
            </a:fld>
            <a:endParaRPr lang="en-US"/>
          </a:p>
        </p:txBody>
      </p:sp>
    </p:spTree>
    <p:extLst>
      <p:ext uri="{BB962C8B-B14F-4D97-AF65-F5344CB8AC3E}">
        <p14:creationId xmlns:p14="http://schemas.microsoft.com/office/powerpoint/2010/main" val="2191489586"/>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2E0803A-96BB-1F08-D1E1-C168E3919851}"/>
              </a:ext>
            </a:extLst>
          </p:cNvPr>
          <p:cNvSpPr>
            <a:spLocks noGrp="1"/>
          </p:cNvSpPr>
          <p:nvPr>
            <p:ph type="title"/>
          </p:nvPr>
        </p:nvSpPr>
        <p:spPr>
          <a:xfrm>
            <a:off x="1682467" y="896993"/>
            <a:ext cx="5617985" cy="592688"/>
          </a:xfrm>
        </p:spPr>
        <p:txBody>
          <a:bodyPr>
            <a:normAutofit/>
          </a:bodyPr>
          <a:lstStyle/>
          <a:p>
            <a:r>
              <a:rPr lang="en-US" sz="2400" b="1">
                <a:latin typeface="Perpetua"/>
              </a:rPr>
              <a:t>Sample Collection and Screening Method</a:t>
            </a:r>
            <a:endParaRPr lang="en-US"/>
          </a:p>
        </p:txBody>
      </p:sp>
      <p:sp>
        <p:nvSpPr>
          <p:cNvPr id="4" name="Content Placeholder 3">
            <a:extLst>
              <a:ext uri="{FF2B5EF4-FFF2-40B4-BE49-F238E27FC236}">
                <a16:creationId xmlns:a16="http://schemas.microsoft.com/office/drawing/2014/main" id="{7FFE836C-25D3-7437-44F1-A630C84AF88C}"/>
              </a:ext>
            </a:extLst>
          </p:cNvPr>
          <p:cNvSpPr>
            <a:spLocks noGrp="1"/>
          </p:cNvSpPr>
          <p:nvPr>
            <p:ph sz="half" idx="2"/>
          </p:nvPr>
        </p:nvSpPr>
        <p:spPr>
          <a:xfrm>
            <a:off x="535366" y="1860331"/>
            <a:ext cx="3288089" cy="3019097"/>
          </a:xfrm>
          <a:ln w="12700">
            <a:noFill/>
          </a:ln>
        </p:spPr>
        <p:txBody>
          <a:bodyPr vert="horz" lIns="91440" tIns="45720" rIns="91440" bIns="45720" rtlCol="0" anchor="t">
            <a:normAutofit/>
          </a:bodyPr>
          <a:lstStyle/>
          <a:p>
            <a:pPr marL="0" indent="0">
              <a:buNone/>
            </a:pPr>
            <a:r>
              <a:rPr lang="en-US" sz="1400">
                <a:latin typeface="Perpetua"/>
                <a:ea typeface="Calibri"/>
                <a:cs typeface="Calibri"/>
              </a:rPr>
              <a:t>Our study collects soil samples using the </a:t>
            </a:r>
            <a:r>
              <a:rPr lang="en-US" sz="1400" b="1">
                <a:latin typeface="Perpetua"/>
                <a:ea typeface="Calibri"/>
                <a:cs typeface="Calibri"/>
              </a:rPr>
              <a:t>Pittsburgh Protocol</a:t>
            </a:r>
            <a:r>
              <a:rPr lang="en-US" sz="1400">
                <a:latin typeface="Perpetua"/>
                <a:ea typeface="Calibri"/>
                <a:cs typeface="Calibri"/>
              </a:rPr>
              <a:t>. First, we determine the dimensions of the property and divide the area into approximately </a:t>
            </a:r>
            <a:r>
              <a:rPr lang="en-US" sz="1400" b="1">
                <a:latin typeface="Perpetua"/>
                <a:ea typeface="Calibri"/>
                <a:cs typeface="Calibri"/>
              </a:rPr>
              <a:t>10 ft by 10 ft</a:t>
            </a:r>
            <a:r>
              <a:rPr lang="en-US" sz="1400">
                <a:latin typeface="Perpetua"/>
                <a:ea typeface="Calibri"/>
                <a:cs typeface="Calibri"/>
              </a:rPr>
              <a:t> grid squares. </a:t>
            </a:r>
            <a:endParaRPr lang="en-US" sz="1400">
              <a:latin typeface="Perpetua"/>
            </a:endParaRPr>
          </a:p>
          <a:p>
            <a:pPr marL="0" indent="0">
              <a:buNone/>
            </a:pPr>
            <a:endParaRPr lang="en-US"/>
          </a:p>
        </p:txBody>
      </p:sp>
      <p:sp>
        <p:nvSpPr>
          <p:cNvPr id="6" name="Content Placeholder 5">
            <a:extLst>
              <a:ext uri="{FF2B5EF4-FFF2-40B4-BE49-F238E27FC236}">
                <a16:creationId xmlns:a16="http://schemas.microsoft.com/office/drawing/2014/main" id="{57306DBC-52A0-8F9D-C0AB-C54933DF1297}"/>
              </a:ext>
            </a:extLst>
          </p:cNvPr>
          <p:cNvSpPr>
            <a:spLocks noGrp="1"/>
          </p:cNvSpPr>
          <p:nvPr>
            <p:ph sz="quarter" idx="4"/>
          </p:nvPr>
        </p:nvSpPr>
        <p:spPr>
          <a:xfrm>
            <a:off x="3934778" y="1860331"/>
            <a:ext cx="3304282" cy="3019097"/>
          </a:xfrm>
          <a:ln w="12700">
            <a:noFill/>
          </a:ln>
        </p:spPr>
        <p:txBody>
          <a:bodyPr vert="horz" lIns="91440" tIns="45720" rIns="91440" bIns="45720" rtlCol="0" anchor="t">
            <a:normAutofit/>
          </a:bodyPr>
          <a:lstStyle/>
          <a:p>
            <a:pPr marL="0" indent="0">
              <a:buNone/>
            </a:pPr>
            <a:r>
              <a:rPr lang="en-US" sz="1400">
                <a:latin typeface="Perpetua"/>
                <a:ea typeface="Calibri"/>
                <a:cs typeface="Calibri"/>
              </a:rPr>
              <a:t>Within each grid square, we collect 5 soil cores. Each core is </a:t>
            </a:r>
            <a:r>
              <a:rPr lang="en-US" sz="1400" b="1">
                <a:latin typeface="Perpetua"/>
                <a:ea typeface="Calibri"/>
                <a:cs typeface="Calibri"/>
              </a:rPr>
              <a:t>¾ of an inch wide</a:t>
            </a:r>
            <a:r>
              <a:rPr lang="en-US" sz="1400">
                <a:latin typeface="Perpetua"/>
                <a:ea typeface="Calibri"/>
                <a:cs typeface="Calibri"/>
              </a:rPr>
              <a:t> and </a:t>
            </a:r>
            <a:r>
              <a:rPr lang="en-US" sz="1400" b="1">
                <a:latin typeface="Perpetua"/>
                <a:ea typeface="Calibri"/>
                <a:cs typeface="Calibri"/>
              </a:rPr>
              <a:t>5 inches deep</a:t>
            </a:r>
            <a:r>
              <a:rPr lang="en-US" sz="1400">
                <a:latin typeface="Perpetua"/>
                <a:ea typeface="Calibri"/>
                <a:cs typeface="Calibri"/>
              </a:rPr>
              <a:t>. The 5 cores are then combined into a single </a:t>
            </a:r>
            <a:r>
              <a:rPr lang="en-US" sz="1400" b="1">
                <a:latin typeface="Perpetua"/>
                <a:ea typeface="Calibri"/>
                <a:cs typeface="Calibri"/>
              </a:rPr>
              <a:t>composite sample</a:t>
            </a:r>
            <a:r>
              <a:rPr lang="en-US" sz="1400">
                <a:latin typeface="Perpetua"/>
                <a:ea typeface="Calibri"/>
                <a:cs typeface="Calibri"/>
              </a:rPr>
              <a:t> and labeled with its grid location.</a:t>
            </a:r>
          </a:p>
        </p:txBody>
      </p:sp>
      <p:sp>
        <p:nvSpPr>
          <p:cNvPr id="7" name="Date Placeholder 6">
            <a:extLst>
              <a:ext uri="{FF2B5EF4-FFF2-40B4-BE49-F238E27FC236}">
                <a16:creationId xmlns:a16="http://schemas.microsoft.com/office/drawing/2014/main" id="{EF6BF4DB-26BC-0D18-9AA4-31D171A14BDF}"/>
              </a:ext>
            </a:extLst>
          </p:cNvPr>
          <p:cNvSpPr>
            <a:spLocks noGrp="1"/>
          </p:cNvSpPr>
          <p:nvPr>
            <p:ph type="dt" sz="half" idx="10"/>
          </p:nvPr>
        </p:nvSpPr>
        <p:spPr/>
        <p:txBody>
          <a:bodyPr/>
          <a:lstStyle/>
          <a:p>
            <a:fld id="{825A80E9-E8D0-4BDD-9D21-AC7271F240DB}" type="datetime1">
              <a:rPr lang="en-US" smtClean="0"/>
              <a:t>5/25/2026</a:t>
            </a:fld>
            <a:endParaRPr lang="en-US"/>
          </a:p>
        </p:txBody>
      </p:sp>
      <p:pic>
        <p:nvPicPr>
          <p:cNvPr id="10" name="Picture 9" descr="A logo with a city skyline in the background&#10;&#10;AI-generated content may be incorrect.">
            <a:extLst>
              <a:ext uri="{FF2B5EF4-FFF2-40B4-BE49-F238E27FC236}">
                <a16:creationId xmlns:a16="http://schemas.microsoft.com/office/drawing/2014/main" id="{03D0C316-8185-4D5E-E461-8A8FABC896B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0468" t="20212" r="20128" b="20314"/>
          <a:stretch>
            <a:fillRect/>
          </a:stretch>
        </p:blipFill>
        <p:spPr bwMode="auto">
          <a:xfrm>
            <a:off x="619898" y="772427"/>
            <a:ext cx="953051" cy="958938"/>
          </a:xfrm>
          <a:prstGeom prst="flowChartConnector">
            <a:avLst/>
          </a:prstGeom>
          <a:noFill/>
          <a:ln>
            <a:noFill/>
          </a:ln>
          <a:effectLst/>
          <a:extLst>
            <a:ext uri="{909E8E84-426E-40DD-AFC4-6F175D3DCCD1}">
              <a14:hiddenFill xmlns:a14="http://schemas.microsoft.com/office/drawing/2010/main">
                <a:solidFill>
                  <a:srgbClr val="04617B"/>
                </a:solidFill>
              </a14:hiddenFill>
            </a:ext>
            <a:ext uri="{91240B29-F687-4F45-9708-019B960494DF}">
              <a14:hiddenLine xmlns:a14="http://schemas.microsoft.com/office/drawing/2010/main" w="25400" algn="ctr">
                <a:solidFill>
                  <a:srgbClr val="000000"/>
                </a:solidFill>
                <a:round/>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cxnSp>
        <p:nvCxnSpPr>
          <p:cNvPr id="12" name="Straight Connector 11">
            <a:extLst>
              <a:ext uri="{FF2B5EF4-FFF2-40B4-BE49-F238E27FC236}">
                <a16:creationId xmlns:a16="http://schemas.microsoft.com/office/drawing/2014/main" id="{CF5603C8-A18A-5BCD-93CC-F961821B6134}"/>
              </a:ext>
            </a:extLst>
          </p:cNvPr>
          <p:cNvCxnSpPr>
            <a:cxnSpLocks/>
          </p:cNvCxnSpPr>
          <p:nvPr/>
        </p:nvCxnSpPr>
        <p:spPr>
          <a:xfrm>
            <a:off x="1752805" y="1403281"/>
            <a:ext cx="5400482" cy="21086"/>
          </a:xfrm>
          <a:prstGeom prst="line">
            <a:avLst/>
          </a:prstGeom>
          <a:ln w="571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pic>
        <p:nvPicPr>
          <p:cNvPr id="11" name="Picture 10" descr="A grid of squares with black text&#10;&#10;AI-generated content may be incorrect.">
            <a:extLst>
              <a:ext uri="{FF2B5EF4-FFF2-40B4-BE49-F238E27FC236}">
                <a16:creationId xmlns:a16="http://schemas.microsoft.com/office/drawing/2014/main" id="{EF31452D-5B26-D7B6-E12A-99168427705A}"/>
              </a:ext>
            </a:extLst>
          </p:cNvPr>
          <p:cNvPicPr>
            <a:picLocks noChangeAspect="1"/>
          </p:cNvPicPr>
          <p:nvPr/>
        </p:nvPicPr>
        <p:blipFill>
          <a:blip r:embed="rId3"/>
          <a:srcRect l="70" t="11959" b="254"/>
          <a:stretch>
            <a:fillRect/>
          </a:stretch>
        </p:blipFill>
        <p:spPr>
          <a:xfrm>
            <a:off x="1013507" y="2828527"/>
            <a:ext cx="2021290" cy="1668573"/>
          </a:xfrm>
          <a:prstGeom prst="rect">
            <a:avLst/>
          </a:prstGeom>
        </p:spPr>
      </p:pic>
      <p:sp>
        <p:nvSpPr>
          <p:cNvPr id="13" name="TextBox 12">
            <a:extLst>
              <a:ext uri="{FF2B5EF4-FFF2-40B4-BE49-F238E27FC236}">
                <a16:creationId xmlns:a16="http://schemas.microsoft.com/office/drawing/2014/main" id="{10ADABE2-6D35-DC3E-6F6E-F46F174130C5}"/>
              </a:ext>
            </a:extLst>
          </p:cNvPr>
          <p:cNvSpPr txBox="1"/>
          <p:nvPr/>
        </p:nvSpPr>
        <p:spPr>
          <a:xfrm>
            <a:off x="804372" y="4426011"/>
            <a:ext cx="2647025"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i="1">
                <a:latin typeface="Aptos"/>
                <a:cs typeface="Arial"/>
              </a:rPr>
              <a:t>Figure 1: A yard is divided into a grid. Each square is labeled with numbers and letters.</a:t>
            </a:r>
          </a:p>
        </p:txBody>
      </p:sp>
      <p:pic>
        <p:nvPicPr>
          <p:cNvPr id="14" name="Picture 13" descr="A white square with blue x marks&#10;&#10;AI-generated content may be incorrect.">
            <a:extLst>
              <a:ext uri="{FF2B5EF4-FFF2-40B4-BE49-F238E27FC236}">
                <a16:creationId xmlns:a16="http://schemas.microsoft.com/office/drawing/2014/main" id="{DFD16187-FAE7-2D3C-18F8-639DD554C450}"/>
              </a:ext>
            </a:extLst>
          </p:cNvPr>
          <p:cNvPicPr>
            <a:picLocks noChangeAspect="1"/>
          </p:cNvPicPr>
          <p:nvPr/>
        </p:nvPicPr>
        <p:blipFill>
          <a:blip r:embed="rId4"/>
          <a:srcRect l="1870" r="-470" b="712"/>
          <a:stretch>
            <a:fillRect/>
          </a:stretch>
        </p:blipFill>
        <p:spPr>
          <a:xfrm>
            <a:off x="4834759" y="2875762"/>
            <a:ext cx="1504320" cy="1592318"/>
          </a:xfrm>
          <a:prstGeom prst="rect">
            <a:avLst/>
          </a:prstGeom>
        </p:spPr>
      </p:pic>
      <p:sp>
        <p:nvSpPr>
          <p:cNvPr id="17" name="TextBox 16">
            <a:extLst>
              <a:ext uri="{FF2B5EF4-FFF2-40B4-BE49-F238E27FC236}">
                <a16:creationId xmlns:a16="http://schemas.microsoft.com/office/drawing/2014/main" id="{EFC04F7B-BF43-BD46-439E-7B4A560761C2}"/>
              </a:ext>
            </a:extLst>
          </p:cNvPr>
          <p:cNvSpPr txBox="1"/>
          <p:nvPr/>
        </p:nvSpPr>
        <p:spPr>
          <a:xfrm>
            <a:off x="4449189" y="4426011"/>
            <a:ext cx="2363581" cy="400110"/>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000" i="1">
                <a:latin typeface="Aptos"/>
                <a:cs typeface="Arial"/>
              </a:rPr>
              <a:t>Figure 2: Five samples are taken from each grid square in a standard pattern.</a:t>
            </a:r>
          </a:p>
        </p:txBody>
      </p:sp>
      <p:sp>
        <p:nvSpPr>
          <p:cNvPr id="19" name="TextBox 18">
            <a:extLst>
              <a:ext uri="{FF2B5EF4-FFF2-40B4-BE49-F238E27FC236}">
                <a16:creationId xmlns:a16="http://schemas.microsoft.com/office/drawing/2014/main" id="{B6DDCAD4-A134-7C7A-2311-1478D62453F6}"/>
              </a:ext>
            </a:extLst>
          </p:cNvPr>
          <p:cNvSpPr txBox="1"/>
          <p:nvPr/>
        </p:nvSpPr>
        <p:spPr>
          <a:xfrm>
            <a:off x="534352" y="5008394"/>
            <a:ext cx="6703694" cy="4278094"/>
          </a:xfrm>
          <a:prstGeom prst="rect">
            <a:avLst/>
          </a:prstGeom>
          <a:noFill/>
          <a:ln w="12700">
            <a:noFill/>
          </a:ln>
        </p:spPr>
        <p:txBody>
          <a:bodyPr wrap="square" lIns="91440" tIns="45720" rIns="91440" bIns="45720" anchor="t">
            <a:spAutoFit/>
          </a:bodyPr>
          <a:lstStyle/>
          <a:p>
            <a:r>
              <a:rPr lang="en-US" sz="1400" b="0">
                <a:latin typeface="Perpetua"/>
                <a:ea typeface="Calibri"/>
                <a:cs typeface="Arial"/>
              </a:rPr>
              <a:t>We analyzed your samples using a </a:t>
            </a:r>
            <a:r>
              <a:rPr lang="en-US" sz="1400" b="1">
                <a:latin typeface="Perpetua"/>
                <a:ea typeface="Calibri"/>
                <a:cs typeface="Arial"/>
              </a:rPr>
              <a:t>X-ray fluorescence (XRF) </a:t>
            </a:r>
            <a:r>
              <a:rPr lang="en-US" sz="1400" b="0">
                <a:latin typeface="Perpetua"/>
                <a:ea typeface="Calibri"/>
                <a:cs typeface="Arial"/>
              </a:rPr>
              <a:t>device.  This tool uses low-level X-rays to measure elements present in soil. </a:t>
            </a:r>
            <a:r>
              <a:rPr lang="en-US" sz="1400">
                <a:latin typeface="Perpetua"/>
                <a:ea typeface="Calibri"/>
                <a:cs typeface="Arial"/>
              </a:rPr>
              <a:t>We </a:t>
            </a:r>
            <a:r>
              <a:rPr lang="en-US" sz="1400" b="0">
                <a:latin typeface="Perpetua"/>
                <a:ea typeface="Calibri"/>
                <a:cs typeface="Arial"/>
              </a:rPr>
              <a:t>focus on lead, which is reported in </a:t>
            </a:r>
            <a:r>
              <a:rPr lang="en-US" sz="1400" b="1">
                <a:latin typeface="Perpetua"/>
                <a:ea typeface="Calibri"/>
                <a:cs typeface="Arial"/>
              </a:rPr>
              <a:t>parts per million (ppm)</a:t>
            </a:r>
            <a:r>
              <a:rPr lang="en-US" sz="1400">
                <a:latin typeface="Perpetua"/>
                <a:ea typeface="Calibri"/>
                <a:cs typeface="Arial"/>
              </a:rPr>
              <a:t>. </a:t>
            </a:r>
            <a:r>
              <a:rPr lang="en-US" sz="1400" b="0">
                <a:latin typeface="Perpetua"/>
                <a:ea typeface="+mn-lt"/>
                <a:cs typeface="+mn-lt"/>
              </a:rPr>
              <a:t>1 ppm means one part lead for one million parts of soil. Please note that </a:t>
            </a:r>
            <a:r>
              <a:rPr lang="en-US" sz="1400" b="0">
                <a:latin typeface="Perpetua"/>
                <a:ea typeface="Calibri"/>
                <a:cs typeface="Arial"/>
              </a:rPr>
              <a:t>XRF</a:t>
            </a:r>
            <a:r>
              <a:rPr lang="en-US" sz="1400">
                <a:latin typeface="Perpetua"/>
                <a:ea typeface="Calibri"/>
                <a:cs typeface="Arial"/>
              </a:rPr>
              <a:t> is a screening tool and further testing is advised.</a:t>
            </a:r>
            <a:endParaRPr lang="en-US" sz="14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sz="1800" b="0">
              <a:latin typeface="Perpetua"/>
              <a:ea typeface="+mn-lt"/>
              <a:cs typeface="+mn-lt"/>
            </a:endParaRPr>
          </a:p>
          <a:p>
            <a:endParaRPr lang="en-US">
              <a:latin typeface="Perpetua"/>
              <a:ea typeface="+mn-lt"/>
              <a:cs typeface="+mn-lt"/>
            </a:endParaRPr>
          </a:p>
          <a:p>
            <a:endParaRPr lang="en-US" sz="1800" b="0">
              <a:latin typeface="Perpetua"/>
              <a:ea typeface="+mn-lt"/>
              <a:cs typeface="+mn-lt"/>
            </a:endParaRPr>
          </a:p>
          <a:p>
            <a:endParaRPr lang="en-US" sz="1800" b="0">
              <a:latin typeface="Perpetua"/>
              <a:ea typeface="+mn-lt"/>
              <a:cs typeface="+mn-lt"/>
            </a:endParaRPr>
          </a:p>
        </p:txBody>
      </p:sp>
      <p:pic>
        <p:nvPicPr>
          <p:cNvPr id="20" name="Picture 4">
            <a:extLst>
              <a:ext uri="{FF2B5EF4-FFF2-40B4-BE49-F238E27FC236}">
                <a16:creationId xmlns:a16="http://schemas.microsoft.com/office/drawing/2014/main" id="{1F3EBB58-C2E4-5AFE-2E9E-7E17011FB58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l="23212" t="12308" r="16760" b="12063"/>
          <a:stretch>
            <a:fillRect/>
          </a:stretch>
        </p:blipFill>
        <p:spPr bwMode="auto">
          <a:xfrm>
            <a:off x="1072865" y="6015481"/>
            <a:ext cx="2213090" cy="2859251"/>
          </a:xfrm>
          <a:prstGeom prst="rect">
            <a:avLst/>
          </a:prstGeom>
          <a:noFill/>
          <a:extLst>
            <a:ext uri="{909E8E84-426E-40DD-AFC4-6F175D3DCCD1}">
              <a14:hiddenFill xmlns:a14="http://schemas.microsoft.com/office/drawing/2010/main">
                <a:solidFill>
                  <a:srgbClr val="FFFFFF"/>
                </a:solidFill>
              </a14:hiddenFill>
            </a:ext>
          </a:extLst>
        </p:spPr>
      </p:pic>
      <p:pic>
        <p:nvPicPr>
          <p:cNvPr id="21" name="Picture 2" descr="Technology Focus: X-ray Fluorescence (XRF) in Mining">
            <a:extLst>
              <a:ext uri="{FF2B5EF4-FFF2-40B4-BE49-F238E27FC236}">
                <a16:creationId xmlns:a16="http://schemas.microsoft.com/office/drawing/2014/main" id="{3052C3C7-1646-F4D8-3FD9-A76797F34D9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l="-50" r="1823" b="444"/>
          <a:stretch>
            <a:fillRect/>
          </a:stretch>
        </p:blipFill>
        <p:spPr bwMode="auto">
          <a:xfrm>
            <a:off x="4078000" y="5977261"/>
            <a:ext cx="3017837" cy="2935693"/>
          </a:xfrm>
          <a:prstGeom prst="rect">
            <a:avLst/>
          </a:prstGeom>
          <a:noFill/>
          <a:extLst>
            <a:ext uri="{909E8E84-426E-40DD-AFC4-6F175D3DCCD1}">
              <a14:hiddenFill xmlns:a14="http://schemas.microsoft.com/office/drawing/2010/main">
                <a:solidFill>
                  <a:srgbClr val="FFFFFF"/>
                </a:solidFill>
              </a14:hiddenFill>
            </a:ext>
          </a:extLst>
        </p:spPr>
      </p:pic>
      <p:sp>
        <p:nvSpPr>
          <p:cNvPr id="22" name="TextBox 21">
            <a:extLst>
              <a:ext uri="{FF2B5EF4-FFF2-40B4-BE49-F238E27FC236}">
                <a16:creationId xmlns:a16="http://schemas.microsoft.com/office/drawing/2014/main" id="{95D52E32-E4D5-523F-5BE7-ABF7374AC51E}"/>
              </a:ext>
            </a:extLst>
          </p:cNvPr>
          <p:cNvSpPr txBox="1"/>
          <p:nvPr/>
        </p:nvSpPr>
        <p:spPr>
          <a:xfrm>
            <a:off x="933253" y="8958558"/>
            <a:ext cx="2518144" cy="400110"/>
          </a:xfrm>
          <a:prstGeom prst="rect">
            <a:avLst/>
          </a:prstGeom>
          <a:noFill/>
        </p:spPr>
        <p:txBody>
          <a:bodyPr wrap="square" lIns="91440" tIns="45720" rIns="91440" bIns="45720" rtlCol="0" anchor="t">
            <a:spAutoFit/>
          </a:bodyPr>
          <a:lstStyle/>
          <a:p>
            <a:r>
              <a:rPr lang="en-US" sz="1000" i="1">
                <a:latin typeface="Aptos"/>
                <a:cs typeface="Arial"/>
              </a:rPr>
              <a:t>Figure 3: Portable X-ray fluorescence (XRF) device used for soil screening.</a:t>
            </a:r>
          </a:p>
        </p:txBody>
      </p:sp>
      <p:sp>
        <p:nvSpPr>
          <p:cNvPr id="23" name="TextBox 22">
            <a:extLst>
              <a:ext uri="{FF2B5EF4-FFF2-40B4-BE49-F238E27FC236}">
                <a16:creationId xmlns:a16="http://schemas.microsoft.com/office/drawing/2014/main" id="{2BA9F9B5-8204-44E6-4BEB-92F0E75C8836}"/>
              </a:ext>
            </a:extLst>
          </p:cNvPr>
          <p:cNvSpPr txBox="1"/>
          <p:nvPr/>
        </p:nvSpPr>
        <p:spPr>
          <a:xfrm>
            <a:off x="4321004" y="8976092"/>
            <a:ext cx="2646329" cy="400110"/>
          </a:xfrm>
          <a:prstGeom prst="rect">
            <a:avLst/>
          </a:prstGeom>
          <a:noFill/>
        </p:spPr>
        <p:txBody>
          <a:bodyPr wrap="square" lIns="91440" tIns="45720" rIns="91440" bIns="45720" rtlCol="0" anchor="t">
            <a:spAutoFit/>
          </a:bodyPr>
          <a:lstStyle/>
          <a:p>
            <a:r>
              <a:rPr lang="en-US" sz="1000" i="1">
                <a:latin typeface="Aptos"/>
              </a:rPr>
              <a:t>Figure 4: Illustration of how XRF technology detects elements in soil samples.</a:t>
            </a:r>
            <a:endParaRPr lang="en-US" sz="1000" i="1" baseline="30000">
              <a:latin typeface="Aptos"/>
            </a:endParaRPr>
          </a:p>
        </p:txBody>
      </p:sp>
      <p:sp>
        <p:nvSpPr>
          <p:cNvPr id="3" name="TextBox 2">
            <a:extLst>
              <a:ext uri="{FF2B5EF4-FFF2-40B4-BE49-F238E27FC236}">
                <a16:creationId xmlns:a16="http://schemas.microsoft.com/office/drawing/2014/main" id="{EED9FCAD-E299-8F18-4BD2-925613599749}"/>
              </a:ext>
            </a:extLst>
          </p:cNvPr>
          <p:cNvSpPr txBox="1"/>
          <p:nvPr/>
        </p:nvSpPr>
        <p:spPr>
          <a:xfrm>
            <a:off x="4834759" y="3549163"/>
            <a:ext cx="343364" cy="261610"/>
          </a:xfrm>
          <a:prstGeom prst="rect">
            <a:avLst/>
          </a:prstGeom>
          <a:noFill/>
        </p:spPr>
        <p:txBody>
          <a:bodyPr wrap="none" rtlCol="0">
            <a:spAutoFit/>
          </a:bodyPr>
          <a:lstStyle/>
          <a:p>
            <a:r>
              <a:rPr lang="en-US" sz="1050"/>
              <a:t>1A</a:t>
            </a:r>
          </a:p>
        </p:txBody>
      </p:sp>
      <p:sp>
        <p:nvSpPr>
          <p:cNvPr id="5" name="Slide Number Placeholder 4">
            <a:extLst>
              <a:ext uri="{FF2B5EF4-FFF2-40B4-BE49-F238E27FC236}">
                <a16:creationId xmlns:a16="http://schemas.microsoft.com/office/drawing/2014/main" id="{6FCEC7B8-4CF4-84DC-6D8B-E920DA28D106}"/>
              </a:ext>
            </a:extLst>
          </p:cNvPr>
          <p:cNvSpPr>
            <a:spLocks noGrp="1"/>
          </p:cNvSpPr>
          <p:nvPr>
            <p:ph type="sldNum" sz="quarter" idx="12"/>
          </p:nvPr>
        </p:nvSpPr>
        <p:spPr/>
        <p:txBody>
          <a:bodyPr/>
          <a:lstStyle/>
          <a:p>
            <a:fld id="{AF85498A-A7D2-4202-8B58-6C83C98E0B39}" type="slidenum">
              <a:rPr lang="en-US" smtClean="0"/>
              <a:t>2</a:t>
            </a:fld>
            <a:endParaRPr lang="en-US"/>
          </a:p>
        </p:txBody>
      </p:sp>
    </p:spTree>
    <p:extLst>
      <p:ext uri="{BB962C8B-B14F-4D97-AF65-F5344CB8AC3E}">
        <p14:creationId xmlns:p14="http://schemas.microsoft.com/office/powerpoint/2010/main" val="162176981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ontent Placeholder 3">
            <a:extLst>
              <a:ext uri="{FF2B5EF4-FFF2-40B4-BE49-F238E27FC236}">
                <a16:creationId xmlns:a16="http://schemas.microsoft.com/office/drawing/2014/main" id="{DE45DF78-3A28-316F-0D82-759D1710B983}"/>
              </a:ext>
            </a:extLst>
          </p:cNvPr>
          <p:cNvSpPr>
            <a:spLocks noGrp="1"/>
          </p:cNvSpPr>
          <p:nvPr>
            <p:ph sz="half" idx="2"/>
          </p:nvPr>
        </p:nvSpPr>
        <p:spPr>
          <a:xfrm>
            <a:off x="526248" y="1686901"/>
            <a:ext cx="2687543" cy="1456771"/>
          </a:xfrm>
          <a:ln w="12700">
            <a:solidFill>
              <a:srgbClr val="0066CC"/>
            </a:solidFill>
          </a:ln>
        </p:spPr>
        <p:txBody>
          <a:bodyPr vert="horz" lIns="91440" tIns="45720" rIns="91440" bIns="45720" rtlCol="0" anchor="t">
            <a:noAutofit/>
          </a:bodyPr>
          <a:lstStyle/>
          <a:p>
            <a:pPr marL="0" indent="0">
              <a:buNone/>
            </a:pPr>
            <a:endParaRPr lang="en-US" sz="1800">
              <a:latin typeface="Perpetua"/>
              <a:cs typeface="Arial"/>
            </a:endParaRPr>
          </a:p>
          <a:p>
            <a:pPr marL="0" indent="0">
              <a:buNone/>
            </a:pPr>
            <a:r>
              <a:rPr lang="en-US" sz="1400">
                <a:latin typeface="Perpetua"/>
                <a:cs typeface="Arial"/>
              </a:rPr>
              <a:t>We collect soil samples using a grid. We analyze samples using an X-ray fluorescence (XRF) device.  This screening tool detects the amount of lead present in the soil.  </a:t>
            </a:r>
            <a:endParaRPr lang="en-US" sz="1400">
              <a:latin typeface="Perpetua"/>
              <a:cs typeface="Arial" panose="020B0604020202020204" pitchFamily="34" charset="0"/>
            </a:endParaRPr>
          </a:p>
        </p:txBody>
      </p:sp>
      <p:sp>
        <p:nvSpPr>
          <p:cNvPr id="3" name="Text Placeholder 2">
            <a:extLst>
              <a:ext uri="{FF2B5EF4-FFF2-40B4-BE49-F238E27FC236}">
                <a16:creationId xmlns:a16="http://schemas.microsoft.com/office/drawing/2014/main" id="{1A2D9E59-B19E-73AC-2842-78F18B7987DC}"/>
              </a:ext>
            </a:extLst>
          </p:cNvPr>
          <p:cNvSpPr>
            <a:spLocks noGrp="1"/>
          </p:cNvSpPr>
          <p:nvPr>
            <p:ph type="body" idx="1"/>
          </p:nvPr>
        </p:nvSpPr>
        <p:spPr>
          <a:xfrm>
            <a:off x="527908" y="1686901"/>
            <a:ext cx="2685884" cy="342772"/>
          </a:xfrm>
          <a:solidFill>
            <a:srgbClr val="0066CC"/>
          </a:solidFill>
          <a:ln>
            <a:solidFill>
              <a:srgbClr val="005BBA"/>
            </a:solidFill>
          </a:ln>
        </p:spPr>
        <p:txBody>
          <a:bodyPr>
            <a:normAutofit lnSpcReduction="10000"/>
          </a:bodyPr>
          <a:lstStyle/>
          <a:p>
            <a:r>
              <a:rPr lang="en-US" sz="1800">
                <a:solidFill>
                  <a:schemeClr val="bg1"/>
                </a:solidFill>
                <a:latin typeface="Perpetua"/>
              </a:rPr>
              <a:t>How do we analyze soil?</a:t>
            </a:r>
          </a:p>
        </p:txBody>
      </p:sp>
      <p:sp>
        <p:nvSpPr>
          <p:cNvPr id="7" name="Date Placeholder 6">
            <a:extLst>
              <a:ext uri="{FF2B5EF4-FFF2-40B4-BE49-F238E27FC236}">
                <a16:creationId xmlns:a16="http://schemas.microsoft.com/office/drawing/2014/main" id="{DBB3E723-EBE2-4378-2479-0D2E75EAB71C}"/>
              </a:ext>
            </a:extLst>
          </p:cNvPr>
          <p:cNvSpPr>
            <a:spLocks noGrp="1"/>
          </p:cNvSpPr>
          <p:nvPr>
            <p:ph type="dt" sz="half" idx="10"/>
          </p:nvPr>
        </p:nvSpPr>
        <p:spPr/>
        <p:txBody>
          <a:bodyPr/>
          <a:lstStyle/>
          <a:p>
            <a:fld id="{D295DDA5-1B67-4156-AC2E-06ACFE19AA3E}" type="datetime1">
              <a:rPr lang="en-US" smtClean="0"/>
              <a:t>5/25/2026</a:t>
            </a:fld>
            <a:endParaRPr lang="en-US"/>
          </a:p>
        </p:txBody>
      </p:sp>
      <p:sp>
        <p:nvSpPr>
          <p:cNvPr id="9" name="Rectangle: Rounded Corners 34">
            <a:extLst>
              <a:ext uri="{FF2B5EF4-FFF2-40B4-BE49-F238E27FC236}">
                <a16:creationId xmlns:a16="http://schemas.microsoft.com/office/drawing/2014/main" id="{40A0A408-AE2A-3FD3-8B2A-164745F0F4AF}"/>
              </a:ext>
            </a:extLst>
          </p:cNvPr>
          <p:cNvSpPr/>
          <p:nvPr/>
        </p:nvSpPr>
        <p:spPr>
          <a:xfrm>
            <a:off x="0" y="238070"/>
            <a:ext cx="7772400" cy="1135738"/>
          </a:xfrm>
          <a:prstGeom prst="rect">
            <a:avLst/>
          </a:prstGeom>
          <a:solidFill>
            <a:srgbClr val="005BBA"/>
          </a:solidFill>
          <a:ln>
            <a:noFill/>
          </a:ln>
        </p:spPr>
        <p:style>
          <a:lnRef idx="1">
            <a:schemeClr val="accent4"/>
          </a:lnRef>
          <a:fillRef idx="2">
            <a:schemeClr val="accent4"/>
          </a:fillRef>
          <a:effectRef idx="1">
            <a:schemeClr val="accent4"/>
          </a:effectRef>
          <a:fontRef idx="minor">
            <a:schemeClr val="dk1"/>
          </a:fontRef>
        </p:style>
        <p:txBody>
          <a:bodyPr lIns="91440" tIns="45720" rIns="91440" bIns="45720" rtlCol="0" anchor="ctr"/>
          <a:lstStyle/>
          <a:p>
            <a:pPr algn="ctr"/>
            <a:r>
              <a:rPr lang="en-US" sz="2400" b="1">
                <a:solidFill>
                  <a:schemeClr val="bg1"/>
                </a:solidFill>
                <a:latin typeface="Perpetua"/>
                <a:cs typeface="Arial"/>
              </a:rPr>
              <a:t>Soil Report Summary</a:t>
            </a:r>
          </a:p>
        </p:txBody>
      </p:sp>
      <p:pic>
        <p:nvPicPr>
          <p:cNvPr id="10" name="Picture 3">
            <a:extLst>
              <a:ext uri="{FF2B5EF4-FFF2-40B4-BE49-F238E27FC236}">
                <a16:creationId xmlns:a16="http://schemas.microsoft.com/office/drawing/2014/main" id="{769D8F2C-E832-7C13-4C08-7E08427A149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0468" t="20212" r="20128" b="20314"/>
          <a:stretch>
            <a:fillRect/>
          </a:stretch>
        </p:blipFill>
        <p:spPr bwMode="auto">
          <a:xfrm>
            <a:off x="619898" y="326296"/>
            <a:ext cx="953051" cy="958938"/>
          </a:xfrm>
          <a:prstGeom prst="flowChartConnector">
            <a:avLst/>
          </a:prstGeom>
          <a:noFill/>
          <a:ln>
            <a:noFill/>
          </a:ln>
          <a:effectLst/>
          <a:extLst>
            <a:ext uri="{909E8E84-426E-40DD-AFC4-6F175D3DCCD1}">
              <a14:hiddenFill xmlns:a14="http://schemas.microsoft.com/office/drawing/2010/main">
                <a:solidFill>
                  <a:srgbClr val="04617B"/>
                </a:solidFill>
              </a14:hiddenFill>
            </a:ext>
            <a:ext uri="{91240B29-F687-4F45-9708-019B960494DF}">
              <a14:hiddenLine xmlns:a14="http://schemas.microsoft.com/office/drawing/2010/main" w="25400" algn="ctr">
                <a:solidFill>
                  <a:srgbClr val="000000"/>
                </a:solidFill>
                <a:round/>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pic>
        <p:nvPicPr>
          <p:cNvPr id="11" name="Picture 10" descr="A blue sign with white text&#10;&#10;AI-generated content may be incorrect.">
            <a:extLst>
              <a:ext uri="{FF2B5EF4-FFF2-40B4-BE49-F238E27FC236}">
                <a16:creationId xmlns:a16="http://schemas.microsoft.com/office/drawing/2014/main" id="{EEA66D94-7FBA-4426-8108-950262BE16A7}"/>
              </a:ext>
            </a:extLst>
          </p:cNvPr>
          <p:cNvPicPr>
            <a:picLocks noChangeAspect="1"/>
          </p:cNvPicPr>
          <p:nvPr/>
        </p:nvPicPr>
        <p:blipFill>
          <a:blip r:embed="rId3"/>
          <a:srcRect l="677" r="3681"/>
          <a:stretch>
            <a:fillRect/>
          </a:stretch>
        </p:blipFill>
        <p:spPr>
          <a:xfrm>
            <a:off x="6103270" y="373490"/>
            <a:ext cx="1131845" cy="809648"/>
          </a:xfrm>
          <a:prstGeom prst="rect">
            <a:avLst/>
          </a:prstGeom>
        </p:spPr>
      </p:pic>
      <p:sp>
        <p:nvSpPr>
          <p:cNvPr id="14" name="TextBox 13">
            <a:extLst>
              <a:ext uri="{FF2B5EF4-FFF2-40B4-BE49-F238E27FC236}">
                <a16:creationId xmlns:a16="http://schemas.microsoft.com/office/drawing/2014/main" id="{B15820B7-CEEB-48F3-6475-A986D9DE9C0C}"/>
              </a:ext>
            </a:extLst>
          </p:cNvPr>
          <p:cNvSpPr txBox="1"/>
          <p:nvPr/>
        </p:nvSpPr>
        <p:spPr>
          <a:xfrm>
            <a:off x="523118" y="3799536"/>
            <a:ext cx="6726165" cy="5632311"/>
          </a:xfrm>
          <a:prstGeom prst="rect">
            <a:avLst/>
          </a:prstGeom>
          <a:noFill/>
          <a:ln w="12700">
            <a:noFill/>
          </a:ln>
        </p:spPr>
        <p:txBody>
          <a:bodyPr wrap="square" rtlCol="0">
            <a:spAutoFit/>
          </a:bodyPr>
          <a:lstStyle/>
          <a:p>
            <a:endParaRPr lang="en-US"/>
          </a:p>
          <a:p>
            <a:endParaRPr lang="en-US"/>
          </a:p>
          <a:p>
            <a:endParaRPr lang="en-US"/>
          </a:p>
          <a:p>
            <a:endParaRPr lang="en-US"/>
          </a:p>
          <a:p>
            <a:endParaRPr lang="en-US"/>
          </a:p>
          <a:p>
            <a:endParaRPr lang="en-US"/>
          </a:p>
          <a:p>
            <a:endParaRPr lang="en-US"/>
          </a:p>
          <a:p>
            <a:br>
              <a:rPr lang="en-US"/>
            </a:br>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a:p>
            <a:endParaRPr lang="en-US"/>
          </a:p>
        </p:txBody>
      </p:sp>
      <p:sp>
        <p:nvSpPr>
          <p:cNvPr id="15" name="Rectangle 14">
            <a:extLst>
              <a:ext uri="{FF2B5EF4-FFF2-40B4-BE49-F238E27FC236}">
                <a16:creationId xmlns:a16="http://schemas.microsoft.com/office/drawing/2014/main" id="{F5C818B7-D96E-7E4F-467B-61C57FEFE708}"/>
              </a:ext>
            </a:extLst>
          </p:cNvPr>
          <p:cNvSpPr/>
          <p:nvPr/>
        </p:nvSpPr>
        <p:spPr>
          <a:xfrm>
            <a:off x="523117" y="3416677"/>
            <a:ext cx="6711997" cy="428683"/>
          </a:xfrm>
          <a:prstGeom prst="rect">
            <a:avLst/>
          </a:prstGeom>
          <a:solidFill>
            <a:srgbClr val="0066CC"/>
          </a:solidFill>
          <a:ln>
            <a:solidFill>
              <a:srgbClr val="0066CC"/>
            </a:solidFill>
          </a:ln>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n-US" b="1">
                <a:latin typeface="Perpetua"/>
              </a:rPr>
              <a:t>Map of  Site</a:t>
            </a:r>
          </a:p>
        </p:txBody>
      </p:sp>
      <p:sp>
        <p:nvSpPr>
          <p:cNvPr id="2" name="TextBox 1">
            <a:extLst>
              <a:ext uri="{FF2B5EF4-FFF2-40B4-BE49-F238E27FC236}">
                <a16:creationId xmlns:a16="http://schemas.microsoft.com/office/drawing/2014/main" id="{59BD316B-4AD7-C468-0EBB-923AF18759EA}"/>
              </a:ext>
            </a:extLst>
          </p:cNvPr>
          <p:cNvSpPr txBox="1"/>
          <p:nvPr/>
        </p:nvSpPr>
        <p:spPr>
          <a:xfrm>
            <a:off x="4662335" y="8046852"/>
            <a:ext cx="2572779" cy="1384995"/>
          </a:xfrm>
          <a:prstGeom prst="rect">
            <a:avLst/>
          </a:prstGeom>
          <a:noFill/>
          <a:ln w="12700">
            <a:solidFill>
              <a:srgbClr val="4472C4"/>
            </a:solidFill>
          </a:ln>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US" sz="1400">
                <a:latin typeface="Perpetua"/>
                <a:cs typeface="Segoe UI"/>
              </a:rPr>
              <a:t>Scan for resources </a:t>
            </a:r>
          </a:p>
          <a:p>
            <a:r>
              <a:rPr lang="en-US" sz="1400">
                <a:latin typeface="Perpetua"/>
                <a:cs typeface="Segoe UI"/>
              </a:rPr>
              <a:t>on reducing </a:t>
            </a:r>
          </a:p>
          <a:p>
            <a:r>
              <a:rPr lang="en-US" sz="1400">
                <a:latin typeface="Perpetua"/>
                <a:cs typeface="Segoe UI"/>
              </a:rPr>
              <a:t>exposure and </a:t>
            </a:r>
          </a:p>
          <a:p>
            <a:r>
              <a:rPr lang="en-US" sz="1400">
                <a:latin typeface="Perpetua"/>
                <a:cs typeface="Segoe UI"/>
              </a:rPr>
              <a:t>managing lead in </a:t>
            </a:r>
          </a:p>
          <a:p>
            <a:r>
              <a:rPr lang="en-US" sz="1400">
                <a:latin typeface="Perpetua"/>
                <a:cs typeface="Segoe UI"/>
              </a:rPr>
              <a:t>soil:</a:t>
            </a:r>
          </a:p>
          <a:p>
            <a:endParaRPr lang="en-US" sz="1400">
              <a:latin typeface="Perpetua"/>
              <a:cs typeface="Segoe UI"/>
            </a:endParaRPr>
          </a:p>
        </p:txBody>
      </p:sp>
      <p:sp>
        <p:nvSpPr>
          <p:cNvPr id="20" name="Content Placeholder 3">
            <a:extLst>
              <a:ext uri="{FF2B5EF4-FFF2-40B4-BE49-F238E27FC236}">
                <a16:creationId xmlns:a16="http://schemas.microsoft.com/office/drawing/2014/main" id="{7B886230-3381-D672-1B52-4A6BFEFC6923}"/>
              </a:ext>
            </a:extLst>
          </p:cNvPr>
          <p:cNvSpPr txBox="1">
            <a:spLocks/>
          </p:cNvSpPr>
          <p:nvPr/>
        </p:nvSpPr>
        <p:spPr>
          <a:xfrm>
            <a:off x="3582186" y="1686902"/>
            <a:ext cx="3655909" cy="1456770"/>
          </a:xfrm>
          <a:prstGeom prst="rect">
            <a:avLst/>
          </a:prstGeom>
          <a:ln w="12700">
            <a:solidFill>
              <a:srgbClr val="0066CC"/>
            </a:solidFill>
          </a:ln>
        </p:spPr>
        <p:txBody>
          <a:bodyPr vert="horz" lIns="91440" tIns="45720" rIns="91440" bIns="45720" rtlCol="0" anchor="t">
            <a:noAutofit/>
          </a:bodyPr>
          <a:lst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a:lstStyle>
          <a:p>
            <a:pPr marL="0" indent="0">
              <a:buNone/>
            </a:pPr>
            <a:endParaRPr lang="en-US" sz="1800">
              <a:latin typeface="Perpetua"/>
              <a:cs typeface="Arial"/>
            </a:endParaRPr>
          </a:p>
          <a:p>
            <a:pPr marL="0" indent="0">
              <a:buNone/>
            </a:pPr>
            <a:r>
              <a:rPr lang="en-US" sz="1400">
                <a:latin typeface="Perpetua"/>
                <a:cs typeface="Arial"/>
              </a:rPr>
              <a:t>Soil lead levels can vary widely, even within small areas. Elevated levels can increase exposure risk, especially for children. Knowing where lead is higher can help guide safer use of your yard, such as where to garden and where to limit direct contact.</a:t>
            </a:r>
            <a:endParaRPr lang="en-US" sz="1400">
              <a:latin typeface="Perpetua"/>
              <a:cs typeface="Arial" panose="020B0604020202020204" pitchFamily="34" charset="0"/>
            </a:endParaRPr>
          </a:p>
        </p:txBody>
      </p:sp>
      <p:sp>
        <p:nvSpPr>
          <p:cNvPr id="21" name="Text Placeholder 2">
            <a:extLst>
              <a:ext uri="{FF2B5EF4-FFF2-40B4-BE49-F238E27FC236}">
                <a16:creationId xmlns:a16="http://schemas.microsoft.com/office/drawing/2014/main" id="{62E288F1-58E5-4161-4080-E216B30A360C}"/>
              </a:ext>
            </a:extLst>
          </p:cNvPr>
          <p:cNvSpPr txBox="1">
            <a:spLocks/>
          </p:cNvSpPr>
          <p:nvPr/>
        </p:nvSpPr>
        <p:spPr>
          <a:xfrm>
            <a:off x="3581386" y="1686901"/>
            <a:ext cx="3653728" cy="342772"/>
          </a:xfrm>
          <a:prstGeom prst="rect">
            <a:avLst/>
          </a:prstGeom>
          <a:solidFill>
            <a:srgbClr val="0066CC"/>
          </a:solidFill>
          <a:ln>
            <a:solidFill>
              <a:srgbClr val="005BBA"/>
            </a:solidFill>
          </a:ln>
        </p:spPr>
        <p:txBody>
          <a:bodyPr vert="horz" lIns="91440" tIns="45720" rIns="91440" bIns="45720" rtlCol="0" anchor="b">
            <a:normAutofit lnSpcReduction="10000"/>
          </a:bodyPr>
          <a:lstStyle>
            <a:lvl1pPr marL="0" indent="0" algn="l" defTabSz="777240" rtl="0" eaLnBrk="1" latinLnBrk="0" hangingPunct="1">
              <a:lnSpc>
                <a:spcPct val="90000"/>
              </a:lnSpc>
              <a:spcBef>
                <a:spcPts val="850"/>
              </a:spcBef>
              <a:buFont typeface="Arial" panose="020B0604020202020204" pitchFamily="34" charset="0"/>
              <a:buNone/>
              <a:defRPr sz="2040" b="1" kern="1200">
                <a:solidFill>
                  <a:schemeClr val="tx1"/>
                </a:solidFill>
                <a:latin typeface="+mn-lt"/>
                <a:ea typeface="+mn-ea"/>
                <a:cs typeface="+mn-cs"/>
              </a:defRPr>
            </a:lvl1pPr>
            <a:lvl2pPr marL="388620" indent="0" algn="l" defTabSz="777240" rtl="0" eaLnBrk="1" latinLnBrk="0" hangingPunct="1">
              <a:lnSpc>
                <a:spcPct val="90000"/>
              </a:lnSpc>
              <a:spcBef>
                <a:spcPts val="425"/>
              </a:spcBef>
              <a:buFont typeface="Arial" panose="020B0604020202020204" pitchFamily="34" charset="0"/>
              <a:buNone/>
              <a:defRPr sz="1700" b="1" kern="1200">
                <a:solidFill>
                  <a:schemeClr val="tx1"/>
                </a:solidFill>
                <a:latin typeface="+mn-lt"/>
                <a:ea typeface="+mn-ea"/>
                <a:cs typeface="+mn-cs"/>
              </a:defRPr>
            </a:lvl2pPr>
            <a:lvl3pPr marL="777240" indent="0" algn="l" defTabSz="777240" rtl="0" eaLnBrk="1" latinLnBrk="0" hangingPunct="1">
              <a:lnSpc>
                <a:spcPct val="90000"/>
              </a:lnSpc>
              <a:spcBef>
                <a:spcPts val="425"/>
              </a:spcBef>
              <a:buFont typeface="Arial" panose="020B0604020202020204" pitchFamily="34" charset="0"/>
              <a:buNone/>
              <a:defRPr sz="1530" b="1" kern="1200">
                <a:solidFill>
                  <a:schemeClr val="tx1"/>
                </a:solidFill>
                <a:latin typeface="+mn-lt"/>
                <a:ea typeface="+mn-ea"/>
                <a:cs typeface="+mn-cs"/>
              </a:defRPr>
            </a:lvl3pPr>
            <a:lvl4pPr marL="116586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4pPr>
            <a:lvl5pPr marL="155448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5pPr>
            <a:lvl6pPr marL="194310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6pPr>
            <a:lvl7pPr marL="233172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7pPr>
            <a:lvl8pPr marL="272034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8pPr>
            <a:lvl9pPr marL="3108960" indent="0" algn="l" defTabSz="777240" rtl="0" eaLnBrk="1" latinLnBrk="0" hangingPunct="1">
              <a:lnSpc>
                <a:spcPct val="90000"/>
              </a:lnSpc>
              <a:spcBef>
                <a:spcPts val="425"/>
              </a:spcBef>
              <a:buFont typeface="Arial" panose="020B0604020202020204" pitchFamily="34" charset="0"/>
              <a:buNone/>
              <a:defRPr sz="1360" b="1" kern="1200">
                <a:solidFill>
                  <a:schemeClr val="tx1"/>
                </a:solidFill>
                <a:latin typeface="+mn-lt"/>
                <a:ea typeface="+mn-ea"/>
                <a:cs typeface="+mn-cs"/>
              </a:defRPr>
            </a:lvl9pPr>
          </a:lstStyle>
          <a:p>
            <a:r>
              <a:rPr lang="en-US" sz="1800">
                <a:solidFill>
                  <a:schemeClr val="bg1"/>
                </a:solidFill>
                <a:latin typeface="Perpetua"/>
              </a:rPr>
              <a:t>What do these results mean?</a:t>
            </a:r>
          </a:p>
        </p:txBody>
      </p:sp>
      <p:sp>
        <p:nvSpPr>
          <p:cNvPr id="6" name="TextBox 5">
            <a:extLst>
              <a:ext uri="{FF2B5EF4-FFF2-40B4-BE49-F238E27FC236}">
                <a16:creationId xmlns:a16="http://schemas.microsoft.com/office/drawing/2014/main" id="{1EB77DF2-15C7-3138-8AF7-87826C2D916E}"/>
              </a:ext>
            </a:extLst>
          </p:cNvPr>
          <p:cNvSpPr txBox="1"/>
          <p:nvPr/>
        </p:nvSpPr>
        <p:spPr>
          <a:xfrm>
            <a:off x="1943100" y="4844534"/>
            <a:ext cx="3886200" cy="369332"/>
          </a:xfrm>
          <a:prstGeom prst="rect">
            <a:avLst/>
          </a:prstGeom>
          <a:noFill/>
        </p:spPr>
        <p:txBody>
          <a:bodyPr wrap="square">
            <a:spAutoFit/>
          </a:bodyPr>
          <a:lstStyle/>
          <a:p>
            <a:endParaRPr lang="en-US"/>
          </a:p>
        </p:txBody>
      </p:sp>
      <p:pic>
        <p:nvPicPr>
          <p:cNvPr id="16" name="Picture 15">
            <a:extLst>
              <a:ext uri="{FF2B5EF4-FFF2-40B4-BE49-F238E27FC236}">
                <a16:creationId xmlns:a16="http://schemas.microsoft.com/office/drawing/2014/main" id="{25E0B5F9-DDEF-11C8-FE1D-A7C121A0E89D}"/>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948724" y="8131041"/>
            <a:ext cx="1216616" cy="1216616"/>
          </a:xfrm>
          <a:prstGeom prst="rect">
            <a:avLst/>
          </a:prstGeom>
        </p:spPr>
      </p:pic>
      <p:sp>
        <p:nvSpPr>
          <p:cNvPr id="5" name="Slide Number Placeholder 4">
            <a:extLst>
              <a:ext uri="{FF2B5EF4-FFF2-40B4-BE49-F238E27FC236}">
                <a16:creationId xmlns:a16="http://schemas.microsoft.com/office/drawing/2014/main" id="{BD2A0F29-DB63-948B-22F2-AEC36E25D3FD}"/>
              </a:ext>
            </a:extLst>
          </p:cNvPr>
          <p:cNvSpPr>
            <a:spLocks noGrp="1"/>
          </p:cNvSpPr>
          <p:nvPr>
            <p:ph type="sldNum" sz="quarter" idx="12"/>
          </p:nvPr>
        </p:nvSpPr>
        <p:spPr/>
        <p:txBody>
          <a:bodyPr/>
          <a:lstStyle/>
          <a:p>
            <a:fld id="{AF85498A-A7D2-4202-8B58-6C83C98E0B39}" type="slidenum">
              <a:rPr lang="en-US" smtClean="0"/>
              <a:t>3</a:t>
            </a:fld>
            <a:endParaRPr lang="en-US"/>
          </a:p>
        </p:txBody>
      </p:sp>
      <p:sp>
        <p:nvSpPr>
          <p:cNvPr id="12" name="TextBox 4">
            <a:extLst>
              <a:ext uri="{FF2B5EF4-FFF2-40B4-BE49-F238E27FC236}">
                <a16:creationId xmlns:a16="http://schemas.microsoft.com/office/drawing/2014/main" id="{4A76B166-A6D5-469C-F531-ED5A7944BF0D}"/>
              </a:ext>
            </a:extLst>
          </p:cNvPr>
          <p:cNvSpPr txBox="1"/>
          <p:nvPr/>
        </p:nvSpPr>
        <p:spPr>
          <a:xfrm>
            <a:off x="2130275" y="4886708"/>
            <a:ext cx="2863127" cy="1144929"/>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90000"/>
              </a:lnSpc>
              <a:spcBef>
                <a:spcPts val="850"/>
              </a:spcBef>
            </a:pPr>
            <a:r>
              <a:rPr lang="en-US" sz="1400" dirty="0">
                <a:highlight>
                  <a:srgbClr val="FFFF00"/>
                </a:highlight>
                <a:latin typeface="Perpetua"/>
              </a:rPr>
              <a:t>Heat map of property with basemap and numbers – drag and crop image to ensure </a:t>
            </a:r>
            <a:r>
              <a:rPr lang="en-US" sz="1400">
                <a:highlight>
                  <a:srgbClr val="FFFF00"/>
                </a:highlight>
                <a:latin typeface="Perpetua"/>
              </a:rPr>
              <a:t>that front street, backyard, and key are all visible</a:t>
            </a:r>
            <a:endParaRPr lang="en-US" sz="1400">
              <a:latin typeface="Perpetua"/>
            </a:endParaRPr>
          </a:p>
          <a:p>
            <a:pPr algn="ctr"/>
            <a:endParaRPr lang="en-US"/>
          </a:p>
        </p:txBody>
      </p:sp>
    </p:spTree>
    <p:extLst>
      <p:ext uri="{BB962C8B-B14F-4D97-AF65-F5344CB8AC3E}">
        <p14:creationId xmlns:p14="http://schemas.microsoft.com/office/powerpoint/2010/main" val="364923749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1605D50-F5ED-F098-60CD-7C5C988CD228}"/>
            </a:ext>
          </a:extLst>
        </p:cNvPr>
        <p:cNvGrpSpPr/>
        <p:nvPr/>
      </p:nvGrpSpPr>
      <p:grpSpPr>
        <a:xfrm>
          <a:off x="0" y="0"/>
          <a:ext cx="0" cy="0"/>
          <a:chOff x="0" y="0"/>
          <a:chExt cx="0" cy="0"/>
        </a:xfrm>
      </p:grpSpPr>
      <p:sp>
        <p:nvSpPr>
          <p:cNvPr id="9" name="Date Placeholder 8">
            <a:extLst>
              <a:ext uri="{FF2B5EF4-FFF2-40B4-BE49-F238E27FC236}">
                <a16:creationId xmlns:a16="http://schemas.microsoft.com/office/drawing/2014/main" id="{EB2D9393-BFBD-BEF2-108C-049274C2BD12}"/>
              </a:ext>
            </a:extLst>
          </p:cNvPr>
          <p:cNvSpPr>
            <a:spLocks noGrp="1"/>
          </p:cNvSpPr>
          <p:nvPr>
            <p:ph type="dt" sz="half" idx="10"/>
          </p:nvPr>
        </p:nvSpPr>
        <p:spPr/>
        <p:txBody>
          <a:bodyPr/>
          <a:lstStyle/>
          <a:p>
            <a:fld id="{BEFA50D7-04D0-42EF-A70B-2DCF93817190}" type="datetime1">
              <a:rPr lang="en-US" smtClean="0"/>
              <a:t>5/25/2026</a:t>
            </a:fld>
            <a:endParaRPr lang="en-US"/>
          </a:p>
        </p:txBody>
      </p:sp>
      <p:pic>
        <p:nvPicPr>
          <p:cNvPr id="6" name="Picture 3" descr="A logo with a city skyline in the background&#10;&#10;AI-generated content may be incorrect.">
            <a:extLst>
              <a:ext uri="{FF2B5EF4-FFF2-40B4-BE49-F238E27FC236}">
                <a16:creationId xmlns:a16="http://schemas.microsoft.com/office/drawing/2014/main" id="{35308E19-77CE-1BF6-E5FD-16E6CE670DC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l="20468" t="20212" r="20128" b="20314"/>
          <a:stretch>
            <a:fillRect/>
          </a:stretch>
        </p:blipFill>
        <p:spPr bwMode="auto">
          <a:xfrm>
            <a:off x="619898" y="772427"/>
            <a:ext cx="953051" cy="958938"/>
          </a:xfrm>
          <a:prstGeom prst="flowChartConnector">
            <a:avLst/>
          </a:prstGeom>
          <a:noFill/>
          <a:ln>
            <a:noFill/>
          </a:ln>
          <a:effectLst/>
          <a:extLst>
            <a:ext uri="{909E8E84-426E-40DD-AFC4-6F175D3DCCD1}">
              <a14:hiddenFill xmlns:a14="http://schemas.microsoft.com/office/drawing/2010/main">
                <a:solidFill>
                  <a:srgbClr val="04617B"/>
                </a:solidFill>
              </a14:hiddenFill>
            </a:ext>
            <a:ext uri="{91240B29-F687-4F45-9708-019B960494DF}">
              <a14:hiddenLine xmlns:a14="http://schemas.microsoft.com/office/drawing/2010/main" w="25400" algn="ctr">
                <a:solidFill>
                  <a:srgbClr val="000000"/>
                </a:solidFill>
                <a:round/>
                <a:headEnd/>
                <a:tailEnd/>
              </a14:hiddenLine>
            </a:ext>
            <a:ext uri="{AF507438-7753-43E0-B8FC-AC1667EBCBE1}">
              <a14:hiddenEffects xmlns:a14="http://schemas.microsoft.com/office/drawing/2010/main">
                <a:effectLst>
                  <a:outerShdw dist="35921" dir="2700000" algn="ctr" rotWithShape="0">
                    <a:srgbClr val="000000"/>
                  </a:outerShdw>
                </a:effectLst>
              </a14:hiddenEffects>
            </a:ext>
          </a:extLst>
        </p:spPr>
      </p:pic>
      <p:cxnSp>
        <p:nvCxnSpPr>
          <p:cNvPr id="8" name="Straight Connector 7">
            <a:extLst>
              <a:ext uri="{FF2B5EF4-FFF2-40B4-BE49-F238E27FC236}">
                <a16:creationId xmlns:a16="http://schemas.microsoft.com/office/drawing/2014/main" id="{CAFF8A91-720E-F64F-05A3-E69A09D9F4BC}"/>
              </a:ext>
            </a:extLst>
          </p:cNvPr>
          <p:cNvCxnSpPr>
            <a:cxnSpLocks/>
          </p:cNvCxnSpPr>
          <p:nvPr/>
        </p:nvCxnSpPr>
        <p:spPr>
          <a:xfrm>
            <a:off x="1752805" y="1403281"/>
            <a:ext cx="5400482" cy="21086"/>
          </a:xfrm>
          <a:prstGeom prst="line">
            <a:avLst/>
          </a:prstGeom>
          <a:ln w="57150">
            <a:solidFill>
              <a:schemeClr val="tx2">
                <a:lumMod val="75000"/>
                <a:lumOff val="25000"/>
              </a:schemeClr>
            </a:solidFill>
          </a:ln>
        </p:spPr>
        <p:style>
          <a:lnRef idx="2">
            <a:schemeClr val="accent1"/>
          </a:lnRef>
          <a:fillRef idx="0">
            <a:schemeClr val="accent1"/>
          </a:fillRef>
          <a:effectRef idx="1">
            <a:schemeClr val="accent1"/>
          </a:effectRef>
          <a:fontRef idx="minor">
            <a:schemeClr val="tx1"/>
          </a:fontRef>
        </p:style>
      </p:cxnSp>
      <p:sp>
        <p:nvSpPr>
          <p:cNvPr id="12" name="Title 1">
            <a:extLst>
              <a:ext uri="{FF2B5EF4-FFF2-40B4-BE49-F238E27FC236}">
                <a16:creationId xmlns:a16="http://schemas.microsoft.com/office/drawing/2014/main" id="{35FA8D0F-1049-4B6B-29A3-4A52613E41ED}"/>
              </a:ext>
            </a:extLst>
          </p:cNvPr>
          <p:cNvSpPr txBox="1">
            <a:spLocks/>
          </p:cNvSpPr>
          <p:nvPr/>
        </p:nvSpPr>
        <p:spPr>
          <a:xfrm>
            <a:off x="1668544" y="993948"/>
            <a:ext cx="2894029" cy="408719"/>
          </a:xfrm>
          <a:prstGeom prst="rect">
            <a:avLst/>
          </a:prstGeom>
        </p:spPr>
        <p:txBody>
          <a:bodyPr vert="horz" lIns="91440" tIns="45720" rIns="91440" bIns="45720" rtlCol="0" anchor="b">
            <a:normAutofit lnSpcReduction="10000"/>
          </a:bodyPr>
          <a:lstStyle>
            <a:lvl1pPr algn="ctr" defTabSz="777240" rtl="0" eaLnBrk="1" latinLnBrk="0" hangingPunct="1">
              <a:lnSpc>
                <a:spcPct val="90000"/>
              </a:lnSpc>
              <a:spcBef>
                <a:spcPct val="0"/>
              </a:spcBef>
              <a:buNone/>
              <a:defRPr sz="5100" kern="1200">
                <a:solidFill>
                  <a:schemeClr val="tx1"/>
                </a:solidFill>
                <a:latin typeface="+mj-lt"/>
                <a:ea typeface="+mj-ea"/>
                <a:cs typeface="+mj-cs"/>
              </a:defRPr>
            </a:lvl1pPr>
          </a:lstStyle>
          <a:p>
            <a:pPr algn="l"/>
            <a:r>
              <a:rPr lang="en-US" sz="2400" b="1">
                <a:latin typeface="Perpetua"/>
                <a:cs typeface="Arial"/>
              </a:rPr>
              <a:t>Detailed Results</a:t>
            </a:r>
          </a:p>
        </p:txBody>
      </p:sp>
      <p:sp>
        <p:nvSpPr>
          <p:cNvPr id="11" name="Content Placeholder 2">
            <a:extLst>
              <a:ext uri="{FF2B5EF4-FFF2-40B4-BE49-F238E27FC236}">
                <a16:creationId xmlns:a16="http://schemas.microsoft.com/office/drawing/2014/main" id="{05B13DAE-C75F-4D8A-F38A-905F0750C203}"/>
              </a:ext>
            </a:extLst>
          </p:cNvPr>
          <p:cNvSpPr txBox="1">
            <a:spLocks/>
          </p:cNvSpPr>
          <p:nvPr/>
        </p:nvSpPr>
        <p:spPr>
          <a:xfrm>
            <a:off x="1668544" y="1552941"/>
            <a:ext cx="4776466" cy="580698"/>
          </a:xfrm>
          <a:prstGeom prst="rect">
            <a:avLst/>
          </a:prstGeom>
          <a:ln w="12700">
            <a:noFill/>
          </a:ln>
        </p:spPr>
        <p:txBody>
          <a:bodyPr vert="horz" lIns="91440" tIns="45720" rIns="91440" bIns="45720" rtlCol="0" anchor="t">
            <a:normAutofit/>
          </a:bodyPr>
          <a:lst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a:lstStyle>
          <a:p>
            <a:pPr marL="0" indent="0">
              <a:buNone/>
            </a:pPr>
            <a:r>
              <a:rPr lang="en-US" sz="1600" b="1">
                <a:latin typeface="Perpetua"/>
                <a:ea typeface="Calibri"/>
                <a:cs typeface="Calibri"/>
              </a:rPr>
              <a:t>Total lead concentrations in your soil</a:t>
            </a:r>
            <a:r>
              <a:rPr lang="en-US" sz="1600">
                <a:latin typeface="Perpetua"/>
                <a:ea typeface="Calibri"/>
                <a:cs typeface="Calibri"/>
              </a:rPr>
              <a:t> </a:t>
            </a:r>
            <a:br>
              <a:rPr lang="en-US" sz="1600">
                <a:latin typeface="Perpetua"/>
                <a:ea typeface="Calibri"/>
                <a:cs typeface="Calibri"/>
              </a:rPr>
            </a:br>
            <a:endParaRPr lang="en-US" sz="1600">
              <a:latin typeface="Perpetua"/>
              <a:ea typeface="Calibri"/>
              <a:cs typeface="Calibri"/>
            </a:endParaRPr>
          </a:p>
        </p:txBody>
      </p:sp>
      <p:sp>
        <p:nvSpPr>
          <p:cNvPr id="13" name="Content Placeholder 2">
            <a:extLst>
              <a:ext uri="{FF2B5EF4-FFF2-40B4-BE49-F238E27FC236}">
                <a16:creationId xmlns:a16="http://schemas.microsoft.com/office/drawing/2014/main" id="{921DE565-01FC-4D2D-E25D-CC78CB9B638B}"/>
              </a:ext>
            </a:extLst>
          </p:cNvPr>
          <p:cNvSpPr txBox="1">
            <a:spLocks/>
          </p:cNvSpPr>
          <p:nvPr/>
        </p:nvSpPr>
        <p:spPr>
          <a:xfrm>
            <a:off x="619898" y="2361166"/>
            <a:ext cx="6533389" cy="6930905"/>
          </a:xfrm>
          <a:prstGeom prst="rect">
            <a:avLst/>
          </a:prstGeom>
          <a:ln w="12700">
            <a:noFill/>
          </a:ln>
        </p:spPr>
        <p:txBody>
          <a:bodyPr vert="horz" lIns="91440" tIns="45720" rIns="91440" bIns="45720" rtlCol="0" anchor="t">
            <a:normAutofit/>
          </a:bodyPr>
          <a:lstStyle>
            <a:lvl1pPr marL="194310" indent="-194310" algn="l" defTabSz="777240" rtl="0" eaLnBrk="1" latinLnBrk="0" hangingPunct="1">
              <a:lnSpc>
                <a:spcPct val="90000"/>
              </a:lnSpc>
              <a:spcBef>
                <a:spcPts val="850"/>
              </a:spcBef>
              <a:buFont typeface="Arial" panose="020B0604020202020204" pitchFamily="34" charset="0"/>
              <a:buChar char="•"/>
              <a:defRPr sz="2380" kern="1200">
                <a:solidFill>
                  <a:schemeClr val="tx1"/>
                </a:solidFill>
                <a:latin typeface="+mn-lt"/>
                <a:ea typeface="+mn-ea"/>
                <a:cs typeface="+mn-cs"/>
              </a:defRPr>
            </a:lvl1pPr>
            <a:lvl2pPr marL="582930" indent="-194310" algn="l" defTabSz="777240" rtl="0" eaLnBrk="1" latinLnBrk="0" hangingPunct="1">
              <a:lnSpc>
                <a:spcPct val="90000"/>
              </a:lnSpc>
              <a:spcBef>
                <a:spcPts val="425"/>
              </a:spcBef>
              <a:buFont typeface="Arial" panose="020B0604020202020204" pitchFamily="34" charset="0"/>
              <a:buChar char="•"/>
              <a:defRPr sz="2040" kern="1200">
                <a:solidFill>
                  <a:schemeClr val="tx1"/>
                </a:solidFill>
                <a:latin typeface="+mn-lt"/>
                <a:ea typeface="+mn-ea"/>
                <a:cs typeface="+mn-cs"/>
              </a:defRPr>
            </a:lvl2pPr>
            <a:lvl3pPr marL="971550" indent="-194310" algn="l" defTabSz="777240" rtl="0" eaLnBrk="1" latinLnBrk="0" hangingPunct="1">
              <a:lnSpc>
                <a:spcPct val="90000"/>
              </a:lnSpc>
              <a:spcBef>
                <a:spcPts val="425"/>
              </a:spcBef>
              <a:buFont typeface="Arial" panose="020B0604020202020204" pitchFamily="34" charset="0"/>
              <a:buChar char="•"/>
              <a:defRPr sz="1700" kern="1200">
                <a:solidFill>
                  <a:schemeClr val="tx1"/>
                </a:solidFill>
                <a:latin typeface="+mn-lt"/>
                <a:ea typeface="+mn-ea"/>
                <a:cs typeface="+mn-cs"/>
              </a:defRPr>
            </a:lvl3pPr>
            <a:lvl4pPr marL="13601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4pPr>
            <a:lvl5pPr marL="174879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5pPr>
            <a:lvl6pPr marL="213741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6pPr>
            <a:lvl7pPr marL="252603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7pPr>
            <a:lvl8pPr marL="291465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8pPr>
            <a:lvl9pPr marL="3303270" indent="-194310" algn="l" defTabSz="777240" rtl="0" eaLnBrk="1" latinLnBrk="0" hangingPunct="1">
              <a:lnSpc>
                <a:spcPct val="90000"/>
              </a:lnSpc>
              <a:spcBef>
                <a:spcPts val="425"/>
              </a:spcBef>
              <a:buFont typeface="Arial" panose="020B0604020202020204" pitchFamily="34" charset="0"/>
              <a:buChar char="•"/>
              <a:defRPr sz="1530" kern="1200">
                <a:solidFill>
                  <a:schemeClr val="tx1"/>
                </a:solidFill>
                <a:latin typeface="+mn-lt"/>
                <a:ea typeface="+mn-ea"/>
                <a:cs typeface="+mn-cs"/>
              </a:defRPr>
            </a:lvl9pPr>
          </a:lstStyle>
          <a:p>
            <a:pPr marL="0" indent="0">
              <a:buNone/>
            </a:pPr>
            <a:endParaRPr lang="en-US" sz="2400">
              <a:latin typeface="Perpetua"/>
              <a:ea typeface="Calibri"/>
              <a:cs typeface="Calibri"/>
            </a:endParaRPr>
          </a:p>
        </p:txBody>
      </p:sp>
      <p:graphicFrame>
        <p:nvGraphicFramePr>
          <p:cNvPr id="2" name="Table 1">
            <a:extLst>
              <a:ext uri="{FF2B5EF4-FFF2-40B4-BE49-F238E27FC236}">
                <a16:creationId xmlns:a16="http://schemas.microsoft.com/office/drawing/2014/main" id="{47CDCC5E-9C15-E3F5-3F43-41BC49894F59}"/>
              </a:ext>
            </a:extLst>
          </p:cNvPr>
          <p:cNvGraphicFramePr>
            <a:graphicFrameLocks noGrp="1"/>
          </p:cNvGraphicFramePr>
          <p:nvPr>
            <p:extLst>
              <p:ext uri="{D42A27DB-BD31-4B8C-83A1-F6EECF244321}">
                <p14:modId xmlns:p14="http://schemas.microsoft.com/office/powerpoint/2010/main" val="1572543892"/>
              </p:ext>
            </p:extLst>
          </p:nvPr>
        </p:nvGraphicFramePr>
        <p:xfrm>
          <a:off x="1782251" y="1863530"/>
          <a:ext cx="4549052" cy="914400"/>
        </p:xfrm>
        <a:graphic>
          <a:graphicData uri="http://schemas.openxmlformats.org/drawingml/2006/table">
            <a:tbl>
              <a:tblPr firstRow="1" bandRow="1">
                <a:tableStyleId>{5C22544A-7EE6-4342-B048-85BDC9FD1C3A}</a:tableStyleId>
              </a:tblPr>
              <a:tblGrid>
                <a:gridCol w="1137263">
                  <a:extLst>
                    <a:ext uri="{9D8B030D-6E8A-4147-A177-3AD203B41FA5}">
                      <a16:colId xmlns:a16="http://schemas.microsoft.com/office/drawing/2014/main" val="3308090858"/>
                    </a:ext>
                  </a:extLst>
                </a:gridCol>
                <a:gridCol w="1137263">
                  <a:extLst>
                    <a:ext uri="{9D8B030D-6E8A-4147-A177-3AD203B41FA5}">
                      <a16:colId xmlns:a16="http://schemas.microsoft.com/office/drawing/2014/main" val="447881686"/>
                    </a:ext>
                  </a:extLst>
                </a:gridCol>
                <a:gridCol w="1137263">
                  <a:extLst>
                    <a:ext uri="{9D8B030D-6E8A-4147-A177-3AD203B41FA5}">
                      <a16:colId xmlns:a16="http://schemas.microsoft.com/office/drawing/2014/main" val="588366292"/>
                    </a:ext>
                  </a:extLst>
                </a:gridCol>
                <a:gridCol w="1137263">
                  <a:extLst>
                    <a:ext uri="{9D8B030D-6E8A-4147-A177-3AD203B41FA5}">
                      <a16:colId xmlns:a16="http://schemas.microsoft.com/office/drawing/2014/main" val="706587062"/>
                    </a:ext>
                  </a:extLst>
                </a:gridCol>
              </a:tblGrid>
              <a:tr h="280471">
                <a:tc>
                  <a:txBody>
                    <a:bodyPr/>
                    <a:lstStyle/>
                    <a:p>
                      <a:endParaRPr lang="en-US" sz="1400">
                        <a:solidFill>
                          <a:schemeClr val="tx1"/>
                        </a:solidFill>
                        <a:latin typeface="Perpetua"/>
                      </a:endParaRPr>
                    </a:p>
                  </a:txBody>
                  <a:tcPr>
                    <a:lnL w="3175">
                      <a:solidFill>
                        <a:schemeClr val="tx1"/>
                      </a:solidFill>
                    </a:lnL>
                    <a:lnR w="3175">
                      <a:solidFill>
                        <a:schemeClr val="tx1"/>
                      </a:solidFill>
                    </a:lnR>
                    <a:lnT w="3175">
                      <a:solidFill>
                        <a:schemeClr val="tx1"/>
                      </a:solidFill>
                    </a:lnT>
                    <a:lnB w="3175">
                      <a:solidFill>
                        <a:schemeClr val="tx1"/>
                      </a:solidFill>
                    </a:lnB>
                    <a:solidFill>
                      <a:schemeClr val="bg1">
                        <a:lumMod val="85000"/>
                      </a:schemeClr>
                    </a:solidFill>
                  </a:tcPr>
                </a:tc>
                <a:tc>
                  <a:txBody>
                    <a:bodyPr/>
                    <a:lstStyle/>
                    <a:p>
                      <a:r>
                        <a:rPr lang="en-US" sz="1400">
                          <a:solidFill>
                            <a:schemeClr val="tx1"/>
                          </a:solidFill>
                          <a:latin typeface="Perpetua"/>
                        </a:rPr>
                        <a:t>Highest</a:t>
                      </a:r>
                    </a:p>
                  </a:txBody>
                  <a:tcPr>
                    <a:lnL w="3175">
                      <a:solidFill>
                        <a:schemeClr val="tx1"/>
                      </a:solidFill>
                    </a:lnL>
                    <a:lnR w="3175">
                      <a:solidFill>
                        <a:schemeClr val="tx1"/>
                      </a:solidFill>
                    </a:lnR>
                    <a:lnT w="3175">
                      <a:solidFill>
                        <a:schemeClr val="tx1"/>
                      </a:solidFill>
                    </a:lnT>
                    <a:lnB w="3175">
                      <a:solidFill>
                        <a:schemeClr val="tx1"/>
                      </a:solidFill>
                    </a:lnB>
                    <a:solidFill>
                      <a:schemeClr val="bg1">
                        <a:lumMod val="85000"/>
                      </a:schemeClr>
                    </a:solidFill>
                  </a:tcPr>
                </a:tc>
                <a:tc>
                  <a:txBody>
                    <a:bodyPr/>
                    <a:lstStyle/>
                    <a:p>
                      <a:r>
                        <a:rPr lang="en-US" sz="1400">
                          <a:solidFill>
                            <a:schemeClr val="tx1"/>
                          </a:solidFill>
                          <a:latin typeface="Perpetua"/>
                        </a:rPr>
                        <a:t>Lowest</a:t>
                      </a:r>
                    </a:p>
                  </a:txBody>
                  <a:tcPr>
                    <a:lnL w="3175">
                      <a:solidFill>
                        <a:schemeClr val="tx1"/>
                      </a:solidFill>
                    </a:lnL>
                    <a:lnR w="3175" cap="flat" cmpd="sng" algn="ctr">
                      <a:solidFill>
                        <a:schemeClr val="tx1"/>
                      </a:solidFill>
                      <a:prstDash val="solid"/>
                      <a:round/>
                      <a:headEnd type="none" w="med" len="med"/>
                      <a:tailEnd type="none" w="med" len="med"/>
                    </a:lnR>
                    <a:lnT w="3175">
                      <a:solidFill>
                        <a:schemeClr val="tx1"/>
                      </a:solidFill>
                    </a:lnT>
                    <a:lnB w="3175">
                      <a:solidFill>
                        <a:schemeClr val="tx1"/>
                      </a:solidFill>
                    </a:lnB>
                    <a:solidFill>
                      <a:schemeClr val="bg1">
                        <a:lumMod val="85000"/>
                      </a:schemeClr>
                    </a:solidFill>
                  </a:tcPr>
                </a:tc>
                <a:tc>
                  <a:txBody>
                    <a:bodyPr/>
                    <a:lstStyle/>
                    <a:p>
                      <a:r>
                        <a:rPr lang="en-US" sz="1400">
                          <a:solidFill>
                            <a:schemeClr val="tx1"/>
                          </a:solidFill>
                          <a:latin typeface="Perpetua"/>
                        </a:rPr>
                        <a:t>Average</a:t>
                      </a:r>
                    </a:p>
                  </a:txBody>
                  <a:tcPr>
                    <a:lnL w="3175">
                      <a:solidFill>
                        <a:schemeClr val="tx1"/>
                      </a:solidFill>
                    </a:lnL>
                    <a:lnR w="3175">
                      <a:solidFill>
                        <a:schemeClr val="tx1"/>
                      </a:solidFill>
                    </a:lnR>
                    <a:lnT w="3175">
                      <a:solidFill>
                        <a:schemeClr val="tx1"/>
                      </a:solidFill>
                    </a:lnT>
                    <a:lnB w="3175" cap="flat" cmpd="sng" algn="ctr">
                      <a:solidFill>
                        <a:schemeClr val="tx1"/>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609639452"/>
                  </a:ext>
                </a:extLst>
              </a:tr>
              <a:tr h="271456">
                <a:tc>
                  <a:txBody>
                    <a:bodyPr/>
                    <a:lstStyle/>
                    <a:p>
                      <a:r>
                        <a:rPr lang="en-US" sz="1400" b="1">
                          <a:solidFill>
                            <a:schemeClr val="tx1"/>
                          </a:solidFill>
                          <a:latin typeface="Perpetua"/>
                        </a:rPr>
                        <a:t>Backyard</a:t>
                      </a:r>
                    </a:p>
                  </a:txBody>
                  <a:tcPr>
                    <a:lnL w="3175">
                      <a:solidFill>
                        <a:schemeClr val="tx1"/>
                      </a:solidFill>
                    </a:lnL>
                    <a:lnR w="3175">
                      <a:solidFill>
                        <a:schemeClr val="tx1"/>
                      </a:solidFill>
                    </a:lnR>
                    <a:lnT w="3175">
                      <a:solidFill>
                        <a:schemeClr val="tx1"/>
                      </a:solidFill>
                    </a:lnT>
                    <a:lnB w="3175">
                      <a:solidFill>
                        <a:schemeClr val="tx1"/>
                      </a:solidFill>
                    </a:lnB>
                    <a:solidFill>
                      <a:schemeClr val="bg1">
                        <a:lumMod val="85000"/>
                      </a:schemeClr>
                    </a:solidFill>
                  </a:tcPr>
                </a:tc>
                <a:tc>
                  <a:txBody>
                    <a:bodyPr/>
                    <a:lstStyle/>
                    <a:p>
                      <a:r>
                        <a:rPr lang="en-US" sz="1400">
                          <a:highlight>
                            <a:srgbClr val="FFFF00"/>
                          </a:highlight>
                          <a:latin typeface="Perpetua"/>
                          <a:ea typeface="Calibri"/>
                          <a:cs typeface="Calibri"/>
                        </a:rPr>
                        <a:t>###</a:t>
                      </a:r>
                      <a:r>
                        <a:rPr lang="en-US" sz="1400">
                          <a:latin typeface="Perpetua"/>
                          <a:ea typeface="Calibri"/>
                          <a:cs typeface="Calibri"/>
                        </a:rPr>
                        <a:t> </a:t>
                      </a:r>
                      <a:r>
                        <a:rPr lang="en-US" sz="1400">
                          <a:solidFill>
                            <a:schemeClr val="tx1"/>
                          </a:solidFill>
                          <a:latin typeface="Perpetua"/>
                          <a:ea typeface="Calibri"/>
                          <a:cs typeface="Calibri"/>
                        </a:rPr>
                        <a:t>p</a:t>
                      </a:r>
                      <a:r>
                        <a:rPr lang="en-US" sz="1400">
                          <a:solidFill>
                            <a:schemeClr val="tx1"/>
                          </a:solidFill>
                          <a:latin typeface="Perpetua"/>
                        </a:rPr>
                        <a:t>pm</a:t>
                      </a:r>
                    </a:p>
                  </a:txBody>
                  <a:tcPr>
                    <a:lnL w="3175">
                      <a:solidFill>
                        <a:schemeClr val="tx1"/>
                      </a:solidFill>
                    </a:lnL>
                    <a:lnR w="3175">
                      <a:solidFill>
                        <a:schemeClr val="tx1"/>
                      </a:solidFill>
                    </a:lnR>
                    <a:lnT w="3175">
                      <a:solidFill>
                        <a:schemeClr val="tx1"/>
                      </a:solidFill>
                    </a:lnT>
                    <a:lnB w="3175">
                      <a:solidFill>
                        <a:schemeClr val="tx1"/>
                      </a:solidFill>
                    </a:lnB>
                    <a:noFill/>
                  </a:tcPr>
                </a:tc>
                <a:tc>
                  <a:txBody>
                    <a:bodyPr/>
                    <a:lstStyle/>
                    <a:p>
                      <a:r>
                        <a:rPr lang="en-US" sz="1400">
                          <a:highlight>
                            <a:srgbClr val="FFFF00"/>
                          </a:highlight>
                          <a:latin typeface="Perpetua"/>
                          <a:ea typeface="Calibri"/>
                          <a:cs typeface="Calibri"/>
                        </a:rPr>
                        <a:t>###</a:t>
                      </a:r>
                      <a:r>
                        <a:rPr lang="en-US" sz="1400">
                          <a:latin typeface="Perpetua"/>
                          <a:ea typeface="Calibri"/>
                          <a:cs typeface="Calibri"/>
                        </a:rPr>
                        <a:t> </a:t>
                      </a:r>
                      <a:r>
                        <a:rPr lang="en-US" sz="1400">
                          <a:solidFill>
                            <a:schemeClr val="tx1"/>
                          </a:solidFill>
                          <a:latin typeface="Perpetua"/>
                          <a:ea typeface="Calibri"/>
                          <a:cs typeface="Calibri"/>
                        </a:rPr>
                        <a:t>p</a:t>
                      </a:r>
                      <a:r>
                        <a:rPr lang="en-US" sz="1400">
                          <a:solidFill>
                            <a:schemeClr val="tx1"/>
                          </a:solidFill>
                          <a:latin typeface="Perpetua"/>
                        </a:rPr>
                        <a:t>pm</a:t>
                      </a:r>
                    </a:p>
                  </a:txBody>
                  <a:tcPr>
                    <a:lnL w="3175">
                      <a:solidFill>
                        <a:schemeClr val="tx1"/>
                      </a:solidFill>
                    </a:lnL>
                    <a:lnR w="3175" cap="flat" cmpd="sng" algn="ctr">
                      <a:solidFill>
                        <a:schemeClr val="tx1"/>
                      </a:solidFill>
                      <a:prstDash val="solid"/>
                      <a:round/>
                      <a:headEnd type="none" w="med" len="med"/>
                      <a:tailEnd type="none" w="med" len="med"/>
                    </a:lnR>
                    <a:lnT w="3175">
                      <a:solidFill>
                        <a:schemeClr val="tx1"/>
                      </a:solidFill>
                    </a:lnT>
                    <a:lnB w="3175">
                      <a:solidFill>
                        <a:schemeClr val="tx1"/>
                      </a:solidFill>
                    </a:lnB>
                    <a:noFill/>
                  </a:tcPr>
                </a:tc>
                <a:tc>
                  <a:txBody>
                    <a:bodyPr/>
                    <a:lstStyle/>
                    <a:p>
                      <a:pPr marL="0" marR="0" lvl="0" indent="0" algn="l" defTabSz="777240" rtl="0" eaLnBrk="1" fontAlgn="auto" latinLnBrk="0" hangingPunct="1">
                        <a:lnSpc>
                          <a:spcPct val="100000"/>
                        </a:lnSpc>
                        <a:spcBef>
                          <a:spcPts val="0"/>
                        </a:spcBef>
                        <a:spcAft>
                          <a:spcPts val="0"/>
                        </a:spcAft>
                        <a:buClrTx/>
                        <a:buSzTx/>
                        <a:buFontTx/>
                        <a:buNone/>
                        <a:tabLst/>
                        <a:defRPr/>
                      </a:pPr>
                      <a:r>
                        <a:rPr lang="en-US" sz="1400">
                          <a:highlight>
                            <a:srgbClr val="FFFF00"/>
                          </a:highlight>
                          <a:latin typeface="Perpetua"/>
                          <a:ea typeface="Calibri"/>
                          <a:cs typeface="Calibri"/>
                        </a:rPr>
                        <a:t>###</a:t>
                      </a:r>
                      <a:r>
                        <a:rPr lang="en-US" sz="1400">
                          <a:latin typeface="Perpetua"/>
                          <a:ea typeface="Calibri"/>
                          <a:cs typeface="Calibri"/>
                        </a:rPr>
                        <a:t> </a:t>
                      </a:r>
                      <a:r>
                        <a:rPr lang="en-US" sz="1400">
                          <a:solidFill>
                            <a:schemeClr val="tx1"/>
                          </a:solidFill>
                          <a:latin typeface="Perpetua"/>
                          <a:ea typeface="Calibri"/>
                          <a:cs typeface="Calibri"/>
                        </a:rPr>
                        <a:t>p</a:t>
                      </a:r>
                      <a:r>
                        <a:rPr lang="en-US" sz="1400">
                          <a:solidFill>
                            <a:schemeClr val="tx1"/>
                          </a:solidFill>
                          <a:latin typeface="Perpetua"/>
                        </a:rPr>
                        <a:t>pm</a:t>
                      </a:r>
                    </a:p>
                  </a:txBody>
                  <a:tcPr>
                    <a:lnL w="3175">
                      <a:solidFill>
                        <a:schemeClr val="tx1"/>
                      </a:solidFill>
                    </a:lnL>
                    <a:lnR w="3175">
                      <a:solidFill>
                        <a:schemeClr val="tx1"/>
                      </a:solid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783529540"/>
                  </a:ext>
                </a:extLst>
              </a:tr>
              <a:tr h="271456">
                <a:tc>
                  <a:txBody>
                    <a:bodyPr/>
                    <a:lstStyle/>
                    <a:p>
                      <a:r>
                        <a:rPr lang="en-US" sz="1400" b="1">
                          <a:solidFill>
                            <a:schemeClr val="tx1"/>
                          </a:solidFill>
                          <a:latin typeface="Perpetua"/>
                        </a:rPr>
                        <a:t>Front yard</a:t>
                      </a:r>
                    </a:p>
                  </a:txBody>
                  <a:tcPr>
                    <a:lnL w="3175">
                      <a:solidFill>
                        <a:schemeClr val="tx1"/>
                      </a:solidFill>
                    </a:lnL>
                    <a:lnR w="3175">
                      <a:solidFill>
                        <a:schemeClr val="tx1"/>
                      </a:solidFill>
                    </a:lnR>
                    <a:lnT w="3175">
                      <a:solidFill>
                        <a:schemeClr val="tx1"/>
                      </a:solidFill>
                    </a:lnT>
                    <a:lnB w="3175">
                      <a:solidFill>
                        <a:schemeClr val="tx1"/>
                      </a:solidFill>
                    </a:lnB>
                    <a:solidFill>
                      <a:schemeClr val="bg1">
                        <a:lumMod val="85000"/>
                      </a:schemeClr>
                    </a:solidFill>
                  </a:tcPr>
                </a:tc>
                <a:tc>
                  <a:txBody>
                    <a:bodyPr/>
                    <a:lstStyle/>
                    <a:p>
                      <a:pPr marL="0" marR="0" lvl="0" indent="0" algn="l" defTabSz="777240" rtl="0" eaLnBrk="1" fontAlgn="auto" latinLnBrk="0" hangingPunct="1">
                        <a:lnSpc>
                          <a:spcPct val="100000"/>
                        </a:lnSpc>
                        <a:spcBef>
                          <a:spcPts val="0"/>
                        </a:spcBef>
                        <a:spcAft>
                          <a:spcPts val="0"/>
                        </a:spcAft>
                        <a:buClrTx/>
                        <a:buSzTx/>
                        <a:buFontTx/>
                        <a:buNone/>
                        <a:tabLst/>
                        <a:defRPr/>
                      </a:pPr>
                      <a:r>
                        <a:rPr lang="en-US" sz="1400">
                          <a:highlight>
                            <a:srgbClr val="FFFF00"/>
                          </a:highlight>
                          <a:latin typeface="Perpetua"/>
                          <a:ea typeface="Calibri"/>
                          <a:cs typeface="Calibri"/>
                        </a:rPr>
                        <a:t>###</a:t>
                      </a:r>
                      <a:r>
                        <a:rPr lang="en-US" sz="1400">
                          <a:latin typeface="Perpetua"/>
                          <a:ea typeface="Calibri"/>
                          <a:cs typeface="Calibri"/>
                        </a:rPr>
                        <a:t> </a:t>
                      </a:r>
                      <a:r>
                        <a:rPr lang="en-US" sz="1400">
                          <a:solidFill>
                            <a:schemeClr val="tx1"/>
                          </a:solidFill>
                          <a:latin typeface="Perpetua"/>
                          <a:ea typeface="Calibri"/>
                          <a:cs typeface="Calibri"/>
                        </a:rPr>
                        <a:t>p</a:t>
                      </a:r>
                      <a:r>
                        <a:rPr lang="en-US" sz="1400">
                          <a:solidFill>
                            <a:schemeClr val="tx1"/>
                          </a:solidFill>
                          <a:latin typeface="Perpetua"/>
                        </a:rPr>
                        <a:t>pm</a:t>
                      </a:r>
                    </a:p>
                  </a:txBody>
                  <a:tcPr>
                    <a:lnL w="3175">
                      <a:solidFill>
                        <a:schemeClr val="tx1"/>
                      </a:solidFill>
                    </a:lnL>
                    <a:lnR w="3175">
                      <a:solidFill>
                        <a:schemeClr val="tx1"/>
                      </a:solidFill>
                    </a:lnR>
                    <a:lnT w="3175">
                      <a:solidFill>
                        <a:schemeClr val="tx1"/>
                      </a:solidFill>
                    </a:lnT>
                    <a:lnB w="3175">
                      <a:solidFill>
                        <a:schemeClr val="tx1"/>
                      </a:solidFill>
                    </a:lnB>
                    <a:noFill/>
                  </a:tcPr>
                </a:tc>
                <a:tc>
                  <a:txBody>
                    <a:bodyPr/>
                    <a:lstStyle/>
                    <a:p>
                      <a:pPr marL="0" marR="0" lvl="0" indent="0" algn="l" defTabSz="777240" rtl="0" eaLnBrk="1" fontAlgn="auto" latinLnBrk="0" hangingPunct="1">
                        <a:lnSpc>
                          <a:spcPct val="100000"/>
                        </a:lnSpc>
                        <a:spcBef>
                          <a:spcPts val="0"/>
                        </a:spcBef>
                        <a:spcAft>
                          <a:spcPts val="0"/>
                        </a:spcAft>
                        <a:buClrTx/>
                        <a:buSzTx/>
                        <a:buFontTx/>
                        <a:buNone/>
                        <a:tabLst/>
                        <a:defRPr/>
                      </a:pPr>
                      <a:r>
                        <a:rPr lang="en-US" sz="1400">
                          <a:highlight>
                            <a:srgbClr val="FFFF00"/>
                          </a:highlight>
                          <a:latin typeface="Perpetua"/>
                          <a:ea typeface="Calibri"/>
                          <a:cs typeface="Calibri"/>
                        </a:rPr>
                        <a:t>###</a:t>
                      </a:r>
                      <a:r>
                        <a:rPr lang="en-US" sz="1400">
                          <a:latin typeface="Perpetua"/>
                          <a:ea typeface="Calibri"/>
                          <a:cs typeface="Calibri"/>
                        </a:rPr>
                        <a:t> </a:t>
                      </a:r>
                      <a:r>
                        <a:rPr lang="en-US" sz="1400">
                          <a:solidFill>
                            <a:schemeClr val="tx1"/>
                          </a:solidFill>
                          <a:latin typeface="Perpetua"/>
                          <a:ea typeface="Calibri"/>
                          <a:cs typeface="Calibri"/>
                        </a:rPr>
                        <a:t>p</a:t>
                      </a:r>
                      <a:r>
                        <a:rPr lang="en-US" sz="1400">
                          <a:solidFill>
                            <a:schemeClr val="tx1"/>
                          </a:solidFill>
                          <a:latin typeface="Perpetua"/>
                        </a:rPr>
                        <a:t>pm</a:t>
                      </a:r>
                    </a:p>
                  </a:txBody>
                  <a:tcPr>
                    <a:lnL w="3175">
                      <a:solidFill>
                        <a:schemeClr val="tx1"/>
                      </a:solidFill>
                    </a:lnL>
                    <a:lnR w="3175" cap="flat" cmpd="sng" algn="ctr">
                      <a:solidFill>
                        <a:schemeClr val="tx1"/>
                      </a:solidFill>
                      <a:prstDash val="solid"/>
                      <a:round/>
                      <a:headEnd type="none" w="med" len="med"/>
                      <a:tailEnd type="none" w="med" len="med"/>
                    </a:lnR>
                    <a:lnT w="3175">
                      <a:solidFill>
                        <a:schemeClr val="tx1"/>
                      </a:solidFill>
                    </a:lnT>
                    <a:lnB w="3175">
                      <a:solidFill>
                        <a:schemeClr val="tx1"/>
                      </a:solidFill>
                    </a:lnB>
                    <a:noFill/>
                  </a:tcPr>
                </a:tc>
                <a:tc>
                  <a:txBody>
                    <a:bodyPr/>
                    <a:lstStyle/>
                    <a:p>
                      <a:pPr marL="0" marR="0" lvl="0" indent="0" algn="l" defTabSz="777240" rtl="0" eaLnBrk="1" fontAlgn="auto" latinLnBrk="0" hangingPunct="1">
                        <a:lnSpc>
                          <a:spcPct val="100000"/>
                        </a:lnSpc>
                        <a:spcBef>
                          <a:spcPts val="0"/>
                        </a:spcBef>
                        <a:spcAft>
                          <a:spcPts val="0"/>
                        </a:spcAft>
                        <a:buClrTx/>
                        <a:buSzTx/>
                        <a:buFontTx/>
                        <a:buNone/>
                        <a:tabLst/>
                        <a:defRPr/>
                      </a:pPr>
                      <a:r>
                        <a:rPr lang="en-US" sz="1400">
                          <a:highlight>
                            <a:srgbClr val="FFFF00"/>
                          </a:highlight>
                          <a:latin typeface="Perpetua"/>
                          <a:ea typeface="Calibri"/>
                          <a:cs typeface="Calibri"/>
                        </a:rPr>
                        <a:t>###</a:t>
                      </a:r>
                      <a:r>
                        <a:rPr lang="en-US" sz="1400">
                          <a:latin typeface="Perpetua"/>
                          <a:ea typeface="Calibri"/>
                          <a:cs typeface="Calibri"/>
                        </a:rPr>
                        <a:t> </a:t>
                      </a:r>
                      <a:r>
                        <a:rPr lang="en-US" sz="1400">
                          <a:solidFill>
                            <a:schemeClr val="tx1"/>
                          </a:solidFill>
                          <a:latin typeface="Perpetua"/>
                          <a:ea typeface="Calibri"/>
                          <a:cs typeface="Calibri"/>
                        </a:rPr>
                        <a:t>p</a:t>
                      </a:r>
                      <a:r>
                        <a:rPr lang="en-US" sz="1400">
                          <a:solidFill>
                            <a:schemeClr val="tx1"/>
                          </a:solidFill>
                          <a:latin typeface="Perpetua"/>
                        </a:rPr>
                        <a:t>pm</a:t>
                      </a:r>
                    </a:p>
                  </a:txBody>
                  <a:tcPr>
                    <a:lnL w="3175">
                      <a:solidFill>
                        <a:schemeClr val="tx1"/>
                      </a:solidFill>
                    </a:lnL>
                    <a:lnR w="3175">
                      <a:solidFill>
                        <a:schemeClr val="tx1"/>
                      </a:solidFill>
                    </a:lnR>
                    <a:lnT w="3175" cap="flat" cmpd="sng" algn="ctr">
                      <a:solidFill>
                        <a:schemeClr val="tx1"/>
                      </a:solidFill>
                      <a:prstDash val="solid"/>
                      <a:round/>
                      <a:headEnd type="none" w="med" len="med"/>
                      <a:tailEnd type="none" w="med" len="med"/>
                    </a:lnT>
                    <a:lnB w="3175">
                      <a:solidFill>
                        <a:schemeClr val="tx1"/>
                      </a:solidFill>
                    </a:lnB>
                    <a:noFill/>
                  </a:tcPr>
                </a:tc>
                <a:extLst>
                  <a:ext uri="{0D108BD9-81ED-4DB2-BD59-A6C34878D82A}">
                    <a16:rowId xmlns:a16="http://schemas.microsoft.com/office/drawing/2014/main" val="2121768640"/>
                  </a:ext>
                </a:extLst>
              </a:tr>
            </a:tbl>
          </a:graphicData>
        </a:graphic>
      </p:graphicFrame>
      <p:sp>
        <p:nvSpPr>
          <p:cNvPr id="3" name="Slide Number Placeholder 2">
            <a:extLst>
              <a:ext uri="{FF2B5EF4-FFF2-40B4-BE49-F238E27FC236}">
                <a16:creationId xmlns:a16="http://schemas.microsoft.com/office/drawing/2014/main" id="{DCA8B1F8-C3F5-21C4-E4DB-B63266800C8E}"/>
              </a:ext>
            </a:extLst>
          </p:cNvPr>
          <p:cNvSpPr>
            <a:spLocks noGrp="1"/>
          </p:cNvSpPr>
          <p:nvPr>
            <p:ph type="sldNum" sz="quarter" idx="12"/>
          </p:nvPr>
        </p:nvSpPr>
        <p:spPr/>
        <p:txBody>
          <a:bodyPr/>
          <a:lstStyle/>
          <a:p>
            <a:fld id="{AF85498A-A7D2-4202-8B58-6C83C98E0B39}" type="slidenum">
              <a:rPr lang="en-US" smtClean="0"/>
              <a:t>4</a:t>
            </a:fld>
            <a:endParaRPr lang="en-US"/>
          </a:p>
        </p:txBody>
      </p:sp>
      <p:sp>
        <p:nvSpPr>
          <p:cNvPr id="4" name="TextBox 21">
            <a:extLst>
              <a:ext uri="{FF2B5EF4-FFF2-40B4-BE49-F238E27FC236}">
                <a16:creationId xmlns:a16="http://schemas.microsoft.com/office/drawing/2014/main" id="{056F663B-753D-BEC7-0BCB-1FC80978CD75}"/>
              </a:ext>
            </a:extLst>
          </p:cNvPr>
          <p:cNvSpPr txBox="1"/>
          <p:nvPr/>
        </p:nvSpPr>
        <p:spPr>
          <a:xfrm>
            <a:off x="2150622" y="4358886"/>
            <a:ext cx="2863127" cy="757130"/>
          </a:xfrm>
          <a:prstGeom prst="rect">
            <a:avLst/>
          </a:prstGeom>
          <a:noFill/>
        </p:spPr>
        <p:txBody>
          <a:bodyPr rot="0" spcFirstLastPara="0" vert="horz" wrap="square" lIns="91440" tIns="45720" rIns="91440" bIns="45720" numCol="1" spcCol="0" rtlCol="0" fromWordArt="0" anchor="t" anchorCtr="0" forceAA="0" compatLnSpc="1">
            <a:prstTxWarp prst="textNoShape">
              <a:avLst/>
            </a:prstTxWarp>
            <a:spAutoFit/>
          </a:bodyPr>
          <a:ls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pPr>
              <a:lnSpc>
                <a:spcPct val="90000"/>
              </a:lnSpc>
              <a:spcBef>
                <a:spcPts val="850"/>
              </a:spcBef>
            </a:pPr>
            <a:r>
              <a:rPr lang="en-US" sz="1400">
                <a:highlight>
                  <a:srgbClr val="FFFF00"/>
                </a:highlight>
                <a:latin typeface="Perpetua"/>
              </a:rPr>
              <a:t>Heat map of property (no basemap) - make sure background is white</a:t>
            </a:r>
          </a:p>
          <a:p>
            <a:pPr algn="ctr"/>
            <a:endParaRPr lang="en-US"/>
          </a:p>
        </p:txBody>
      </p:sp>
    </p:spTree>
    <p:extLst>
      <p:ext uri="{BB962C8B-B14F-4D97-AF65-F5344CB8AC3E}">
        <p14:creationId xmlns:p14="http://schemas.microsoft.com/office/powerpoint/2010/main" val="2461842306"/>
      </p:ext>
    </p:extLst>
  </p:cSld>
  <p:clrMapOvr>
    <a:masterClrMapping/>
  </p:clrMapOvr>
  <p:extLst>
    <p:ext uri="{6950BFC3-D8DA-4A85-94F7-54DA5524770B}">
      <p188:commentRel xmlns:p188="http://schemas.microsoft.com/office/powerpoint/2018/8/main" r:id="rId2"/>
    </p:ext>
  </p:extLst>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B5C00F2116D4EA4C8DD2167EDA1D90A4" ma:contentTypeVersion="11" ma:contentTypeDescription="Create a new document." ma:contentTypeScope="" ma:versionID="a6a069d3677ceffa0fd58e5ea19d4c30">
  <xsd:schema xmlns:xsd="http://www.w3.org/2001/XMLSchema" xmlns:xs="http://www.w3.org/2001/XMLSchema" xmlns:p="http://schemas.microsoft.com/office/2006/metadata/properties" xmlns:ns2="2dfc68a2-ae10-4ffa-b3f4-abe62a45313a" xmlns:ns3="7d18843c-7584-4fd4-885f-9ebd21322727" targetNamespace="http://schemas.microsoft.com/office/2006/metadata/properties" ma:root="true" ma:fieldsID="a975bc98f7f2d6cbb2cbda3d0f261976" ns2:_="" ns3:_="">
    <xsd:import namespace="2dfc68a2-ae10-4ffa-b3f4-abe62a45313a"/>
    <xsd:import namespace="7d18843c-7584-4fd4-885f-9ebd21322727"/>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DateTaken" minOccurs="0"/>
                <xsd:element ref="ns2:lcf76f155ced4ddcb4097134ff3c332f" minOccurs="0"/>
                <xsd:element ref="ns3:TaxCatchAll" minOccurs="0"/>
                <xsd:element ref="ns2:MediaServiceOCR" minOccurs="0"/>
                <xsd:element ref="ns2:MediaServiceGenerationTime" minOccurs="0"/>
                <xsd:element ref="ns2:MediaServiceEventHashCode" minOccurs="0"/>
                <xsd:element ref="ns2:MediaServiceLocatio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dfc68a2-ae10-4ffa-b3f4-abe62a45313a"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DateTaken" ma:index="11" nillable="true" ma:displayName="MediaServiceDateTaken" ma:hidden="true" ma:indexed="true" ma:internalName="MediaServiceDateTaken" ma:readOnly="true">
      <xsd:simpleType>
        <xsd:restriction base="dms:Text"/>
      </xsd:simpleType>
    </xsd:element>
    <xsd:element name="lcf76f155ced4ddcb4097134ff3c332f" ma:index="13" nillable="true" ma:taxonomy="true" ma:internalName="lcf76f155ced4ddcb4097134ff3c332f" ma:taxonomyFieldName="MediaServiceImageTags" ma:displayName="Image Tags" ma:readOnly="false" ma:fieldId="{5cf76f15-5ced-4ddc-b409-7134ff3c332f}" ma:taxonomyMulti="true" ma:sspId="699c2756-c3f8-4113-8c05-ab1a31d0654c" ma:termSetId="09814cd3-568e-fe90-9814-8d621ff8fb84" ma:anchorId="fba54fb3-c3e1-fe81-a776-ca4b69148c4d" ma:open="true" ma:isKeyword="false">
      <xsd:complexType>
        <xsd:sequence>
          <xsd:element ref="pc:Terms" minOccurs="0" maxOccurs="1"/>
        </xsd:sequence>
      </xsd:complexType>
    </xsd:element>
    <xsd:element name="MediaServiceOCR" ma:index="15" nillable="true" ma:displayName="Extracted Text" ma:internalName="MediaServiceOCR" ma:readOnly="true">
      <xsd:simpleType>
        <xsd:restriction base="dms:Note">
          <xsd:maxLength value="255"/>
        </xsd:restriction>
      </xsd:simpleType>
    </xsd:element>
    <xsd:element name="MediaServiceGenerationTime" ma:index="16" nillable="true" ma:displayName="MediaServiceGenerationTime" ma:hidden="true" ma:internalName="MediaServiceGenerationTime" ma:readOnly="true">
      <xsd:simpleType>
        <xsd:restriction base="dms:Text"/>
      </xsd:simpleType>
    </xsd:element>
    <xsd:element name="MediaServiceEventHashCode" ma:index="17" nillable="true" ma:displayName="MediaServiceEventHashCode" ma:hidden="true" ma:internalName="MediaServiceEventHashCode" ma:readOnly="true">
      <xsd:simpleType>
        <xsd:restriction base="dms:Text"/>
      </xsd:simpleType>
    </xsd:element>
    <xsd:element name="MediaServiceLocation" ma:index="18" nillable="true" ma:displayName="Location" ma:indexed="true" ma:internalName="MediaServiceLocatio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7d18843c-7584-4fd4-885f-9ebd21322727" elementFormDefault="qualified">
    <xsd:import namespace="http://schemas.microsoft.com/office/2006/documentManagement/types"/>
    <xsd:import namespace="http://schemas.microsoft.com/office/infopath/2007/PartnerControls"/>
    <xsd:element name="TaxCatchAll" ma:index="14" nillable="true" ma:displayName="Taxonomy Catch All Column" ma:hidden="true" ma:list="{0605c630-c0c6-43e9-86d0-4cda70c05801}" ma:internalName="TaxCatchAll" ma:showField="CatchAllData" ma:web="7d18843c-7584-4fd4-885f-9ebd21322727">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dfc68a2-ae10-4ffa-b3f4-abe62a45313a">
      <Terms xmlns="http://schemas.microsoft.com/office/infopath/2007/PartnerControls"/>
    </lcf76f155ced4ddcb4097134ff3c332f>
    <TaxCatchAll xmlns="7d18843c-7584-4fd4-885f-9ebd21322727" xsi:nil="true"/>
  </documentManagement>
</p:properties>
</file>

<file path=customXml/itemProps1.xml><?xml version="1.0" encoding="utf-8"?>
<ds:datastoreItem xmlns:ds="http://schemas.openxmlformats.org/officeDocument/2006/customXml" ds:itemID="{3DF158BA-4603-4708-A290-87706703384F}">
  <ds:schemaRefs>
    <ds:schemaRef ds:uri="2dfc68a2-ae10-4ffa-b3f4-abe62a45313a"/>
    <ds:schemaRef ds:uri="7d18843c-7584-4fd4-885f-9ebd21322727"/>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2.xml><?xml version="1.0" encoding="utf-8"?>
<ds:datastoreItem xmlns:ds="http://schemas.openxmlformats.org/officeDocument/2006/customXml" ds:itemID="{E9B7C6BD-59CF-4295-8D57-92F0ABDE5030}">
  <ds:schemaRefs>
    <ds:schemaRef ds:uri="http://schemas.microsoft.com/sharepoint/v3/contenttype/forms"/>
  </ds:schemaRefs>
</ds:datastoreItem>
</file>

<file path=customXml/itemProps3.xml><?xml version="1.0" encoding="utf-8"?>
<ds:datastoreItem xmlns:ds="http://schemas.openxmlformats.org/officeDocument/2006/customXml" ds:itemID="{26AE42FC-47CE-49DF-8092-42DBAAAF26DD}">
  <ds:schemaRefs>
    <ds:schemaRef ds:uri="2dfc68a2-ae10-4ffa-b3f4-abe62a45313a"/>
    <ds:schemaRef ds:uri="7d18843c-7584-4fd4-885f-9ebd21322727"/>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Office Theme</Template>
  <Application>Microsoft Office PowerPoint</Application>
  <PresentationFormat>Custom</PresentationFormat>
  <Slides>4</Slides>
  <Notes>0</Notes>
  <HiddenSlides>0</HiddenSlides>
  <ScaleCrop>false</ScaleCrop>
  <HeadingPairs>
    <vt:vector size="4" baseType="variant">
      <vt:variant>
        <vt:lpstr>Theme</vt:lpstr>
      </vt:variant>
      <vt:variant>
        <vt:i4>1</vt:i4>
      </vt:variant>
      <vt:variant>
        <vt:lpstr>Slide Titles</vt:lpstr>
      </vt:variant>
      <vt:variant>
        <vt:i4>4</vt:i4>
      </vt:variant>
    </vt:vector>
  </HeadingPairs>
  <TitlesOfParts>
    <vt:vector size="5" baseType="lpstr">
      <vt:lpstr>Office Theme</vt:lpstr>
      <vt:lpstr>Soil Screening Results</vt:lpstr>
      <vt:lpstr>Sample Collection and Screening Method</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Cole Terwilliger</dc:creator>
  <cp:revision>27</cp:revision>
  <cp:lastPrinted>2026-04-15T13:44:37Z</cp:lastPrinted>
  <dcterms:created xsi:type="dcterms:W3CDTF">2025-10-27T22:32:31Z</dcterms:created>
  <dcterms:modified xsi:type="dcterms:W3CDTF">2026-05-25T22:05:08Z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0x010100B5C00F2116D4EA4C8DD2167EDA1D90A4</vt:lpwstr>
  </property>
  <property fmtid="{D5CDD505-2E9C-101B-9397-08002B2CF9AE}" pid="3" name="MediaServiceImageTags">
    <vt:lpwstr/>
  </property>
</Properties>
</file>